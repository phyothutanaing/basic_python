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86" r:id="rId2"/>
    <p:sldId id="378" r:id="rId3"/>
    <p:sldId id="383" r:id="rId4"/>
    <p:sldId id="382" r:id="rId5"/>
    <p:sldId id="367" r:id="rId6"/>
    <p:sldId id="381" r:id="rId7"/>
    <p:sldId id="368" r:id="rId8"/>
    <p:sldId id="384" r:id="rId9"/>
    <p:sldId id="369" r:id="rId10"/>
    <p:sldId id="370" r:id="rId11"/>
    <p:sldId id="380" r:id="rId12"/>
    <p:sldId id="379" r:id="rId13"/>
    <p:sldId id="371" r:id="rId14"/>
    <p:sldId id="385" r:id="rId15"/>
    <p:sldId id="375" r:id="rId16"/>
    <p:sldId id="376" r:id="rId17"/>
    <p:sldId id="3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8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50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3C6C7-7B34-9A41-9F39-56C2C2060BE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F4840-C989-614D-A251-C0B2877E32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0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A1F3EA0-985B-454D-B9ED-0C3F461B4D09}" type="slidenum">
              <a:rPr lang="en-US" altLang="en-US"/>
              <a:pPr/>
              <a:t>7</a:t>
            </a:fld>
            <a:endParaRPr lang="en-US" altLang="en-US" dirty="0"/>
          </a:p>
        </p:txBody>
      </p:sp>
      <p:sp>
        <p:nvSpPr>
          <p:cNvPr id="327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1532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5EA5444C-83A5-4ACA-9A0A-065B89C8944B}" type="slidenum">
              <a:rPr lang="en-US" altLang="en-US"/>
              <a:pPr/>
              <a:t>9</a:t>
            </a:fld>
            <a:endParaRPr lang="en-US" altLang="en-US" dirty="0"/>
          </a:p>
        </p:txBody>
      </p:sp>
      <p:sp>
        <p:nvSpPr>
          <p:cNvPr id="337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0656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0E99CD6-AEB9-4E0A-9A60-C23C83338F49}" type="slidenum">
              <a:rPr lang="en-US" altLang="en-US"/>
              <a:pPr/>
              <a:t>10</a:t>
            </a:fld>
            <a:endParaRPr lang="en-US" altLang="en-US" dirty="0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2812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0E99CD6-AEB9-4E0A-9A60-C23C83338F49}" type="slidenum">
              <a:rPr lang="en-US" altLang="en-US"/>
              <a:pPr/>
              <a:t>13</a:t>
            </a:fld>
            <a:endParaRPr lang="en-US" altLang="en-US" dirty="0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464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D436-2BBF-C448-B64E-21F3D21A7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EAF98-2703-9E49-A52A-70F989D5C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6B363-8CD5-274E-88AE-28896782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1BE22-A711-4B4D-A1A2-48BBD6728A59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9E83A-6B14-794F-A048-BEFF47AB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4283A-6390-484F-AFA3-B044873A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4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414C-6C39-E54A-A92D-983AD665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3582-26AC-0C4C-B9EE-4592EFA45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D1D0F-D1FF-7A48-AF1F-45E0FA0FA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9E0C-E197-B044-9949-33E6CA0F93F2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C8AF0-E70F-F242-9E54-AF4CBD57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54DBD-E729-DC42-91DA-4C1277D9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5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5DC8-D791-B242-8EAE-614E5143F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EAAB3-5B4B-CB4C-B8CF-7E7C26F8F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BA76-6B26-EE41-959D-C57A5A22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C0998-8EF7-3C4F-9AC0-FBEB089DB38C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37658-0F9C-E24E-9206-C0A9F6B1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05A66-5755-5340-BE48-B3EA4D99D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8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DF45-5566-2649-90E9-5403BC67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15C76-5B45-8546-B947-0E7ACDC5E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46565-9ED2-004C-8EBE-1EE2F5B0C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6F178-B410-3B47-B5BC-FAF89E17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431A4-A838-FB40-8F78-354D15E42D32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23275-B4A8-8E46-A371-9D8B215F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B3D57-009C-BB4D-BF96-0142E83F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5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85BF-DF9D-564B-9E9D-76A4A258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6DB06-B5EE-3142-9E2A-457D80F25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F64E4-BBF3-AB40-AA9E-296BE3C8C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BDBA80-2D34-1E4B-A4E2-05DE0BE4D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EA841-5565-6E49-AC21-8DB3B4A92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154673-E819-B648-81DB-56304B07C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AFE-35CB-D64C-ABF9-76774E243AF1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998228-E3CF-5040-BA5F-4691BABA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2C102-E57F-1D4E-A633-EC154B69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7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D03B-A1DB-6046-89F0-0583D5DD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C8E11-C80F-D448-A7BA-B15133C9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BE915-B9B0-D64C-8941-530CAFDB3D09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97723-6624-9F4D-9BDF-01CE620E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BFA76-3559-C54C-9C94-160C87F5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63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25CC9-C230-D145-BF0E-A8AC5BEC1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FB7E-193D-C74B-81CA-43494DDF732F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A662E0-1E03-2948-BCEC-7951348D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13614-A709-7A48-B53A-0A15E596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13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EE72-3953-D94D-A7C0-5BAF5D4A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2A18E-DF69-6F4E-BFD2-DB2C5BB9A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1E1D8-1AD4-894F-BF11-774928208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364DF-C76E-1649-A1AF-B67504A17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62B1-2ABB-7241-B42C-633C0B0D4F95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12162-FA9C-A54D-A222-1A24F6013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CBE07-9AAC-EB41-AF17-150686B0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B518-A898-DB43-8794-6F3D08BC5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871FD-8BF2-DD46-8BFA-745E8E7729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67078-EC11-EC41-A0D4-CCABDCFB6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E8183-56CB-5444-A11D-28F88FCC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D83F8-61A9-3843-A615-028423351216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2A34F-BC41-D74A-8442-3A2CEB76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1F532-F597-E54E-AA7C-ED8944F5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6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F2C3-BC4E-EB46-A96C-E7E52276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D8C53-73AB-1E45-818B-5123DCCBD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4185E-6961-E94E-AA05-A508C16F6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65B4-B6E8-BE48-A30E-2408DBD6C4EB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B54A6-67C3-A544-9678-50FB2E52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C6B4F-2D25-EB4D-B161-9BA188DA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5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64A5F3-4AF3-D54F-9E0F-F34F3D94A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05C0A-1EAA-3D49-A373-9AC34772C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C92F4-1F1C-234C-A257-BC7F6A75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6E1D-D978-7A4B-94F2-0478F52EF73A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7F3D-8BE6-E141-AE91-C5E6CDDD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2D16-3E61-BF48-8F6E-012ACE53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4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69638-DDEF-D84B-8BDD-1D4756D8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BF69B-BF25-614A-9D50-51B73DB0B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D79F9-A6FF-264C-B4D7-6BA1724A6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8BDFF-E66E-EC42-B952-FC03616FDDB9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F64E2-9B74-2E4E-B111-50DAE079F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87921-7D46-8E49-B382-ACC3663B5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C037B-17A0-B64B-B31E-C1DE9713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5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65650" y="3429000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6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Execution – Part 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26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F3236-C3E5-254C-8579-B9EE9DC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Boolean Expressions (Contd.)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8C4-269A-4047-88A6-8C7AB005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3178091"/>
          </a:xfrm>
        </p:spPr>
        <p:txBody>
          <a:bodyPr>
            <a:normAutofit/>
          </a:bodyPr>
          <a:lstStyle/>
          <a:p>
            <a:r>
              <a:rPr lang="en-US" sz="2200" dirty="0"/>
              <a:t>A boolean expression is an expression that is either true or false. The following examples use the operator </a:t>
            </a:r>
            <a:r>
              <a:rPr lang="en-US" sz="2200" b="1" dirty="0"/>
              <a:t>==</a:t>
            </a:r>
            <a:r>
              <a:rPr lang="en-US" sz="2200" dirty="0"/>
              <a:t>, which compares two operands and produces </a:t>
            </a:r>
            <a:r>
              <a:rPr lang="en-US" sz="2200" b="1" dirty="0"/>
              <a:t>True</a:t>
            </a:r>
            <a:r>
              <a:rPr lang="en-US" sz="2200" dirty="0"/>
              <a:t> if they are equal and </a:t>
            </a:r>
            <a:r>
              <a:rPr lang="en-US" sz="2200" b="1" dirty="0"/>
              <a:t>False</a:t>
            </a:r>
            <a:r>
              <a:rPr lang="en-US" sz="2200" dirty="0"/>
              <a:t> otherwise: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b="1" dirty="0"/>
              <a:t>True</a:t>
            </a:r>
            <a:r>
              <a:rPr lang="en-US" sz="2200" dirty="0"/>
              <a:t> and </a:t>
            </a:r>
            <a:r>
              <a:rPr lang="en-US" sz="2200" b="1" dirty="0"/>
              <a:t>False </a:t>
            </a:r>
            <a:r>
              <a:rPr lang="en-US" sz="2200" dirty="0"/>
              <a:t> are special values that belong to the class </a:t>
            </a:r>
            <a:r>
              <a:rPr lang="en-US" sz="2200" b="1" dirty="0"/>
              <a:t>bool</a:t>
            </a:r>
            <a:r>
              <a:rPr lang="en-US" sz="2200" dirty="0"/>
              <a:t> ; they are not strings:</a:t>
            </a:r>
            <a:endParaRPr lang="en-US" sz="2200" b="1" dirty="0"/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92235-3B3F-5249-A9DD-4BCA5599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78" y="3002936"/>
            <a:ext cx="2235200" cy="1384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5344E2-124C-364D-A207-7447A1A1A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78" y="5227555"/>
            <a:ext cx="3175000" cy="13335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8B70AB-4636-7C46-98D8-FEE19690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EC00-8D81-B540-B467-3E1BA30DF408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6EB01-5C51-0F46-A582-527390AD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DDC745-731B-F84A-8F7C-5BB47E29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3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F3236-C3E5-254C-8579-B9EE9DC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Boolean Expressions (Contd.)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8C4-269A-4047-88A6-8C7AB005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563491"/>
          </a:xfrm>
        </p:spPr>
        <p:txBody>
          <a:bodyPr>
            <a:normAutofit/>
          </a:bodyPr>
          <a:lstStyle/>
          <a:p>
            <a:r>
              <a:rPr lang="en-US" sz="2200" dirty="0"/>
              <a:t>The </a:t>
            </a:r>
            <a:r>
              <a:rPr lang="en-US" sz="2200" b="1" dirty="0"/>
              <a:t>== </a:t>
            </a:r>
            <a:r>
              <a:rPr lang="en-US" sz="2200" dirty="0"/>
              <a:t>operator is one of the </a:t>
            </a:r>
            <a:r>
              <a:rPr lang="en-US" sz="2200" i="1" dirty="0"/>
              <a:t>comparison operators</a:t>
            </a:r>
            <a:r>
              <a:rPr lang="en-US" sz="2200" dirty="0"/>
              <a:t>; the others are: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Although these operations are probably familiar to you, the Python symbols are different from the mathematical symbols for the same operations.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A5705B-8A57-F443-A7B5-18B931E2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47" y="2543087"/>
            <a:ext cx="8858693" cy="26375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B4881-1951-1A42-9A90-AE8BA51C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4CED-4F13-8446-B722-415C7F05C9A5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2E55A6-4917-1E42-AD47-BC59A1FD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257EB0D-606D-B542-B625-4A7B61654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7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F3236-C3E5-254C-8579-B9EE9DC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Logical operators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8C4-269A-4047-88A6-8C7AB005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There are three logical operators: </a:t>
            </a:r>
            <a:r>
              <a:rPr lang="en-US" sz="2200" dirty="0">
                <a:solidFill>
                  <a:srgbClr val="FF0000"/>
                </a:solidFill>
              </a:rPr>
              <a:t>and</a:t>
            </a:r>
            <a:r>
              <a:rPr lang="en-US" sz="2200" dirty="0"/>
              <a:t>, </a:t>
            </a:r>
            <a:r>
              <a:rPr lang="en-US" sz="2200" dirty="0">
                <a:solidFill>
                  <a:srgbClr val="FF0000"/>
                </a:solidFill>
              </a:rPr>
              <a:t>or</a:t>
            </a:r>
            <a:r>
              <a:rPr lang="en-US" sz="2200" dirty="0"/>
              <a:t>, and </a:t>
            </a:r>
            <a:r>
              <a:rPr lang="en-US" sz="2200" dirty="0">
                <a:solidFill>
                  <a:srgbClr val="FF0000"/>
                </a:solidFill>
              </a:rPr>
              <a:t>not</a:t>
            </a:r>
            <a:r>
              <a:rPr lang="en-US" sz="2200" dirty="0"/>
              <a:t>. The semantics (meaning) of these operators is like their meaning in English. For example,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x &gt; 0 and x &lt; 10</a:t>
            </a:r>
          </a:p>
          <a:p>
            <a:r>
              <a:rPr lang="en-US" sz="2200" dirty="0"/>
              <a:t>is true only if </a:t>
            </a:r>
            <a:r>
              <a:rPr lang="en-US" sz="2200" dirty="0">
                <a:solidFill>
                  <a:srgbClr val="FF0000"/>
                </a:solidFill>
              </a:rPr>
              <a:t>x</a:t>
            </a:r>
            <a:r>
              <a:rPr lang="en-US" sz="2200" dirty="0"/>
              <a:t> is greater than 0 and less than 10.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n%2 == 0 or n%3 == 0 </a:t>
            </a:r>
            <a:r>
              <a:rPr lang="en-US" sz="2200" dirty="0"/>
              <a:t>is true if either of the conditions is true, that is, if the number is divisible by 2 or 3.</a:t>
            </a:r>
          </a:p>
          <a:p>
            <a:r>
              <a:rPr lang="en-US" sz="2200" dirty="0"/>
              <a:t>Finally, the </a:t>
            </a:r>
            <a:r>
              <a:rPr lang="en-US" sz="2200" dirty="0">
                <a:solidFill>
                  <a:srgbClr val="FF0000"/>
                </a:solidFill>
              </a:rPr>
              <a:t>not</a:t>
            </a:r>
            <a:r>
              <a:rPr lang="en-US" sz="2200" dirty="0"/>
              <a:t> operator negates a boolean expression, so </a:t>
            </a:r>
            <a:r>
              <a:rPr lang="en-US" sz="2200" b="1" dirty="0">
                <a:solidFill>
                  <a:srgbClr val="FF0000"/>
                </a:solidFill>
              </a:rPr>
              <a:t>not (x &gt; y)</a:t>
            </a:r>
            <a:r>
              <a:rPr lang="en-US" sz="2200" dirty="0"/>
              <a:t> is true if </a:t>
            </a:r>
            <a:r>
              <a:rPr lang="en-US" sz="2200" b="1" dirty="0">
                <a:solidFill>
                  <a:srgbClr val="FF0000"/>
                </a:solidFill>
              </a:rPr>
              <a:t>x &gt; y</a:t>
            </a:r>
            <a:r>
              <a:rPr lang="en-US" sz="2200" dirty="0"/>
              <a:t> is false; that is, if </a:t>
            </a:r>
            <a:r>
              <a:rPr lang="en-US" sz="2200" dirty="0">
                <a:solidFill>
                  <a:srgbClr val="FF0000"/>
                </a:solidFill>
              </a:rPr>
              <a:t>x</a:t>
            </a:r>
            <a:r>
              <a:rPr lang="en-US" sz="2200" dirty="0"/>
              <a:t> is less than or equal to </a:t>
            </a:r>
            <a:r>
              <a:rPr lang="en-US" sz="2200" dirty="0">
                <a:solidFill>
                  <a:srgbClr val="FF0000"/>
                </a:solidFill>
              </a:rPr>
              <a:t>y</a:t>
            </a:r>
            <a:r>
              <a:rPr lang="en-US" sz="2200" dirty="0"/>
              <a:t>.</a:t>
            </a:r>
          </a:p>
          <a:p>
            <a:r>
              <a:rPr lang="en-US" sz="2200" dirty="0"/>
              <a:t>Strictly speaking, the operands of the logical operators should be boolean expressions, but Python is not very strict. Any nonzero number is interpreted as “true.”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C37B9-3812-4848-A567-0FB1902CB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43" y="5768975"/>
            <a:ext cx="2019300" cy="7239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A7513-4AC6-F44F-954C-0CF5843DA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91C-ECD2-784F-AE3A-892F49E6A921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157A1-0134-5E45-B8BA-0C045A76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C3974-AA95-6040-B53C-093F36F6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3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855" y="41577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/>
              <a:t>Conditional Execution (If)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099" y="1828800"/>
            <a:ext cx="7296935" cy="4495800"/>
          </a:xfrm>
        </p:spPr>
        <p:txBody>
          <a:bodyPr>
            <a:noAutofit/>
          </a:bodyPr>
          <a:lstStyle/>
          <a:p>
            <a:r>
              <a:rPr lang="en-US" sz="4000" dirty="0"/>
              <a:t>In daily routine</a:t>
            </a:r>
          </a:p>
          <a:p>
            <a:pPr lvl="1"/>
            <a:r>
              <a:rPr lang="en-US" sz="3600" dirty="0"/>
              <a:t>If it is very hot, I will skip exercise.</a:t>
            </a:r>
          </a:p>
          <a:p>
            <a:pPr lvl="1"/>
            <a:r>
              <a:rPr lang="en-US" sz="3600" dirty="0"/>
              <a:t>If there is a quiz tomorrow, I will first study and then sleep. Otherwise, I will sleep now.</a:t>
            </a:r>
          </a:p>
          <a:p>
            <a:pPr lvl="1"/>
            <a:r>
              <a:rPr lang="en-US" sz="3600" dirty="0"/>
              <a:t>If I have to buy coffee, I will                 go left. Else I will go                 straight.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601" y="1295400"/>
            <a:ext cx="123433" cy="181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8553680" y="723900"/>
            <a:ext cx="3314239" cy="5791200"/>
            <a:chOff x="5572992" y="1066800"/>
            <a:chExt cx="3314239" cy="5791200"/>
          </a:xfrm>
        </p:grpSpPr>
        <p:sp>
          <p:nvSpPr>
            <p:cNvPr id="8" name="Rectangle 7"/>
            <p:cNvSpPr/>
            <p:nvPr/>
          </p:nvSpPr>
          <p:spPr>
            <a:xfrm>
              <a:off x="7696200" y="1447800"/>
              <a:ext cx="585300" cy="54102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72992" y="2286000"/>
              <a:ext cx="2656608" cy="6096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8" name="Picture 4" descr="C:\Users\karkare\AppData\Local\Microsoft\Windows\INetCache\IE\N2P4WHXF\littlestorefront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2992" y="1066800"/>
              <a:ext cx="1723942" cy="1346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5" descr="C:\Program Files (x86)\Microsoft Office\MEDIA\CAGCAT10\j0212957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558708">
              <a:off x="7397216" y="5166762"/>
              <a:ext cx="1830629" cy="1149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:\Users\karkare\AppData\Local\Microsoft\Windows\INetCache\IE\7OQ3GPY8\120px-Coffee_Time_Logo[1]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8767" y="1084132"/>
              <a:ext cx="772392" cy="727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8F90D-514F-7449-8930-C6BF3513C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BE55-E9AA-924A-8F4D-D17BC3494C2A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6255C-22A1-FD44-A816-FB01A785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25882-336C-904C-94C7-E91A1887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2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F3236-C3E5-254C-8579-B9EE9DC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Conditional Execution (If)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8C4-269A-4047-88A6-8C7AB005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1773723"/>
          </a:xfrm>
        </p:spPr>
        <p:txBody>
          <a:bodyPr>
            <a:normAutofit/>
          </a:bodyPr>
          <a:lstStyle/>
          <a:p>
            <a:r>
              <a:rPr lang="en-US" sz="2200" dirty="0"/>
              <a:t>In order to write useful programs, we almost always need the ability to check conditions and change the behavior of the program accordingly. </a:t>
            </a:r>
          </a:p>
          <a:p>
            <a:r>
              <a:rPr lang="en-US" sz="2200" i="1" dirty="0"/>
              <a:t>Conditional statements give us this ability</a:t>
            </a:r>
            <a:r>
              <a:rPr lang="en-US" sz="2200" dirty="0"/>
              <a:t>. </a:t>
            </a:r>
          </a:p>
          <a:p>
            <a:r>
              <a:rPr lang="en-US" sz="2200" dirty="0"/>
              <a:t>The simplest form is the </a:t>
            </a:r>
            <a:r>
              <a:rPr lang="en-US" sz="2200" b="1" dirty="0"/>
              <a:t>if</a:t>
            </a:r>
            <a:r>
              <a:rPr lang="en-US" sz="2200" dirty="0"/>
              <a:t> statement: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E16D9-EB79-9D4E-9E25-F49418C2D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00" y="3586057"/>
            <a:ext cx="42291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362092-9AE0-504E-8D0C-FE1C5AC3A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2816245"/>
            <a:ext cx="4089400" cy="32639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059A539-143D-EB49-8EA8-F308C1A5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CD522-5CDD-5340-A95C-4BB6BECABF9D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37570BE-AE4B-3540-87A8-BBBDE3D0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B7D69-1791-F145-A94E-C5DFDCCF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5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8667" y="632636"/>
            <a:ext cx="3989866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335271"/>
            <a:ext cx="8839200" cy="533400"/>
          </a:xfrm>
        </p:spPr>
        <p:txBody>
          <a:bodyPr/>
          <a:lstStyle/>
          <a:p>
            <a:r>
              <a:rPr lang="en-US" dirty="0"/>
              <a:t>Compare two integers and print the min.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6629400" y="2171700"/>
            <a:ext cx="3810000" cy="2362200"/>
          </a:xfrm>
          <a:prstGeom prst="roundRect">
            <a:avLst>
              <a:gd name="adj" fmla="val 16667"/>
            </a:avLst>
          </a:prstGeom>
          <a:solidFill>
            <a:srgbClr val="FFE39D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452755" indent="-452755"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Check if x is less than y.</a:t>
            </a:r>
          </a:p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If so, print x </a:t>
            </a:r>
          </a:p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Otherwise, print y.</a:t>
            </a:r>
          </a:p>
        </p:txBody>
      </p:sp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24000" y="2057400"/>
            <a:ext cx="5105400" cy="3352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+mn-lt"/>
              </a:rPr>
              <a:t>if</a:t>
            </a: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x &lt; y:</a:t>
            </a: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       print (x)</a:t>
            </a:r>
          </a:p>
          <a:p>
            <a:pPr>
              <a:buClrTx/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+mn-lt"/>
              </a:rPr>
              <a:t>else:</a:t>
            </a:r>
            <a:endParaRPr lang="en-US" altLang="en-US" sz="3600" dirty="0">
              <a:solidFill>
                <a:srgbClr val="FF0000"/>
              </a:solidFill>
              <a:latin typeface="+mn-lt"/>
            </a:endParaRP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       print (y)</a:t>
            </a: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print (‘is the minimum’)</a:t>
            </a:r>
          </a:p>
        </p:txBody>
      </p:sp>
      <p:sp>
        <p:nvSpPr>
          <p:cNvPr id="6150" name="AutoShape 6"/>
          <p:cNvSpPr/>
          <p:nvPr/>
        </p:nvSpPr>
        <p:spPr bwMode="auto">
          <a:xfrm rot="10800000">
            <a:off x="5486400" y="2209799"/>
            <a:ext cx="1142999" cy="2324101"/>
          </a:xfrm>
          <a:prstGeom prst="leftBrace">
            <a:avLst>
              <a:gd name="adj1" fmla="val 8333"/>
              <a:gd name="adj2" fmla="val 51132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24CC-31F7-2544-BBD8-591C7FB6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3818-4805-5B4B-89A9-4D67D2B2CDCE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14994-150D-1D42-8A6F-66AFCA57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83D2D-2E31-A441-81A3-E2E31E68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9377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F3236-C3E5-254C-8579-B9EE9DC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Conditional Execution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8C4-269A-4047-88A6-8C7AB005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6370674" cy="3489571"/>
          </a:xfrm>
        </p:spPr>
        <p:txBody>
          <a:bodyPr>
            <a:normAutofit/>
          </a:bodyPr>
          <a:lstStyle/>
          <a:p>
            <a:r>
              <a:rPr lang="en-US" sz="2200" dirty="0"/>
              <a:t>If you enter an if statement in the Python interpreter, the prompt will change from three chevrons to three dots to indicate you are in the middle of a block of statements, as shown below:</a:t>
            </a:r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When using the Python interpreter, you must leave a blank line at the end of a block, otherwise Python will return an error: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057ADA-AA31-EF49-90CD-6EA506A1A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073" y="2000677"/>
            <a:ext cx="3192131" cy="1638067"/>
          </a:xfrm>
          <a:prstGeom prst="rect">
            <a:avLst/>
          </a:prstGeom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56E4F64F-6AA7-8643-A3E2-DF53E6BDE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478" y="4162990"/>
            <a:ext cx="3927875" cy="1329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2C5502-40C1-9A40-9C0F-62E7350A7458}"/>
              </a:ext>
            </a:extLst>
          </p:cNvPr>
          <p:cNvSpPr txBox="1"/>
          <p:nvPr/>
        </p:nvSpPr>
        <p:spPr>
          <a:xfrm>
            <a:off x="2586760" y="5701784"/>
            <a:ext cx="7769352" cy="578882"/>
          </a:xfrm>
          <a:prstGeom prst="round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This error is called the </a:t>
            </a:r>
            <a:r>
              <a:rPr lang="en-US" sz="1400" b="1" i="1" dirty="0"/>
              <a:t>Indentation Error</a:t>
            </a:r>
            <a:r>
              <a:rPr lang="en-US" sz="1400" b="1" dirty="0"/>
              <a:t>. Since there is no { } (curly brackets) to show the start and end of a block, Python uses the indented line (generally 4 spaces or a tab space) to identify it.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FFFAD6A-B1F6-364D-92BA-4D8377C1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53F3-4CA6-B84F-B7B2-9335CB74BD7C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6E25037-0853-9948-937B-A0E46FAD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C5203E1-317F-5F42-AD58-82B93B85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1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1"/>
          <p:cNvSpPr>
            <a:spLocks noChangeArrowheads="1"/>
          </p:cNvSpPr>
          <p:nvPr/>
        </p:nvSpPr>
        <p:spPr bwMode="auto">
          <a:xfrm>
            <a:off x="8839200" y="3092302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CF9401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228850" y="2273152"/>
            <a:ext cx="4781550" cy="3867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</a:ln>
          <a:effectLst/>
        </p:spPr>
        <p:txBody>
          <a:bodyPr/>
          <a:lstStyle>
            <a:lvl1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400050"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lvl="1">
              <a:buSzPct val="75000"/>
            </a:pPr>
            <a:r>
              <a:rPr lang="en-US" altLang="en-US" sz="3200" dirty="0">
                <a:ea typeface="ＭＳ Ｐゴシック" pitchFamily="32" charset="-128"/>
              </a:rPr>
              <a:t>    x,y = 6,10</a:t>
            </a:r>
          </a:p>
          <a:p>
            <a:pPr lvl="1">
              <a:buSzPct val="75000"/>
            </a:pPr>
            <a:r>
              <a:rPr lang="en-US" altLang="en-US" sz="3200" dirty="0">
                <a:ea typeface="ＭＳ Ｐゴシック" pitchFamily="32" charset="-128"/>
              </a:rPr>
              <a:t>	</a:t>
            </a:r>
          </a:p>
          <a:p>
            <a:pPr lvl="1">
              <a:buSzPct val="75000"/>
            </a:pPr>
            <a:r>
              <a:rPr lang="en-US" altLang="en-US" sz="3200" dirty="0">
                <a:ea typeface="ＭＳ Ｐゴシック" pitchFamily="32" charset="-128"/>
              </a:rPr>
              <a:t>	if x &lt; y:</a:t>
            </a:r>
          </a:p>
          <a:p>
            <a:pPr lvl="1">
              <a:buSzPct val="75000"/>
            </a:pPr>
            <a:r>
              <a:rPr lang="en-US" altLang="en-US" sz="3200" dirty="0">
                <a:ea typeface="ＭＳ Ｐゴシック" pitchFamily="32" charset="-128"/>
              </a:rPr>
              <a:t>	 	print (x) </a:t>
            </a:r>
          </a:p>
          <a:p>
            <a:pPr lvl="1">
              <a:buSzPct val="75000"/>
            </a:pPr>
            <a:r>
              <a:rPr lang="en-US" altLang="en-US" sz="3200" dirty="0">
                <a:ea typeface="ＭＳ Ｐゴシック" pitchFamily="32" charset="-128"/>
              </a:rPr>
              <a:t>    else:   </a:t>
            </a:r>
          </a:p>
          <a:p>
            <a:pPr lvl="1">
              <a:buSzPct val="75000"/>
            </a:pPr>
            <a:r>
              <a:rPr lang="en-US" altLang="en-US" sz="3200" dirty="0">
                <a:ea typeface="ＭＳ Ｐゴシック" pitchFamily="32" charset="-128"/>
              </a:rPr>
              <a:t>         print (y)</a:t>
            </a:r>
          </a:p>
          <a:p>
            <a:pPr lvl="1">
              <a:buSzPct val="75000"/>
            </a:pPr>
            <a:r>
              <a:rPr lang="en-US" altLang="en-US" sz="3200" dirty="0">
                <a:ea typeface="ＭＳ Ｐゴシック" pitchFamily="32" charset="-128"/>
              </a:rPr>
              <a:t>         print (‘is the min’) </a:t>
            </a:r>
          </a:p>
        </p:txBody>
      </p:sp>
      <p:sp>
        <p:nvSpPr>
          <p:cNvPr id="7174" name="AutoShape 6"/>
          <p:cNvSpPr>
            <a:spLocks noChangeArrowheads="1"/>
          </p:cNvSpPr>
          <p:nvPr/>
        </p:nvSpPr>
        <p:spPr bwMode="auto">
          <a:xfrm>
            <a:off x="7162800" y="3092302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CF9401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7394576" y="2558903"/>
            <a:ext cx="3333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x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8915400" y="2558903"/>
            <a:ext cx="338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y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7467600" y="3397103"/>
            <a:ext cx="812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6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9147175" y="3397102"/>
            <a:ext cx="5248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10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7177088" y="2479527"/>
            <a:ext cx="2493288" cy="463846"/>
          </a:xfrm>
          <a:prstGeom prst="rect">
            <a:avLst/>
          </a:prstGeom>
          <a:solidFill>
            <a:srgbClr val="FFE3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Run the program</a:t>
            </a:r>
          </a:p>
        </p:txBody>
      </p:sp>
      <p:sp>
        <p:nvSpPr>
          <p:cNvPr id="7182" name="AutoShape 14"/>
          <p:cNvSpPr>
            <a:spLocks noChangeArrowheads="1"/>
          </p:cNvSpPr>
          <p:nvPr/>
        </p:nvSpPr>
        <p:spPr bwMode="auto">
          <a:xfrm>
            <a:off x="2514600" y="3320902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3" name="AutoShape 15"/>
          <p:cNvSpPr>
            <a:spLocks noChangeArrowheads="1"/>
          </p:cNvSpPr>
          <p:nvPr/>
        </p:nvSpPr>
        <p:spPr bwMode="auto">
          <a:xfrm>
            <a:off x="2514600" y="3854302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4" name="AutoShape 16"/>
          <p:cNvSpPr>
            <a:spLocks noChangeArrowheads="1"/>
          </p:cNvSpPr>
          <p:nvPr/>
        </p:nvSpPr>
        <p:spPr bwMode="auto">
          <a:xfrm>
            <a:off x="2514600" y="4311502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5" name="AutoShape 17"/>
          <p:cNvSpPr>
            <a:spLocks noChangeArrowheads="1"/>
          </p:cNvSpPr>
          <p:nvPr/>
        </p:nvSpPr>
        <p:spPr bwMode="auto">
          <a:xfrm>
            <a:off x="2514600" y="5683102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AutoShape 4"/>
          <p:cNvSpPr>
            <a:spLocks noChangeArrowheads="1"/>
          </p:cNvSpPr>
          <p:nvPr/>
        </p:nvSpPr>
        <p:spPr bwMode="auto">
          <a:xfrm>
            <a:off x="7177088" y="4844902"/>
            <a:ext cx="3262312" cy="1219200"/>
          </a:xfrm>
          <a:prstGeom prst="roundRect">
            <a:avLst>
              <a:gd name="adj" fmla="val 16667"/>
            </a:avLst>
          </a:prstGeom>
          <a:solidFill>
            <a:srgbClr val="FFE39D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Output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7291388" y="5390890"/>
            <a:ext cx="436562" cy="5869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ea typeface="ＭＳ Ｐゴシック" pitchFamily="32" charset="-128"/>
              </a:rPr>
              <a:t>6</a:t>
            </a:r>
          </a:p>
        </p:txBody>
      </p:sp>
      <p:sp>
        <p:nvSpPr>
          <p:cNvPr id="24" name="AutoShape 14"/>
          <p:cNvSpPr>
            <a:spLocks noChangeArrowheads="1"/>
          </p:cNvSpPr>
          <p:nvPr/>
        </p:nvSpPr>
        <p:spPr bwMode="auto">
          <a:xfrm>
            <a:off x="2514600" y="2406502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824960" y="5600609"/>
            <a:ext cx="1808515" cy="6221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skipped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1524000" y="577702"/>
            <a:ext cx="9144000" cy="1444625"/>
          </a:xfrm>
        </p:spPr>
        <p:txBody>
          <a:bodyPr>
            <a:noAutofit/>
          </a:bodyPr>
          <a:lstStyle/>
          <a:p>
            <a:r>
              <a:rPr lang="en-US" sz="3600" dirty="0"/>
              <a:t>Indentation is </a:t>
            </a:r>
            <a:r>
              <a:rPr lang="en-US" sz="3600" b="1" dirty="0"/>
              <a:t>important</a:t>
            </a:r>
            <a:r>
              <a:rPr lang="en-US" sz="3600" dirty="0"/>
              <a:t> in Python</a:t>
            </a:r>
          </a:p>
          <a:p>
            <a:pPr lvl="1"/>
            <a:r>
              <a:rPr lang="en-US" dirty="0"/>
              <a:t>grouping of statement (block of statements)</a:t>
            </a:r>
          </a:p>
          <a:p>
            <a:pPr lvl="1"/>
            <a:r>
              <a:rPr lang="en-US" dirty="0"/>
              <a:t>no explicit brackets, e.g. { }, to group statements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9C4E72-FFBE-DF42-99C0-F99C0D2D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4A5C-1B91-4244-A776-63E4D54E63CA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82BFA5-25C2-C24B-9AEE-C6311FC4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8F0217-AA1D-2647-9663-83BA2A5D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06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33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0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8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86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6" dur="1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98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" grpId="0" animBg="1"/>
      <p:bldP spid="7174" grpId="0" animBg="1"/>
      <p:bldP spid="7182" grpId="0" animBg="1"/>
      <p:bldP spid="7182" grpId="1" animBg="1"/>
      <p:bldP spid="7183" grpId="0" animBg="1"/>
      <p:bldP spid="7183" grpId="1" animBg="1"/>
      <p:bldP spid="7184" grpId="0" animBg="1"/>
      <p:bldP spid="7184" grpId="1" animBg="1"/>
      <p:bldP spid="7185" grpId="0" animBg="1"/>
      <p:bldP spid="20" grpId="0" animBg="1"/>
      <p:bldP spid="21" grpId="0" animBg="1"/>
      <p:bldP spid="24" grpId="0" animBg="1"/>
      <p:bldP spid="24" grpId="1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914400"/>
            <a:ext cx="7772400" cy="5181600"/>
          </a:xfrm>
        </p:spPr>
        <p:txBody>
          <a:bodyPr>
            <a:noAutofit/>
          </a:bodyPr>
          <a:lstStyle/>
          <a:p>
            <a:r>
              <a:rPr lang="en-US" dirty="0"/>
              <a:t>General form of the if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of if statement</a:t>
            </a:r>
          </a:p>
          <a:p>
            <a:pPr lvl="1"/>
            <a:r>
              <a:rPr lang="en-US" dirty="0"/>
              <a:t>First the expression is evaluated.</a:t>
            </a:r>
          </a:p>
          <a:p>
            <a:pPr lvl="1"/>
            <a:r>
              <a:rPr lang="en-US" dirty="0"/>
              <a:t>If it evaluates to a </a:t>
            </a:r>
            <a:r>
              <a:rPr lang="en-US" b="1" dirty="0">
                <a:solidFill>
                  <a:srgbClr val="FF0000"/>
                </a:solidFill>
              </a:rPr>
              <a:t>true </a:t>
            </a:r>
            <a:r>
              <a:rPr lang="en-US" dirty="0"/>
              <a:t>value, then S1 is executed and then control moves to the S2.</a:t>
            </a:r>
          </a:p>
          <a:p>
            <a:pPr lvl="1"/>
            <a:r>
              <a:rPr lang="en-US" dirty="0"/>
              <a:t>If expression evaluates to </a:t>
            </a:r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, then control moves to the S2 directly.</a:t>
            </a:r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3124200" y="1600670"/>
            <a:ext cx="4648200" cy="1599730"/>
          </a:xfrm>
          <a:prstGeom prst="roundRect">
            <a:avLst>
              <a:gd name="adj" fmla="val 16667"/>
            </a:avLst>
          </a:prstGeom>
          <a:solidFill>
            <a:srgbClr val="8BE6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if boolean-expr 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 S1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S2</a:t>
            </a:r>
          </a:p>
        </p:txBody>
      </p:sp>
      <p:sp>
        <p:nvSpPr>
          <p:cNvPr id="19" name="Action Button: Help 18">
            <a:hlinkClick r:id="" action="ppaction://noaction" highlightClick="1"/>
          </p:cNvPr>
          <p:cNvSpPr/>
          <p:nvPr/>
        </p:nvSpPr>
        <p:spPr bwMode="auto">
          <a:xfrm>
            <a:off x="8911672" y="1383269"/>
            <a:ext cx="412984" cy="448991"/>
          </a:xfrm>
          <a:prstGeom prst="actionButtonHelp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20" name="Right Arrow 19"/>
          <p:cNvSpPr/>
          <p:nvPr/>
        </p:nvSpPr>
        <p:spPr bwMode="auto">
          <a:xfrm rot="2700000">
            <a:off x="8354175" y="2926692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8100000">
            <a:off x="8415332" y="1933637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56004" y="2450068"/>
            <a:ext cx="40748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3953" y="3440668"/>
            <a:ext cx="40748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S2</a:t>
            </a:r>
          </a:p>
        </p:txBody>
      </p:sp>
      <p:sp>
        <p:nvSpPr>
          <p:cNvPr id="25" name="Bent Arrow 24"/>
          <p:cNvSpPr/>
          <p:nvPr/>
        </p:nvSpPr>
        <p:spPr bwMode="auto">
          <a:xfrm rot="9525154">
            <a:off x="9013535" y="1890638"/>
            <a:ext cx="622245" cy="1599728"/>
          </a:xfrm>
          <a:prstGeom prst="bentArrow">
            <a:avLst>
              <a:gd name="adj1" fmla="val 25000"/>
              <a:gd name="adj2" fmla="val 26222"/>
              <a:gd name="adj3" fmla="val 25000"/>
              <a:gd name="adj4" fmla="val 43750"/>
            </a:avLst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 rot="18950299">
            <a:off x="8352182" y="168619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 rot="4012159">
            <a:off x="9249139" y="1796587"/>
            <a:ext cx="6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false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2F9C58-FD45-064C-B348-0C527349E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D204A-4C6E-5841-AB22-80DDD5F46FA2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6525BE-AFBF-E44B-88D9-FEB14DA8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D48E60-F715-AD4A-9EAF-687518F5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40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animBg="1"/>
      <p:bldP spid="20" grpId="0" animBg="1"/>
      <p:bldP spid="21" grpId="0" animBg="1"/>
      <p:bldP spid="25" grpId="0" animBg="1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F3236-C3E5-254C-8579-B9EE9DC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Alternative execution (If-Else)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8C4-269A-4047-88A6-8C7AB005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671732"/>
          </a:xfrm>
        </p:spPr>
        <p:txBody>
          <a:bodyPr>
            <a:normAutofit/>
          </a:bodyPr>
          <a:lstStyle/>
          <a:p>
            <a:r>
              <a:rPr lang="en-US" sz="2200" dirty="0"/>
              <a:t>A second form of the </a:t>
            </a:r>
            <a:r>
              <a:rPr lang="en-US" sz="2200" b="1" dirty="0"/>
              <a:t>if </a:t>
            </a:r>
            <a:r>
              <a:rPr lang="en-US" sz="2200" dirty="0"/>
              <a:t>statement is </a:t>
            </a:r>
            <a:r>
              <a:rPr lang="en-US" sz="2200" i="1" dirty="0"/>
              <a:t>alternative execution</a:t>
            </a:r>
            <a:r>
              <a:rPr lang="en-US" sz="2200" dirty="0"/>
              <a:t>, in which there are two possibilities, and the condition determines which one gets executed. The syntax looks like this: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Since the condition must either be true or false, exactly one of the alternatives will be executed.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E22DB-B2C0-2C41-9390-EF45BE05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7" y="3072048"/>
            <a:ext cx="3866559" cy="1530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4933E9-9DE1-EA43-8C50-9DAEBA353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2549556"/>
            <a:ext cx="5030334" cy="276823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AE53E0-0C89-0741-A5AB-C78420279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206-CDF8-4A4C-955D-4FF002D921F4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61B676-0D19-FD42-B2E3-C9E03B9D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09886-C178-8E4C-89D2-2295AFE6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74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F3236-C3E5-254C-8579-B9EE9DC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Chained conditionals (If-Else ladder)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8C4-269A-4047-88A6-8C7AB005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Sometimes there are more than two possibilities, and we need more than two branches. One way to express a computation like that is a </a:t>
            </a:r>
            <a:r>
              <a:rPr lang="en-US" sz="2200" i="1" dirty="0"/>
              <a:t>chained conditional</a:t>
            </a:r>
            <a:r>
              <a:rPr lang="en-US" sz="2200" dirty="0"/>
              <a:t>: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b="1" dirty="0"/>
              <a:t>elif</a:t>
            </a:r>
            <a:r>
              <a:rPr lang="en-US" sz="2200" dirty="0"/>
              <a:t> is an abbreviation of “else if”. </a:t>
            </a:r>
          </a:p>
          <a:p>
            <a:r>
              <a:rPr lang="en-US" sz="2200" dirty="0"/>
              <a:t>Again, exactly one branch will be executed.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8150D-42A5-A34F-852C-BD9F82C0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72" y="2725627"/>
            <a:ext cx="4507319" cy="1752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A4CDF1-D1A6-EB4B-B6E5-D3A4DA96C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797" y="2725627"/>
            <a:ext cx="3291531" cy="342441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DCAA74-E5DE-C646-BC88-A44A50E7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DD49-4A4A-AD49-B141-45B25EEC298D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A30AB7-81EF-E340-8C37-680D4D34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7C003-3713-324A-B2AC-A018A667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19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685800"/>
            <a:ext cx="7772400" cy="5867400"/>
          </a:xfrm>
        </p:spPr>
        <p:txBody>
          <a:bodyPr>
            <a:noAutofit/>
          </a:bodyPr>
          <a:lstStyle/>
          <a:p>
            <a:r>
              <a:rPr lang="en-US" dirty="0"/>
              <a:t>General form of the if-else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of if-else statement</a:t>
            </a:r>
          </a:p>
          <a:p>
            <a:pPr lvl="1"/>
            <a:r>
              <a:rPr lang="en-US" dirty="0"/>
              <a:t>First the expression is evaluated.</a:t>
            </a:r>
          </a:p>
          <a:p>
            <a:pPr lvl="1"/>
            <a:r>
              <a:rPr lang="en-US" dirty="0"/>
              <a:t>If it evaluates to a </a:t>
            </a:r>
            <a:r>
              <a:rPr lang="en-US" b="1" dirty="0">
                <a:solidFill>
                  <a:srgbClr val="FF0000"/>
                </a:solidFill>
              </a:rPr>
              <a:t>true</a:t>
            </a:r>
            <a:r>
              <a:rPr lang="en-US" dirty="0"/>
              <a:t> value, then S1 is executed and then control moves to S3.</a:t>
            </a:r>
          </a:p>
          <a:p>
            <a:pPr lvl="1"/>
            <a:r>
              <a:rPr lang="en-US" dirty="0"/>
              <a:t>If expression evaluates to </a:t>
            </a:r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, then S2 is executed and then control moves to S3.</a:t>
            </a:r>
          </a:p>
          <a:p>
            <a:pPr lvl="1"/>
            <a:r>
              <a:rPr lang="en-US" dirty="0"/>
              <a:t>S1/S2 can be </a:t>
            </a:r>
            <a:r>
              <a:rPr lang="en-US" b="1" dirty="0"/>
              <a:t>blocks </a:t>
            </a:r>
            <a:r>
              <a:rPr lang="en-US" dirty="0"/>
              <a:t>of statements!</a:t>
            </a:r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3124200" y="1307068"/>
            <a:ext cx="4648200" cy="2274332"/>
          </a:xfrm>
          <a:prstGeom prst="roundRect">
            <a:avLst>
              <a:gd name="adj" fmla="val 16667"/>
            </a:avLst>
          </a:prstGeom>
          <a:solidFill>
            <a:srgbClr val="8BE6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if boolean-expr 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S1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S2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S3</a:t>
            </a:r>
          </a:p>
        </p:txBody>
      </p:sp>
      <p:sp>
        <p:nvSpPr>
          <p:cNvPr id="5" name="Action Button: Help 4">
            <a:hlinkClick r:id="" action="ppaction://noaction" highlightClick="1"/>
          </p:cNvPr>
          <p:cNvSpPr/>
          <p:nvPr/>
        </p:nvSpPr>
        <p:spPr bwMode="auto">
          <a:xfrm>
            <a:off x="8935742" y="1307068"/>
            <a:ext cx="306625" cy="457672"/>
          </a:xfrm>
          <a:prstGeom prst="actionButtonHelp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6" name="Right Arrow 5"/>
          <p:cNvSpPr/>
          <p:nvPr/>
        </p:nvSpPr>
        <p:spPr bwMode="auto">
          <a:xfrm rot="2700000">
            <a:off x="8378244" y="2850492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 rot="8100000">
            <a:off x="8378218" y="1867841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7804" y="2385155"/>
            <a:ext cx="40748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073" y="2373868"/>
            <a:ext cx="40748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8023" y="3364468"/>
            <a:ext cx="40748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S3</a:t>
            </a:r>
          </a:p>
        </p:txBody>
      </p:sp>
      <p:sp>
        <p:nvSpPr>
          <p:cNvPr id="20" name="Right Arrow 19"/>
          <p:cNvSpPr/>
          <p:nvPr/>
        </p:nvSpPr>
        <p:spPr bwMode="auto">
          <a:xfrm rot="2700000">
            <a:off x="9001670" y="1862689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8100000">
            <a:off x="8955874" y="2850429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rot="18950299">
            <a:off x="8275982" y="160999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 rot="2740178">
            <a:off x="9273209" y="1720387"/>
            <a:ext cx="6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false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D58E447-5F2A-CF4A-9CF1-13758232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4E43-4FF3-194A-9330-F41C68B686EC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20FA2FA-EF47-1348-8CAB-8615C0733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EEC4438-B69E-8348-848E-6DA40A85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744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10" grpId="0" animBg="1"/>
      <p:bldP spid="20" grpId="0" animBg="1"/>
      <p:bldP spid="21" grpId="0" animBg="1"/>
      <p:bldP spid="17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F3236-C3E5-254C-8579-B9EE9DC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Chained conditionals (If-Else ladder)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8C4-269A-4047-88A6-8C7AB005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772982"/>
          </a:xfrm>
        </p:spPr>
        <p:txBody>
          <a:bodyPr>
            <a:normAutofit/>
          </a:bodyPr>
          <a:lstStyle/>
          <a:p>
            <a:r>
              <a:rPr lang="en-US" sz="2200" dirty="0"/>
              <a:t>There is no limit on the no. of </a:t>
            </a:r>
            <a:r>
              <a:rPr lang="en-US" sz="2200" b="1" dirty="0"/>
              <a:t>elif</a:t>
            </a:r>
            <a:r>
              <a:rPr lang="en-US" sz="2200" dirty="0"/>
              <a:t> statements. If there is an </a:t>
            </a:r>
            <a:r>
              <a:rPr lang="en-US" sz="2200" b="1" dirty="0"/>
              <a:t>else</a:t>
            </a:r>
            <a:r>
              <a:rPr lang="en-US" sz="2200" dirty="0"/>
              <a:t> clause, it must be at the end, but there doesn’t have to be one.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44CFB-A2F1-434D-91F4-666A893A7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33" y="2739805"/>
            <a:ext cx="8101989" cy="2916716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E578F22-20B9-1E4A-A8B0-20C487288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86C5-3D85-E543-8F69-0D3B6F00E260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DB5F83B-687B-284A-A809-F318E3D6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1B5288-D481-DE43-8CC4-CB118D99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99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2774" y="381000"/>
            <a:ext cx="3946451" cy="1325563"/>
          </a:xfrm>
        </p:spPr>
        <p:txBody>
          <a:bodyPr/>
          <a:lstStyle/>
          <a:p>
            <a:r>
              <a:rPr lang="en-US" dirty="0"/>
              <a:t>Nested if,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447800"/>
            <a:ext cx="8534400" cy="5029200"/>
          </a:xfrm>
        </p:spPr>
        <p:txBody>
          <a:bodyPr>
            <a:noAutofit/>
          </a:bodyPr>
          <a:lstStyle/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Rectangle 3"/>
          <p:cNvSpPr/>
          <p:nvPr/>
        </p:nvSpPr>
        <p:spPr bwMode="auto">
          <a:xfrm>
            <a:off x="2112136" y="1447800"/>
            <a:ext cx="7379594" cy="44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if a &lt;= b: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       if a &lt;= c: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           …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       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            …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        if b &lt;= c) 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             …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        else: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ea typeface="ＭＳ Ｐゴシック" pitchFamily="32" charset="-128"/>
              </a:rPr>
              <a:t>             …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E7E0B-0CF1-C84B-8168-0C2E1C22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779C-BD4F-4944-BFFE-BD32AD8591BD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E2488-1D9B-6749-8091-25F30C45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B54C9-F7E2-E741-9A8B-85E46145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914400"/>
            <a:ext cx="8001000" cy="1828800"/>
          </a:xfrm>
        </p:spPr>
        <p:txBody>
          <a:bodyPr/>
          <a:lstStyle/>
          <a:p>
            <a:r>
              <a:rPr lang="en-US" dirty="0"/>
              <a:t>A special kind of nesting is the chain of if-else-if-else-… statements</a:t>
            </a:r>
          </a:p>
          <a:p>
            <a:r>
              <a:rPr lang="en-US" dirty="0"/>
              <a:t>Can be written elegantly using if-elif-..-else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6781800" y="2514601"/>
            <a:ext cx="3429000" cy="388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if cond1: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	s1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elif cond2: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s2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elif cond3: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s3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elif  …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else </a:t>
            </a:r>
            <a:r>
              <a:rPr lang="en-US" altLang="en-US" sz="2400" dirty="0" smtClean="0">
                <a:solidFill>
                  <a:srgbClr val="7030A0"/>
                </a:solidFill>
                <a:ea typeface="ＭＳ Ｐゴシック" pitchFamily="32" charset="-128"/>
              </a:rPr>
              <a:t>:</a:t>
            </a:r>
            <a:endParaRPr lang="en-US" altLang="en-US" sz="2400" dirty="0">
              <a:solidFill>
                <a:srgbClr val="7030A0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 last-block-of-</a:t>
            </a:r>
            <a:r>
              <a:rPr lang="en-US" altLang="en-US" sz="2400" dirty="0" err="1">
                <a:solidFill>
                  <a:srgbClr val="7030A0"/>
                </a:solidFill>
                <a:ea typeface="ＭＳ Ｐゴシック" pitchFamily="32" charset="-128"/>
              </a:rPr>
              <a:t>stmt</a:t>
            </a:r>
            <a:endParaRPr lang="en-US" altLang="en-US" sz="2400" dirty="0">
              <a:solidFill>
                <a:srgbClr val="7030A0"/>
              </a:solidFill>
              <a:ea typeface="ＭＳ Ｐゴシック" pitchFamily="32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133600" y="2548614"/>
            <a:ext cx="3886200" cy="3852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if cond1: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	s1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if cond2: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     s2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     if cond3: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          s3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ea typeface="ＭＳ Ｐゴシック" pitchFamily="32" charset="-128"/>
              </a:rPr>
              <a:t>          else: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FDA94B-CABB-B745-B843-F6E4DD75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CB3A-0DBA-1E44-B083-4902994E67F1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B2BDFA-9CFD-E64B-B2E7-2986129A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7EEE6-18EC-0D48-B89C-E7BE3B2D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037B-17A0-B64B-B31E-C1DE9713EB0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C203-4011-CD44-9533-DBBDC467558C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782</Words>
  <Application>Microsoft Office PowerPoint</Application>
  <PresentationFormat>Widescreen</PresentationFormat>
  <Paragraphs>217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Calibri</vt:lpstr>
      <vt:lpstr>Calibri Light</vt:lpstr>
      <vt:lpstr>Comic Sans MS</vt:lpstr>
      <vt:lpstr>Times New Roman</vt:lpstr>
      <vt:lpstr>Verdana</vt:lpstr>
      <vt:lpstr>Wingdings</vt:lpstr>
      <vt:lpstr>Office Theme</vt:lpstr>
      <vt:lpstr>Branch - CSE Python Programming</vt:lpstr>
      <vt:lpstr>Boolean Expressions (Contd.)</vt:lpstr>
      <vt:lpstr>Boolean Expressions (Contd.)</vt:lpstr>
      <vt:lpstr>Logical operators</vt:lpstr>
      <vt:lpstr>Conditional Execution (If)</vt:lpstr>
      <vt:lpstr>Conditional Execution (If)</vt:lpstr>
      <vt:lpstr>if-else statement</vt:lpstr>
      <vt:lpstr>Conditional Execution</vt:lpstr>
      <vt:lpstr>PowerPoint Presentation</vt:lpstr>
      <vt:lpstr>PowerPoint Presentation</vt:lpstr>
      <vt:lpstr>Alternative execution (If-Else)</vt:lpstr>
      <vt:lpstr>Chained conditionals (If-Else ladder)</vt:lpstr>
      <vt:lpstr>PowerPoint Presentation</vt:lpstr>
      <vt:lpstr>Chained conditionals (If-Else ladder)</vt:lpstr>
      <vt:lpstr>Nested if, if-else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9</cp:revision>
  <dcterms:created xsi:type="dcterms:W3CDTF">2021-12-21T17:28:28Z</dcterms:created>
  <dcterms:modified xsi:type="dcterms:W3CDTF">2025-01-15T10:52:56Z</dcterms:modified>
</cp:coreProperties>
</file>