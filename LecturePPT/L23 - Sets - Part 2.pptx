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 snapToObjects="1">
      <p:cViewPr varScale="1">
        <p:scale>
          <a:sx n="83" d="100"/>
          <a:sy n="83" d="100"/>
        </p:scale>
        <p:origin x="91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1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23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– Part 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Set Operations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Set Union</a:t>
            </a:r>
          </a:p>
          <a:p>
            <a:r>
              <a:rPr lang="en-IN" dirty="0"/>
              <a:t>Set Intersection</a:t>
            </a:r>
          </a:p>
          <a:p>
            <a:r>
              <a:rPr lang="en-IN" dirty="0"/>
              <a:t>Set Difference</a:t>
            </a:r>
          </a:p>
          <a:p>
            <a:r>
              <a:rPr lang="en-IN" dirty="0"/>
              <a:t>Set Symmetric Difference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65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Union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>Definition and Usage</a:t>
            </a:r>
          </a:p>
          <a:p>
            <a:pPr lvl="1"/>
            <a:r>
              <a:rPr lang="en-IN" dirty="0"/>
              <a:t>The union() method returns a set that contains all items from the original set, and all items from the specified set(s).</a:t>
            </a:r>
          </a:p>
          <a:p>
            <a:pPr lvl="1"/>
            <a:r>
              <a:rPr lang="en-IN" dirty="0"/>
              <a:t>You can specify as many sets you want, separated by commas.</a:t>
            </a:r>
          </a:p>
          <a:p>
            <a:pPr lvl="1"/>
            <a:r>
              <a:rPr lang="en-IN" dirty="0"/>
              <a:t>It does not have to be a set, it can be any iterable object.</a:t>
            </a:r>
          </a:p>
          <a:p>
            <a:pPr lvl="1"/>
            <a:r>
              <a:rPr lang="en-IN" dirty="0"/>
              <a:t>If an item is present in more than one set, the result will contain only one appearance of this item.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9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Union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170642"/>
          </a:xfrm>
        </p:spPr>
        <p:txBody>
          <a:bodyPr/>
          <a:lstStyle/>
          <a:p>
            <a:r>
              <a:rPr lang="en-US" dirty="0"/>
              <a:t>Syntax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Parameter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AF4E7-FBBC-4CE5-8590-7D58C4B3C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27" y="2351057"/>
            <a:ext cx="4824306" cy="341343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0310CFA-6F4E-461B-87DD-2B3D0F2083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4043892"/>
          <a:ext cx="640926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519">
                  <a:extLst>
                    <a:ext uri="{9D8B030D-6E8A-4147-A177-3AD203B41FA5}">
                      <a16:colId xmlns:a16="http://schemas.microsoft.com/office/drawing/2014/main" val="272741864"/>
                    </a:ext>
                  </a:extLst>
                </a:gridCol>
                <a:gridCol w="4666748">
                  <a:extLst>
                    <a:ext uri="{9D8B030D-6E8A-4147-A177-3AD203B41FA5}">
                      <a16:colId xmlns:a16="http://schemas.microsoft.com/office/drawing/2014/main" val="383516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67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Required. The iterable to unify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2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Optional. The other iterable to unify with. </a:t>
                      </a:r>
                    </a:p>
                    <a:p>
                      <a:r>
                        <a:rPr lang="en-IN" dirty="0"/>
                        <a:t>You can compare as many iterables as you like.</a:t>
                      </a:r>
                    </a:p>
                    <a:p>
                      <a:r>
                        <a:rPr lang="en-IN" dirty="0"/>
                        <a:t>Separate each iterable with a comma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0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91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Union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BA22907-C8A0-41EF-988A-6333E075D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6059"/>
            <a:ext cx="10515600" cy="2537460"/>
          </a:xfrm>
        </p:spPr>
      </p:pic>
    </p:spTree>
    <p:extLst>
      <p:ext uri="{BB962C8B-B14F-4D97-AF65-F5344CB8AC3E}">
        <p14:creationId xmlns:p14="http://schemas.microsoft.com/office/powerpoint/2010/main" val="69885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Union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F933AE5-461F-49C2-95CE-B4DEEB772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0892"/>
            <a:ext cx="7954485" cy="3696216"/>
          </a:xfrm>
        </p:spPr>
      </p:pic>
    </p:spTree>
    <p:extLst>
      <p:ext uri="{BB962C8B-B14F-4D97-AF65-F5344CB8AC3E}">
        <p14:creationId xmlns:p14="http://schemas.microsoft.com/office/powerpoint/2010/main" val="393616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Union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9D9CD-3096-423A-80D2-27946B13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646642"/>
          </a:xfrm>
        </p:spPr>
        <p:txBody>
          <a:bodyPr/>
          <a:lstStyle/>
          <a:p>
            <a:r>
              <a:rPr lang="en-IN" dirty="0"/>
              <a:t>The | operator can also be used to perform the union operation.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8C7326-C61E-454B-9EE6-CAE19E9D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85" y="2238706"/>
            <a:ext cx="7097115" cy="2848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8749D7-7078-434E-BE8C-0D621F75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85" y="5608867"/>
            <a:ext cx="5944430" cy="714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4FD881-DA29-423F-A918-3BF2BA8E5C36}"/>
              </a:ext>
            </a:extLst>
          </p:cNvPr>
          <p:cNvSpPr txBox="1"/>
          <p:nvPr/>
        </p:nvSpPr>
        <p:spPr>
          <a:xfrm>
            <a:off x="838200" y="5052639"/>
            <a:ext cx="2048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48526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>Definition and Usage</a:t>
            </a:r>
          </a:p>
          <a:p>
            <a:pPr lvl="1"/>
            <a:r>
              <a:rPr lang="en-IN" dirty="0"/>
              <a:t>The intersection() method returns a set that contains the similarity between two or more sets.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Meaning: The returned set contains only items that exist in both sets, or in all sets if the comparison is done with more than two sets.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6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170642"/>
          </a:xfrm>
        </p:spPr>
        <p:txBody>
          <a:bodyPr/>
          <a:lstStyle/>
          <a:p>
            <a:r>
              <a:rPr lang="en-US" dirty="0"/>
              <a:t>Syntax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Parameter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9</a:t>
            </a:fld>
            <a:endParaRPr lang="en-IN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0310CFA-6F4E-461B-87DD-2B3D0F2083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4043892"/>
          <a:ext cx="686646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820">
                  <a:extLst>
                    <a:ext uri="{9D8B030D-6E8A-4147-A177-3AD203B41FA5}">
                      <a16:colId xmlns:a16="http://schemas.microsoft.com/office/drawing/2014/main" val="272741864"/>
                    </a:ext>
                  </a:extLst>
                </a:gridCol>
                <a:gridCol w="4999647">
                  <a:extLst>
                    <a:ext uri="{9D8B030D-6E8A-4147-A177-3AD203B41FA5}">
                      <a16:colId xmlns:a16="http://schemas.microsoft.com/office/drawing/2014/main" val="383516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67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Required. The set to search for equal items 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2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Optional. The other set to search for equal items in.</a:t>
                      </a:r>
                    </a:p>
                    <a:p>
                      <a:r>
                        <a:rPr lang="en-IN" dirty="0"/>
                        <a:t>You can compare as many sets you like.</a:t>
                      </a:r>
                    </a:p>
                    <a:p>
                      <a:r>
                        <a:rPr lang="en-IN" dirty="0"/>
                        <a:t>Separate the sets with a comma.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0887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BABF12C-2361-4B69-82A0-3A90A8DC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755" y="2347066"/>
            <a:ext cx="7905400" cy="4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63190E-10D0-4BE8-9C79-AA980AB28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832" y="1690688"/>
            <a:ext cx="7559032" cy="3423179"/>
          </a:xfrm>
        </p:spPr>
      </p:pic>
    </p:spTree>
    <p:extLst>
      <p:ext uri="{BB962C8B-B14F-4D97-AF65-F5344CB8AC3E}">
        <p14:creationId xmlns:p14="http://schemas.microsoft.com/office/powerpoint/2010/main" val="311014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B26FBCF-8444-4041-B394-0FB0A2FBB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481838" cy="2762779"/>
          </a:xfrm>
        </p:spPr>
      </p:pic>
    </p:spTree>
    <p:extLst>
      <p:ext uri="{BB962C8B-B14F-4D97-AF65-F5344CB8AC3E}">
        <p14:creationId xmlns:p14="http://schemas.microsoft.com/office/powerpoint/2010/main" val="61447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9D9CD-3096-423A-80D2-27946B13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646642"/>
          </a:xfrm>
        </p:spPr>
        <p:txBody>
          <a:bodyPr/>
          <a:lstStyle/>
          <a:p>
            <a:r>
              <a:rPr lang="en-IN" dirty="0"/>
              <a:t>The &amp; operator can also be used to find the intersection of sets.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FD881-DA29-423F-A918-3BF2BA8E5C36}"/>
              </a:ext>
            </a:extLst>
          </p:cNvPr>
          <p:cNvSpPr txBox="1"/>
          <p:nvPr/>
        </p:nvSpPr>
        <p:spPr>
          <a:xfrm>
            <a:off x="838200" y="4758251"/>
            <a:ext cx="2048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B20FD-8B9D-4481-BCB5-9CED5824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1626"/>
            <a:ext cx="8544601" cy="24089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75E35C-519F-4908-A276-9C2496F17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98232"/>
            <a:ext cx="5348577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1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9D9CD-3096-423A-80D2-27946B13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646642"/>
          </a:xfrm>
        </p:spPr>
        <p:txBody>
          <a:bodyPr/>
          <a:lstStyle/>
          <a:p>
            <a:r>
              <a:rPr lang="en-IN" dirty="0"/>
              <a:t>It returns an empty set if no common elements are found.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FD881-DA29-423F-A918-3BF2BA8E5C36}"/>
              </a:ext>
            </a:extLst>
          </p:cNvPr>
          <p:cNvSpPr txBox="1"/>
          <p:nvPr/>
        </p:nvSpPr>
        <p:spPr>
          <a:xfrm>
            <a:off x="838200" y="4758251"/>
            <a:ext cx="2048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8EA0A0-315D-45A2-8075-298F2D1C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2375"/>
            <a:ext cx="7726960" cy="25358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CF00A9-6CA3-4B66-B5F9-CE0EC573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12162"/>
            <a:ext cx="5177008" cy="83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0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Difference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864908"/>
          </a:xfrm>
        </p:spPr>
        <p:txBody>
          <a:bodyPr/>
          <a:lstStyle/>
          <a:p>
            <a:r>
              <a:rPr lang="en-US" dirty="0"/>
              <a:t>Definition and Usage</a:t>
            </a:r>
          </a:p>
          <a:p>
            <a:pPr lvl="1"/>
            <a:r>
              <a:rPr lang="en-IN" dirty="0"/>
              <a:t>The difference() method returns a set that contains the difference between two sets.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Meaning: The returned set contains items that exist only in the first set, and not in both sets.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000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Difference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170642"/>
          </a:xfrm>
        </p:spPr>
        <p:txBody>
          <a:bodyPr/>
          <a:lstStyle/>
          <a:p>
            <a:r>
              <a:rPr lang="en-US" dirty="0"/>
              <a:t>Syntax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Parameter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15</a:t>
            </a:fld>
            <a:endParaRPr lang="en-IN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0310CFA-6F4E-461B-87DD-2B3D0F2083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4043892"/>
          <a:ext cx="68664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820">
                  <a:extLst>
                    <a:ext uri="{9D8B030D-6E8A-4147-A177-3AD203B41FA5}">
                      <a16:colId xmlns:a16="http://schemas.microsoft.com/office/drawing/2014/main" val="272741864"/>
                    </a:ext>
                  </a:extLst>
                </a:gridCol>
                <a:gridCol w="4999647">
                  <a:extLst>
                    <a:ext uri="{9D8B030D-6E8A-4147-A177-3AD203B41FA5}">
                      <a16:colId xmlns:a16="http://schemas.microsoft.com/office/drawing/2014/main" val="383516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67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Required. The set to check for differences 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22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815BA9E-1617-482B-8B7F-29F8B961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47" y="2457930"/>
            <a:ext cx="5128923" cy="4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3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Difference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903CC2-1B8B-476E-902B-B67724D27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565725"/>
            <a:ext cx="8572195" cy="2803075"/>
          </a:xfrm>
        </p:spPr>
      </p:pic>
    </p:spTree>
    <p:extLst>
      <p:ext uri="{BB962C8B-B14F-4D97-AF65-F5344CB8AC3E}">
        <p14:creationId xmlns:p14="http://schemas.microsoft.com/office/powerpoint/2010/main" val="3185480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Intersection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9D9CD-3096-423A-80D2-27946B13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646642"/>
          </a:xfrm>
        </p:spPr>
        <p:txBody>
          <a:bodyPr/>
          <a:lstStyle/>
          <a:p>
            <a:r>
              <a:rPr lang="en-IN" dirty="0"/>
              <a:t>The ‘-’ operator can also be used to find the intersection of sets.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FD881-DA29-423F-A918-3BF2BA8E5C36}"/>
              </a:ext>
            </a:extLst>
          </p:cNvPr>
          <p:cNvSpPr txBox="1"/>
          <p:nvPr/>
        </p:nvSpPr>
        <p:spPr>
          <a:xfrm>
            <a:off x="838200" y="5448098"/>
            <a:ext cx="1337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83D1D-6D60-4A2E-9B8E-A7CF82E1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44" y="2148454"/>
            <a:ext cx="6647989" cy="3279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E62C4-CFC1-4E0A-BBF6-DE74B585D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35" y="5570212"/>
            <a:ext cx="6985000" cy="8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64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Symmetric Difference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864908"/>
          </a:xfrm>
        </p:spPr>
        <p:txBody>
          <a:bodyPr/>
          <a:lstStyle/>
          <a:p>
            <a:r>
              <a:rPr lang="en-US" dirty="0"/>
              <a:t>Definition and Usage</a:t>
            </a:r>
          </a:p>
          <a:p>
            <a:pPr lvl="1"/>
            <a:r>
              <a:rPr lang="en-IN" dirty="0"/>
              <a:t>The </a:t>
            </a:r>
            <a:r>
              <a:rPr lang="en-IN" dirty="0" err="1"/>
              <a:t>symmetric_difference</a:t>
            </a:r>
            <a:r>
              <a:rPr lang="en-IN" dirty="0"/>
              <a:t>() method returns a set that contains all items from both set, but not the items that are present in both sets.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Meaning: The returned set contains a mix of items that are not present in both sets.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831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Symmetric Difference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2170642"/>
          </a:xfrm>
        </p:spPr>
        <p:txBody>
          <a:bodyPr/>
          <a:lstStyle/>
          <a:p>
            <a:r>
              <a:rPr lang="en-US" dirty="0"/>
              <a:t>Syntax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Parameter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19</a:t>
            </a:fld>
            <a:endParaRPr lang="en-IN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0310CFA-6F4E-461B-87DD-2B3D0F2083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4043892"/>
          <a:ext cx="68664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820">
                  <a:extLst>
                    <a:ext uri="{9D8B030D-6E8A-4147-A177-3AD203B41FA5}">
                      <a16:colId xmlns:a16="http://schemas.microsoft.com/office/drawing/2014/main" val="272741864"/>
                    </a:ext>
                  </a:extLst>
                </a:gridCol>
                <a:gridCol w="4999647">
                  <a:extLst>
                    <a:ext uri="{9D8B030D-6E8A-4147-A177-3AD203B41FA5}">
                      <a16:colId xmlns:a16="http://schemas.microsoft.com/office/drawing/2014/main" val="3835168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67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Required. The set to check for matches 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223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19559FC-C39A-4BF9-BB57-8F1242C2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9" y="2473114"/>
            <a:ext cx="6837928" cy="46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77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Symmetric Difference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364852A-5F6B-4687-8F33-C51A15148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840434" cy="2486372"/>
          </a:xfrm>
        </p:spPr>
      </p:pic>
    </p:spTree>
    <p:extLst>
      <p:ext uri="{BB962C8B-B14F-4D97-AF65-F5344CB8AC3E}">
        <p14:creationId xmlns:p14="http://schemas.microsoft.com/office/powerpoint/2010/main" val="3703047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Symmetric Difference - Examples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9D9CD-3096-423A-80D2-27946B13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211232" cy="646642"/>
          </a:xfrm>
        </p:spPr>
        <p:txBody>
          <a:bodyPr>
            <a:normAutofit/>
          </a:bodyPr>
          <a:lstStyle/>
          <a:p>
            <a:r>
              <a:rPr lang="en-IN" dirty="0"/>
              <a:t>The ^ operator can also be used to find the symmetric difference of sets.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FD881-DA29-423F-A918-3BF2BA8E5C36}"/>
              </a:ext>
            </a:extLst>
          </p:cNvPr>
          <p:cNvSpPr txBox="1"/>
          <p:nvPr/>
        </p:nvSpPr>
        <p:spPr>
          <a:xfrm>
            <a:off x="838200" y="4085230"/>
            <a:ext cx="1337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80F7C-21F0-4496-84D3-86E532E1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00" y="2334489"/>
            <a:ext cx="5334999" cy="1577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261F9C-31BE-49EF-9583-B948BA4AE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00" y="4606054"/>
            <a:ext cx="5334999" cy="3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49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14D1-AD14-4254-996A-39EA814E83DF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81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595</Words>
  <Application>Microsoft Office PowerPoint</Application>
  <PresentationFormat>Widescreen</PresentationFormat>
  <Paragraphs>163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Python Set Operations</vt:lpstr>
      <vt:lpstr>Set Union</vt:lpstr>
      <vt:lpstr>Set Union</vt:lpstr>
      <vt:lpstr>Set Union - Examples</vt:lpstr>
      <vt:lpstr>Set Union - Examples</vt:lpstr>
      <vt:lpstr>Set Union - Examples</vt:lpstr>
      <vt:lpstr>Set Intersection</vt:lpstr>
      <vt:lpstr>Set Intersection</vt:lpstr>
      <vt:lpstr>Set Intersection - Examples</vt:lpstr>
      <vt:lpstr>Set Intersection - Examples</vt:lpstr>
      <vt:lpstr>Set Intersection - Examples</vt:lpstr>
      <vt:lpstr>Set Intersection - Examples</vt:lpstr>
      <vt:lpstr>Set Difference</vt:lpstr>
      <vt:lpstr>Set Difference</vt:lpstr>
      <vt:lpstr>Set Difference - Examples</vt:lpstr>
      <vt:lpstr>Set Intersection - Examples</vt:lpstr>
      <vt:lpstr>Set Symmetric Difference</vt:lpstr>
      <vt:lpstr>Set Symmetric Difference</vt:lpstr>
      <vt:lpstr>Set Symmetric Difference - Examples</vt:lpstr>
      <vt:lpstr>Set Symmetric Difference -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2025-01-28T16:53:03Z</dcterms:modified>
</cp:coreProperties>
</file>