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88" r:id="rId2"/>
    <p:sldId id="389" r:id="rId3"/>
    <p:sldId id="390" r:id="rId4"/>
    <p:sldId id="392" r:id="rId5"/>
    <p:sldId id="391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BD54C3-8144-9E4F-9A23-5A08D92DAE2B}" v="81" dt="2021-12-21T18:59:26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978"/>
    <p:restoredTop sz="96327"/>
  </p:normalViewPr>
  <p:slideViewPr>
    <p:cSldViewPr snapToGrid="0" snapToObjects="1">
      <p:cViewPr varScale="1">
        <p:scale>
          <a:sx n="83" d="100"/>
          <a:sy n="83" d="100"/>
        </p:scale>
        <p:origin x="91" y="14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D34EA-CA4A-9D4F-95C2-7EB2B0B7D27B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DAFC3-C917-6040-A2DA-0C796181EC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66599292-8E7E-4C2D-BCA0-55B1DC75DF2A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399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8582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66599292-8E7E-4C2D-BCA0-55B1DC75DF2A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399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6777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0EDA7CD0-DB43-4A0F-BFDF-26F295F0B516}" type="slidenum">
              <a:rPr lang="en-US" altLang="en-US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5113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A552-EA9C-C941-87DC-58297CE8A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016A1-FD9A-9C4A-AC35-41710872D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5654D-CC5D-144B-B54D-F6BC4B8E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FF0C2-4DD7-C64B-A470-1F3C60A3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2A1E6-FB29-BA43-9F2B-B0173468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3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8779-AFC5-DB42-AE0F-679B91E0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BAF9-67F4-AB41-A579-8977753EF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9C95E-0878-AF47-B06C-90A72F7E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1957-891E-4C45-A08A-B7B98977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B8727-3497-644C-8C10-91AB042B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3BCC-98AB-7045-893F-764BBF62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677DF-0759-A447-9F0B-754630EE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4DD7B-6F33-E340-B978-CFB9A403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D106-FB97-AC41-8E99-56304B1C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5340A-86E7-1B4F-A056-39E35444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6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29E9-5402-854B-88F1-BDD1AB8D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70C0-032D-C443-BC5F-350E9480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2FB81-8A07-A34A-A41B-755775B1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2ECC6-D50A-6441-BBDC-E96AF773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E6376-9594-554D-AC3B-E43C3AA9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7E0A6-3B00-1B41-ABA3-071463B6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7136-C463-6642-A1B7-42BF71E7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1D655-56A7-DB4D-B8D4-070253172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98C97-E107-324C-83A2-2B1236F72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342E0-F53A-D147-A8D7-E893C9061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247A1-E5BC-9045-AB0C-67FCCA0E9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D4BE4-A76F-DB46-AA4A-5CC97291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88870-3814-B44A-ADC0-78E9E795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95C93-10B7-F646-BA68-6446B6C8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3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88E3-1ECE-734D-9814-FF1FF59C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BC052-4B4A-F147-8F15-D00D2D26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04723-2403-AB4A-BDF1-C16DCB42E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93540-D1A5-1F43-8257-9DA84CE1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1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9E168-26C7-FB41-99A4-8CA7734E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3F4B2-C17A-754F-9C54-D36AAE37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A3279-7DB4-F04B-A197-568C659C3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4BCB-4159-2443-BFA3-411610C23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2039-7E5D-2445-8550-DD05E9B74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93630-872C-0A4F-9549-5F6904C0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5F66B-7FA2-134A-A615-FF114DB8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92AF-1A3D-CE40-8858-616EC31F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D18B2-8D7A-8542-9521-8456FE56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B9EA-EA8B-2445-893C-2FB7C0C08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0143D-9506-AA40-9972-C8C940B3A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0B2B3-6C24-CA45-8713-CBCF7DAF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C6409-4C3E-7E4B-AAA3-FC2A348E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7C8E1-D706-6247-BF0C-929BA655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F7D07-8F12-C84D-8CE6-065CBE4A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6F6F-0B3A-174D-ADA0-AA05CF88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2734E-35DB-1644-8FDA-CEDBCBE2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D087-7CF0-934D-A4AA-4CBCEFC7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0A09-7A27-AF45-A2EB-D6337537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B7BC-FF12-B54A-A805-9393D271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23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0799B-65F2-2A46-AF03-89F928FF1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D9EC8-BF3F-DA43-BA8B-B195C8744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DB90-97E6-1F49-9582-D2FC6D33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F9479-51FA-3343-B8F5-9B32069F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17A9-349A-F842-BBA6-BC26CCF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6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1DB27-F513-8845-8AB1-50232FC0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266DB-195D-C048-8694-0DA449658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D879E-907A-B34B-B383-845215B55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AE23-D494-414B-9534-C815686CF39A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B59EA-96EA-C04B-8183-A467A71EC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BD1E-3D55-9A46-A611-D2149273B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4204-2E76-1641-8D5C-FEECC00825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97C85F-4E22-424E-8ABA-7692FB4188A4}"/>
              </a:ext>
            </a:extLst>
          </p:cNvPr>
          <p:cNvSpPr/>
          <p:nvPr/>
        </p:nvSpPr>
        <p:spPr>
          <a:xfrm>
            <a:off x="5881685" y="4445348"/>
            <a:ext cx="4286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IN" sz="1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17F5E-7BEC-2A4A-802D-803E2C0108CC}"/>
              </a:ext>
            </a:extLst>
          </p:cNvPr>
          <p:cNvSpPr/>
          <p:nvPr/>
        </p:nvSpPr>
        <p:spPr>
          <a:xfrm>
            <a:off x="3400615" y="5193303"/>
            <a:ext cx="53728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err="1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3200" b="1" dirty="0" smtClean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Smita Tiwari</a:t>
            </a:r>
            <a:endParaRPr lang="en-IN" sz="3200" b="1" dirty="0" smtClean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ctr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 &amp; Technology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A6791E-EF9A-A04B-A2E4-F233C901C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6921" y="2478207"/>
            <a:ext cx="5453798" cy="714380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- CSE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  <a:endParaRPr lang="en-US" sz="3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ownload Sharda University Logo PNG and Vector (PDF, SVG, Ai, EPS) F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155" y="93018"/>
            <a:ext cx="4353059" cy="238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A0BEB44-0E1D-AA4B-8233-0A526118C7CE}"/>
              </a:ext>
            </a:extLst>
          </p:cNvPr>
          <p:cNvSpPr/>
          <p:nvPr/>
        </p:nvSpPr>
        <p:spPr>
          <a:xfrm>
            <a:off x="2265650" y="3429000"/>
            <a:ext cx="7756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– 10</a:t>
            </a:r>
            <a: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Loops and Iterations – Part 1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E258-7787-A54A-9F03-3932A049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Loops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8CBB1-B100-0D40-8092-00826B60A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provides following types of loops to handle loop requirements.</a:t>
            </a:r>
          </a:p>
          <a:p>
            <a:pPr lvl="1"/>
            <a:r>
              <a:rPr lang="en-US" dirty="0"/>
              <a:t>While Loops</a:t>
            </a:r>
          </a:p>
          <a:p>
            <a:pPr lvl="1"/>
            <a:r>
              <a:rPr lang="en-US" dirty="0"/>
              <a:t>For Loops</a:t>
            </a:r>
          </a:p>
          <a:p>
            <a:r>
              <a:rPr lang="en-US" dirty="0"/>
              <a:t>In python, while loop is used to execute a block of statements repeatedly until a given a condition is satisfied. </a:t>
            </a:r>
            <a:r>
              <a:rPr lang="en-US" dirty="0" smtClean="0"/>
              <a:t>And </a:t>
            </a:r>
            <a:r>
              <a:rPr lang="en-US" dirty="0"/>
              <a:t>when the condition becomes false, the line immediately after the loop in program is executed.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B840A-3945-0649-A45B-0FEC0A6FD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6BB5E-CACB-5B42-B0BC-B567914FF6CA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77A5E-4AAF-8946-8CF1-03A832375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8FC9B-8D22-B540-9C9E-8F3566939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46C3-F161-974A-9FDA-27CA5BBB23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11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71550" y="48934"/>
            <a:ext cx="7772400" cy="1014413"/>
          </a:xfrm>
        </p:spPr>
        <p:txBody>
          <a:bodyPr>
            <a:normAutofit/>
          </a:bodyPr>
          <a:lstStyle/>
          <a:p>
            <a:r>
              <a:rPr lang="en-US" altLang="en-US" sz="5400" b="1" dirty="0"/>
              <a:t>While Loop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1638300" y="3967843"/>
            <a:ext cx="8915400" cy="2514600"/>
          </a:xfrm>
        </p:spPr>
        <p:txBody>
          <a:bodyPr>
            <a:normAutofit/>
          </a:bodyPr>
          <a:lstStyle/>
          <a:p>
            <a:pPr marL="457200" indent="-457200">
              <a:buFont typeface="Arial Narrow" pitchFamily="34" charset="0"/>
              <a:buAutoNum type="arabicPeriod"/>
            </a:pPr>
            <a:r>
              <a:rPr lang="en-US" altLang="en-US" dirty="0"/>
              <a:t>Evaluate expression</a:t>
            </a:r>
          </a:p>
          <a:p>
            <a:pPr marL="457200" indent="-457200">
              <a:buFont typeface="Arial Narrow" pitchFamily="34" charset="0"/>
              <a:buAutoNum type="arabicPeriod"/>
            </a:pPr>
            <a:r>
              <a:rPr lang="en-US" altLang="en-US" dirty="0"/>
              <a:t>If TRUE then 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altLang="en-US" dirty="0"/>
              <a:t>execute statement1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altLang="en-US" dirty="0" err="1"/>
              <a:t>goto</a:t>
            </a:r>
            <a:r>
              <a:rPr lang="en-US" altLang="en-US" dirty="0"/>
              <a:t> step </a:t>
            </a:r>
            <a:r>
              <a:rPr lang="en-US" altLang="en-US" dirty="0">
                <a:solidFill>
                  <a:srgbClr val="C00000"/>
                </a:solidFill>
              </a:rPr>
              <a:t>1.</a:t>
            </a:r>
          </a:p>
          <a:p>
            <a:pPr marL="457200" indent="-457200">
              <a:buFont typeface="Arial Narrow" pitchFamily="34" charset="0"/>
              <a:buAutoNum type="arabicPeriod"/>
            </a:pPr>
            <a:r>
              <a:rPr lang="en-US" altLang="en-US" dirty="0"/>
              <a:t>If FALSE then execute statement2.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1943100" y="1453243"/>
            <a:ext cx="3657600" cy="1447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en-US" sz="2800" b="1" dirty="0">
                <a:ea typeface="ＭＳ Ｐゴシック" pitchFamily="34" charset="-128"/>
              </a:rPr>
              <a:t>while </a:t>
            </a:r>
            <a:r>
              <a:rPr lang="en-US" sz="2800" dirty="0">
                <a:ea typeface="ＭＳ Ｐゴシック" pitchFamily="34" charset="-128"/>
              </a:rPr>
              <a:t>(expression):</a:t>
            </a:r>
          </a:p>
          <a:p>
            <a:pPr eaLnBrk="0" hangingPunct="0">
              <a:defRPr/>
            </a:pPr>
            <a:r>
              <a:rPr lang="en-US" sz="2800" dirty="0">
                <a:ea typeface="ＭＳ Ｐゴシック" pitchFamily="34" charset="-128"/>
              </a:rPr>
              <a:t>	S1</a:t>
            </a:r>
          </a:p>
          <a:p>
            <a:pPr eaLnBrk="0" hangingPunct="0">
              <a:defRPr/>
            </a:pPr>
            <a:r>
              <a:rPr lang="en-US" sz="2800" dirty="0">
                <a:ea typeface="ＭＳ Ｐゴシック" pitchFamily="34" charset="-128"/>
              </a:rPr>
              <a:t>S2</a:t>
            </a:r>
          </a:p>
        </p:txBody>
      </p:sp>
      <p:sp>
        <p:nvSpPr>
          <p:cNvPr id="6" name="Flowchart: Decision 5"/>
          <p:cNvSpPr/>
          <p:nvPr/>
        </p:nvSpPr>
        <p:spPr bwMode="auto">
          <a:xfrm>
            <a:off x="6484938" y="1781856"/>
            <a:ext cx="2855912" cy="1276350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2000" dirty="0"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7745414" y="3058207"/>
            <a:ext cx="369887" cy="528637"/>
          </a:xfrm>
          <a:prstGeom prst="downArrow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2400">
              <a:ea typeface="ＭＳ Ｐゴシック" pitchFamily="34" charset="-128"/>
            </a:endParaRPr>
          </a:p>
        </p:txBody>
      </p:sp>
      <p:sp>
        <p:nvSpPr>
          <p:cNvPr id="5127" name="TextBox 7"/>
          <p:cNvSpPr txBox="1">
            <a:spLocks noChangeArrowheads="1"/>
          </p:cNvSpPr>
          <p:nvPr/>
        </p:nvSpPr>
        <p:spPr bwMode="auto">
          <a:xfrm>
            <a:off x="9004300" y="1973943"/>
            <a:ext cx="9285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b="1" dirty="0"/>
              <a:t>FALSE</a:t>
            </a:r>
          </a:p>
        </p:txBody>
      </p:sp>
      <p:sp>
        <p:nvSpPr>
          <p:cNvPr id="9" name="Bent-Up Arrow 8"/>
          <p:cNvSpPr/>
          <p:nvPr/>
        </p:nvSpPr>
        <p:spPr bwMode="auto">
          <a:xfrm>
            <a:off x="5981701" y="1453244"/>
            <a:ext cx="838200" cy="2552305"/>
          </a:xfrm>
          <a:prstGeom prst="bentUpArrow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10800000" rev="0"/>
            </a:camera>
            <a:lightRig rig="threePt" dir="t"/>
          </a:scene3d>
        </p:spPr>
        <p:txBody>
          <a:bodyPr/>
          <a:lstStyle/>
          <a:p>
            <a:pPr eaLnBrk="0" hangingPunct="0">
              <a:defRPr/>
            </a:pPr>
            <a:endParaRPr lang="en-US" sz="2400">
              <a:ea typeface="ＭＳ Ｐゴシック" pitchFamily="34" charset="-128"/>
            </a:endParaRPr>
          </a:p>
        </p:txBody>
      </p:sp>
      <p:sp>
        <p:nvSpPr>
          <p:cNvPr id="10" name="Bent-Up Arrow 9"/>
          <p:cNvSpPr/>
          <p:nvPr/>
        </p:nvSpPr>
        <p:spPr bwMode="auto">
          <a:xfrm>
            <a:off x="6134100" y="1300845"/>
            <a:ext cx="1981201" cy="609599"/>
          </a:xfrm>
          <a:prstGeom prst="bentUpArrow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10800000" lon="0" rev="0"/>
            </a:camera>
            <a:lightRig rig="threePt" dir="t"/>
          </a:scene3d>
        </p:spPr>
        <p:txBody>
          <a:bodyPr/>
          <a:lstStyle/>
          <a:p>
            <a:pPr eaLnBrk="0" hangingPunct="0">
              <a:defRPr/>
            </a:pPr>
            <a:endParaRPr lang="en-US" sz="2400">
              <a:ea typeface="ＭＳ Ｐゴシック" pitchFamily="34" charset="-128"/>
            </a:endParaRPr>
          </a:p>
        </p:txBody>
      </p:sp>
      <p:sp>
        <p:nvSpPr>
          <p:cNvPr id="5130" name="TextBox 10"/>
          <p:cNvSpPr txBox="1">
            <a:spLocks noChangeArrowheads="1"/>
          </p:cNvSpPr>
          <p:nvPr/>
        </p:nvSpPr>
        <p:spPr bwMode="auto">
          <a:xfrm>
            <a:off x="6905626" y="3058206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b="1" dirty="0"/>
              <a:t>TRUE</a:t>
            </a:r>
          </a:p>
        </p:txBody>
      </p:sp>
      <p:sp>
        <p:nvSpPr>
          <p:cNvPr id="12" name="Rounded Rectangle 11"/>
          <p:cNvSpPr/>
          <p:nvPr/>
        </p:nvSpPr>
        <p:spPr bwMode="auto">
          <a:xfrm>
            <a:off x="6743700" y="3586843"/>
            <a:ext cx="1828800" cy="76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en-US" sz="2400" dirty="0">
                <a:ea typeface="ＭＳ Ｐゴシック" pitchFamily="34" charset="-128"/>
              </a:rPr>
              <a:t>S1</a:t>
            </a:r>
          </a:p>
        </p:txBody>
      </p:sp>
      <p:sp>
        <p:nvSpPr>
          <p:cNvPr id="13" name="Bent-Up Arrow 12"/>
          <p:cNvSpPr/>
          <p:nvPr/>
        </p:nvSpPr>
        <p:spPr bwMode="auto">
          <a:xfrm>
            <a:off x="9256900" y="2292761"/>
            <a:ext cx="687201" cy="1370282"/>
          </a:xfrm>
          <a:prstGeom prst="bentUpArrow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11400000" lon="0" rev="0"/>
            </a:camera>
            <a:lightRig rig="threePt" dir="t"/>
          </a:scene3d>
        </p:spPr>
        <p:txBody>
          <a:bodyPr/>
          <a:lstStyle/>
          <a:p>
            <a:pPr eaLnBrk="0" hangingPunct="0">
              <a:defRPr/>
            </a:pPr>
            <a:endParaRPr lang="en-US" sz="2400">
              <a:ea typeface="ＭＳ Ｐゴシック" pitchFamily="34" charset="-128"/>
            </a:endParaRPr>
          </a:p>
        </p:txBody>
      </p:sp>
      <p:sp>
        <p:nvSpPr>
          <p:cNvPr id="5133" name="TextBox 13"/>
          <p:cNvSpPr txBox="1">
            <a:spLocks noChangeArrowheads="1"/>
          </p:cNvSpPr>
          <p:nvPr/>
        </p:nvSpPr>
        <p:spPr bwMode="auto">
          <a:xfrm>
            <a:off x="7223310" y="2229531"/>
            <a:ext cx="1425390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dirty="0"/>
              <a:t>expression</a:t>
            </a:r>
          </a:p>
        </p:txBody>
      </p:sp>
      <p:sp>
        <p:nvSpPr>
          <p:cNvPr id="25" name="Rounded Rectangle 24"/>
          <p:cNvSpPr/>
          <p:nvPr/>
        </p:nvSpPr>
        <p:spPr bwMode="auto">
          <a:xfrm>
            <a:off x="8705850" y="3663043"/>
            <a:ext cx="1847850" cy="685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en-US" sz="2400" dirty="0">
                <a:ea typeface="ＭＳ Ｐゴシック" pitchFamily="34" charset="-128"/>
              </a:rPr>
              <a:t>S2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FD72C4-FE35-BE42-9761-35538DFF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F0040-92EB-0F4D-890F-0AAB750EE7A7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539BE9-7CF7-6644-9848-7DA759F4A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AA633E-98FF-6F4C-B122-E3D0027E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46C3-F161-974A-9FDA-27CA5BBB23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01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  <p:bldP spid="6" grpId="0" bldLvl="0" animBg="1"/>
      <p:bldP spid="7" grpId="0" bldLvl="0" animBg="1"/>
      <p:bldP spid="5127" grpId="0"/>
      <p:bldP spid="9" grpId="0" bldLvl="0" animBg="1"/>
      <p:bldP spid="10" grpId="0" bldLvl="0" animBg="1"/>
      <p:bldP spid="5130" grpId="0"/>
      <p:bldP spid="12" grpId="0" bldLvl="0" animBg="1"/>
      <p:bldP spid="13" grpId="0" bldLvl="0" animBg="1"/>
      <p:bldP spid="5133" grpId="0" bldLvl="0" animBg="1"/>
      <p:bldP spid="2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76200"/>
            <a:ext cx="7772400" cy="838200"/>
          </a:xfrm>
        </p:spPr>
        <p:txBody>
          <a:bodyPr/>
          <a:lstStyle/>
          <a:p>
            <a:r>
              <a:rPr lang="en-US" dirty="0"/>
              <a:t>Program…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1677036" y="1143000"/>
            <a:ext cx="9468042" cy="4495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3200" dirty="0">
                <a:latin typeface="Verdana" pitchFamily="34" charset="0"/>
              </a:rPr>
              <a:t>n = int(input('Enter a number: '))</a:t>
            </a:r>
          </a:p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3200" dirty="0">
                <a:latin typeface="Verdana" pitchFamily="34" charset="0"/>
              </a:rPr>
              <a:t>print (n, 'X', 1, '=', n*1)</a:t>
            </a: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atin typeface="Verdana" pitchFamily="34" charset="0"/>
                <a:sym typeface="+mn-ea"/>
              </a:rPr>
              <a:t>print (n, 'X', 2, '=', n*2)</a:t>
            </a:r>
            <a:endParaRPr lang="en-US" sz="3200" dirty="0">
              <a:latin typeface="Verdana" pitchFamily="34" charset="0"/>
            </a:endParaRP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atin typeface="Verdana" pitchFamily="34" charset="0"/>
                <a:sym typeface="+mn-ea"/>
              </a:rPr>
              <a:t>print (n, 'X', 3, '=', n*3)</a:t>
            </a:r>
            <a:endParaRPr lang="en-US" sz="3200" dirty="0">
              <a:latin typeface="Verdana" pitchFamily="34" charset="0"/>
            </a:endParaRP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atin typeface="Verdana" pitchFamily="34" charset="0"/>
                <a:sym typeface="+mn-ea"/>
              </a:rPr>
              <a:t>print (n, 'X', 4, '=', n*4)</a:t>
            </a:r>
            <a:endParaRPr lang="en-US" sz="3200" dirty="0">
              <a:latin typeface="Verdana" pitchFamily="34" charset="0"/>
            </a:endParaRP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atin typeface="Verdana" pitchFamily="34" charset="0"/>
                <a:sym typeface="+mn-ea"/>
              </a:rPr>
              <a:t>print (n, 'X', 5, '=', n*5)</a:t>
            </a:r>
            <a:endParaRPr lang="en-US" sz="3200" dirty="0">
              <a:latin typeface="Verdana" pitchFamily="34" charset="0"/>
            </a:endParaRP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atin typeface="Verdana" pitchFamily="34" charset="0"/>
                <a:sym typeface="+mn-ea"/>
              </a:rPr>
              <a:t>print (n, 'X', 6, '=', n*6)</a:t>
            </a:r>
            <a:endParaRPr lang="en-US" sz="3200" dirty="0">
              <a:latin typeface="Verdana" pitchFamily="34" charset="0"/>
            </a:endParaRP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atin typeface="Verdana" pitchFamily="34" charset="0"/>
              </a:rPr>
              <a:t>….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315200" y="1631950"/>
            <a:ext cx="2590800" cy="3617857"/>
            <a:chOff x="880372" y="1478145"/>
            <a:chExt cx="5410200" cy="5455216"/>
          </a:xfrm>
        </p:grpSpPr>
        <p:pic>
          <p:nvPicPr>
            <p:cNvPr id="1026" name="Picture 2" descr="C:\Users\karkare\AppData\Local\Microsoft\Windows\INetCache\IE\V9IY8K29\MC900044888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0372" y="1478145"/>
              <a:ext cx="5410200" cy="54552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4038600" y="1905000"/>
              <a:ext cx="2140330" cy="2062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FF0000"/>
                  </a:solidFill>
                </a:rPr>
                <a:t>Too much </a:t>
              </a:r>
            </a:p>
            <a:p>
              <a:r>
                <a:rPr lang="en-US" sz="3200" b="1" dirty="0">
                  <a:solidFill>
                    <a:srgbClr val="FF0000"/>
                  </a:solidFill>
                </a:rPr>
                <a:t>repetition!</a:t>
              </a:r>
            </a:p>
            <a:p>
              <a:r>
                <a:rPr lang="en-US" sz="3200" b="1" dirty="0">
                  <a:solidFill>
                    <a:srgbClr val="FF0000"/>
                  </a:solidFill>
                </a:rPr>
                <a:t>Can I avoid </a:t>
              </a:r>
            </a:p>
            <a:p>
              <a:r>
                <a:rPr lang="en-US" sz="3200" b="1" dirty="0">
                  <a:solidFill>
                    <a:srgbClr val="FF0000"/>
                  </a:solidFill>
                </a:rPr>
                <a:t>   it?</a:t>
              </a: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F10D16-AFB8-4F4D-B96A-8F326DDC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4E69-0CF2-114F-9E30-9C180AEDCA90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C0E58-BF7B-2D44-A7D0-C34A2AC10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DD67C-6615-C842-8628-A75181A52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46C3-F161-974A-9FDA-27CA5BBB23C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7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14300"/>
            <a:ext cx="6471557" cy="1143000"/>
          </a:xfrm>
        </p:spPr>
        <p:txBody>
          <a:bodyPr/>
          <a:lstStyle/>
          <a:p>
            <a:r>
              <a:rPr lang="en-US" dirty="0"/>
              <a:t>Printing Multiplication Table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1981200" y="1600200"/>
          <a:ext cx="8229600" cy="370840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44AC9A-FBE9-074D-9C4A-758E47C48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CB03E-7DF5-ED40-B336-A4993BF4EB56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EBBE0-A74C-034D-BA4E-544A5D74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2B27F-EF8D-9144-A5ED-98D74E44E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46C3-F161-974A-9FDA-27CA5BBB23C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96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 bwMode="auto">
          <a:xfrm>
            <a:off x="2209799" y="1907382"/>
            <a:ext cx="4876800" cy="4493419"/>
          </a:xfrm>
          <a:prstGeom prst="ellips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2700000" scaled="1"/>
            <a:tileRect/>
          </a:gra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>
              <a:latin typeface="Verdana" pitchFamily="34" charset="0"/>
            </a:endParaRPr>
          </a:p>
        </p:txBody>
      </p:sp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3886200" y="3886200"/>
            <a:ext cx="2443161" cy="914400"/>
          </a:xfrm>
          <a:prstGeom prst="roundRect">
            <a:avLst>
              <a:gd name="adj" fmla="val 0"/>
            </a:avLst>
          </a:prstGeom>
          <a:solidFill>
            <a:srgbClr val="FFC000"/>
          </a:solidFill>
          <a:ln w="9360">
            <a:solidFill>
              <a:schemeClr val="accent4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400" dirty="0">
                <a:ea typeface="ＭＳ Ｐゴシック" pitchFamily="32" charset="-128"/>
              </a:rPr>
              <a:t>Print n X </a:t>
            </a:r>
            <a:r>
              <a:rPr lang="en-US" altLang="en-US" sz="2400" dirty="0" err="1">
                <a:ea typeface="ＭＳ Ｐゴシック" pitchFamily="32" charset="-128"/>
              </a:rPr>
              <a:t>i</a:t>
            </a:r>
            <a:r>
              <a:rPr lang="en-US" altLang="en-US" sz="2400" dirty="0">
                <a:ea typeface="ＭＳ Ｐゴシック" pitchFamily="32" charset="-128"/>
              </a:rPr>
              <a:t> = </a:t>
            </a:r>
            <a:r>
              <a:rPr lang="en-US" altLang="en-US" sz="2400" dirty="0" err="1">
                <a:ea typeface="ＭＳ Ｐゴシック" pitchFamily="32" charset="-128"/>
              </a:rPr>
              <a:t>n*i</a:t>
            </a:r>
            <a:endParaRPr lang="en-US" altLang="en-US" sz="2400" dirty="0">
              <a:ea typeface="ＭＳ Ｐゴシック" pitchFamily="32" charset="-128"/>
            </a:endParaRPr>
          </a:p>
          <a:p>
            <a:pPr algn="ctr">
              <a:buClrTx/>
              <a:buFontTx/>
              <a:buNone/>
            </a:pPr>
            <a:r>
              <a:rPr lang="en-US" altLang="en-US" sz="2400" dirty="0">
                <a:ea typeface="ＭＳ Ｐゴシック" pitchFamily="32" charset="-128"/>
              </a:rPr>
              <a:t>i = i+1</a:t>
            </a:r>
          </a:p>
        </p:txBody>
      </p:sp>
      <p:sp>
        <p:nvSpPr>
          <p:cNvPr id="13319" name="AutoShape 7"/>
          <p:cNvSpPr>
            <a:spLocks noChangeArrowheads="1"/>
          </p:cNvSpPr>
          <p:nvPr/>
        </p:nvSpPr>
        <p:spPr bwMode="auto">
          <a:xfrm>
            <a:off x="5834061" y="1447801"/>
            <a:ext cx="1214438" cy="91916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9360">
            <a:solidFill>
              <a:schemeClr val="accent4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>
                <a:ea typeface="ＭＳ Ｐゴシック" pitchFamily="32" charset="-128"/>
              </a:rPr>
              <a:t>Input n</a:t>
            </a:r>
          </a:p>
          <a:p>
            <a:pPr algn="ctr">
              <a:buClrTx/>
              <a:buFontTx/>
              <a:buNone/>
            </a:pPr>
            <a:r>
              <a:rPr lang="en-US" altLang="en-US" sz="2400" dirty="0" err="1">
                <a:ea typeface="ＭＳ Ｐゴシック" pitchFamily="32" charset="-128"/>
              </a:rPr>
              <a:t>i</a:t>
            </a:r>
            <a:r>
              <a:rPr lang="en-US" altLang="en-US" sz="2400" dirty="0">
                <a:ea typeface="ＭＳ Ｐゴシック" pitchFamily="32" charset="-128"/>
              </a:rPr>
              <a:t> = 1</a:t>
            </a:r>
          </a:p>
        </p:txBody>
      </p:sp>
      <p:sp>
        <p:nvSpPr>
          <p:cNvPr id="13320" name="AutoShape 8"/>
          <p:cNvSpPr>
            <a:spLocks noChangeArrowheads="1"/>
          </p:cNvSpPr>
          <p:nvPr/>
        </p:nvSpPr>
        <p:spPr bwMode="auto">
          <a:xfrm>
            <a:off x="6405561" y="2366963"/>
            <a:ext cx="223838" cy="376238"/>
          </a:xfrm>
          <a:prstGeom prst="downArrow">
            <a:avLst>
              <a:gd name="adj1" fmla="val 50000"/>
              <a:gd name="adj2" fmla="val 50426"/>
            </a:avLst>
          </a:prstGeom>
          <a:solidFill>
            <a:srgbClr val="FFC000"/>
          </a:solidFill>
          <a:ln w="9360">
            <a:solidFill>
              <a:schemeClr val="accent4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321" name="Group 9"/>
          <p:cNvGrpSpPr/>
          <p:nvPr/>
        </p:nvGrpSpPr>
        <p:grpSpPr bwMode="auto">
          <a:xfrm>
            <a:off x="4114799" y="2743198"/>
            <a:ext cx="4949826" cy="965200"/>
            <a:chOff x="1104" y="1728"/>
            <a:chExt cx="3118" cy="608"/>
          </a:xfrm>
          <a:solidFill>
            <a:srgbClr val="FFC000"/>
          </a:solidFill>
        </p:grpSpPr>
        <p:sp>
          <p:nvSpPr>
            <p:cNvPr id="13322" name="AutoShape 10"/>
            <p:cNvSpPr>
              <a:spLocks noChangeArrowheads="1"/>
            </p:cNvSpPr>
            <p:nvPr/>
          </p:nvSpPr>
          <p:spPr bwMode="auto">
            <a:xfrm>
              <a:off x="1968" y="1728"/>
              <a:ext cx="1281" cy="608"/>
            </a:xfrm>
            <a:prstGeom prst="flowChartDecision">
              <a:avLst/>
            </a:prstGeom>
            <a:grpFill/>
            <a:ln w="9360">
              <a:solidFill>
                <a:schemeClr val="accent4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2000" dirty="0" err="1">
                  <a:ea typeface="ＭＳ Ｐゴシック" pitchFamily="32" charset="-128"/>
                </a:rPr>
                <a:t>i</a:t>
              </a:r>
              <a:r>
                <a:rPr lang="en-US" altLang="en-US" sz="2000" dirty="0">
                  <a:ea typeface="ＭＳ Ｐゴシック" pitchFamily="32" charset="-128"/>
                </a:rPr>
                <a:t> &lt;=10</a:t>
              </a:r>
            </a:p>
          </p:txBody>
        </p:sp>
        <p:sp>
          <p:nvSpPr>
            <p:cNvPr id="13325" name="Text Box 13"/>
            <p:cNvSpPr txBox="1">
              <a:spLocks noChangeArrowheads="1"/>
            </p:cNvSpPr>
            <p:nvPr/>
          </p:nvSpPr>
          <p:spPr bwMode="auto">
            <a:xfrm>
              <a:off x="1104" y="2025"/>
              <a:ext cx="510" cy="2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dirty="0"/>
                <a:t>TRUE</a:t>
              </a:r>
            </a:p>
          </p:txBody>
        </p:sp>
        <p:sp>
          <p:nvSpPr>
            <p:cNvPr id="13326" name="Text Box 14"/>
            <p:cNvSpPr txBox="1">
              <a:spLocks noChangeArrowheads="1"/>
            </p:cNvSpPr>
            <p:nvPr/>
          </p:nvSpPr>
          <p:spPr bwMode="auto">
            <a:xfrm>
              <a:off x="3655" y="2025"/>
              <a:ext cx="567" cy="2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dirty="0"/>
                <a:t>FALSE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0"/>
            <a:ext cx="8229600" cy="838200"/>
          </a:xfrm>
        </p:spPr>
        <p:txBody>
          <a:bodyPr/>
          <a:lstStyle/>
          <a:p>
            <a:r>
              <a:rPr lang="en-US" dirty="0"/>
              <a:t>Printing Multiplication Table</a:t>
            </a:r>
          </a:p>
        </p:txBody>
      </p:sp>
      <p:sp>
        <p:nvSpPr>
          <p:cNvPr id="9" name="Up Arrow 8"/>
          <p:cNvSpPr/>
          <p:nvPr/>
        </p:nvSpPr>
        <p:spPr bwMode="auto">
          <a:xfrm>
            <a:off x="3124199" y="2707482"/>
            <a:ext cx="381000" cy="2702718"/>
          </a:xfrm>
          <a:prstGeom prst="upArrow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>
              <a:latin typeface="Verdana" pitchFamily="34" charset="0"/>
            </a:endParaRPr>
          </a:p>
        </p:txBody>
      </p:sp>
      <p:sp>
        <p:nvSpPr>
          <p:cNvPr id="38" name="Up Arrow 37"/>
          <p:cNvSpPr/>
          <p:nvPr/>
        </p:nvSpPr>
        <p:spPr bwMode="auto">
          <a:xfrm rot="10800000">
            <a:off x="4693729" y="4807530"/>
            <a:ext cx="381000" cy="526471"/>
          </a:xfrm>
          <a:prstGeom prst="upArrow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>
              <a:latin typeface="Verdana" pitchFamily="34" charset="0"/>
            </a:endParaRPr>
          </a:p>
        </p:txBody>
      </p:sp>
      <p:sp>
        <p:nvSpPr>
          <p:cNvPr id="39" name="Up Arrow 38"/>
          <p:cNvSpPr/>
          <p:nvPr/>
        </p:nvSpPr>
        <p:spPr bwMode="auto">
          <a:xfrm rot="8168692">
            <a:off x="5898747" y="2654775"/>
            <a:ext cx="265371" cy="350120"/>
          </a:xfrm>
          <a:prstGeom prst="upArrow">
            <a:avLst>
              <a:gd name="adj1" fmla="val 57272"/>
              <a:gd name="adj2" fmla="val 50000"/>
            </a:avLst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>
              <a:latin typeface="Verdana" pitchFamily="34" charset="0"/>
            </a:endParaRPr>
          </a:p>
        </p:txBody>
      </p:sp>
      <p:sp>
        <p:nvSpPr>
          <p:cNvPr id="40" name="Up Arrow 39"/>
          <p:cNvSpPr/>
          <p:nvPr/>
        </p:nvSpPr>
        <p:spPr bwMode="auto">
          <a:xfrm rot="16200000">
            <a:off x="3925489" y="4685110"/>
            <a:ext cx="381000" cy="1526380"/>
          </a:xfrm>
          <a:prstGeom prst="upArrow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>
              <a:latin typeface="Verdana" pitchFamily="34" charset="0"/>
            </a:endParaRPr>
          </a:p>
        </p:txBody>
      </p:sp>
      <p:sp>
        <p:nvSpPr>
          <p:cNvPr id="41" name="Up Arrow 40"/>
          <p:cNvSpPr/>
          <p:nvPr/>
        </p:nvSpPr>
        <p:spPr bwMode="auto">
          <a:xfrm rot="5400000">
            <a:off x="4401740" y="1277540"/>
            <a:ext cx="381000" cy="2702718"/>
          </a:xfrm>
          <a:prstGeom prst="upArrow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>
              <a:latin typeface="Verdana" pitchFamily="34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7315199" y="3886202"/>
            <a:ext cx="1471612" cy="609598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000" dirty="0">
                <a:latin typeface="Verdana" pitchFamily="34" charset="0"/>
              </a:rPr>
              <a:t>Stop</a:t>
            </a:r>
          </a:p>
          <a:p>
            <a:pPr marL="342900" indent="-342900"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itchFamily="34" charset="0"/>
              <a:buChar char="•"/>
            </a:pPr>
            <a:endParaRPr lang="en-US" sz="2000" dirty="0">
              <a:latin typeface="Verdana" pitchFamily="34" charset="0"/>
            </a:endParaRPr>
          </a:p>
        </p:txBody>
      </p:sp>
      <p:sp>
        <p:nvSpPr>
          <p:cNvPr id="45" name="Bent Arrow 44"/>
          <p:cNvSpPr/>
          <p:nvPr/>
        </p:nvSpPr>
        <p:spPr bwMode="auto">
          <a:xfrm rot="5400000">
            <a:off x="4807544" y="3207346"/>
            <a:ext cx="735806" cy="621903"/>
          </a:xfrm>
          <a:prstGeom prst="bentArrow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10799999" rev="10799999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>
              <a:latin typeface="Verdana" pitchFamily="34" charset="0"/>
            </a:endParaRPr>
          </a:p>
        </p:txBody>
      </p:sp>
      <p:sp>
        <p:nvSpPr>
          <p:cNvPr id="47" name="Bent Arrow 46"/>
          <p:cNvSpPr/>
          <p:nvPr/>
        </p:nvSpPr>
        <p:spPr bwMode="auto">
          <a:xfrm rot="5400000">
            <a:off x="7474544" y="3207346"/>
            <a:ext cx="735806" cy="621903"/>
          </a:xfrm>
          <a:prstGeom prst="bentArrow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>
              <a:latin typeface="Verdana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46597" y="5638800"/>
            <a:ext cx="1212191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7030A0"/>
                </a:solidFill>
              </a:rPr>
              <a:t>Loop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90153" y="1227204"/>
            <a:ext cx="2428229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7030A0"/>
                </a:solidFill>
              </a:rPr>
              <a:t>Loop Entry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4929" y="2442507"/>
            <a:ext cx="2089033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7030A0"/>
                </a:solidFill>
              </a:rPr>
              <a:t>Loop Exit</a:t>
            </a:r>
          </a:p>
        </p:txBody>
      </p:sp>
      <p:cxnSp>
        <p:nvCxnSpPr>
          <p:cNvPr id="19" name="Curved Connector 18"/>
          <p:cNvCxnSpPr>
            <a:stCxn id="15" idx="1"/>
          </p:cNvCxnSpPr>
          <p:nvPr/>
        </p:nvCxnSpPr>
        <p:spPr bwMode="auto">
          <a:xfrm rot="10800000">
            <a:off x="5814464" y="5088086"/>
            <a:ext cx="2232132" cy="904659"/>
          </a:xfrm>
          <a:prstGeom prst="curvedConnector3">
            <a:avLst/>
          </a:prstGeom>
          <a:ln>
            <a:solidFill>
              <a:srgbClr val="7030A0"/>
            </a:solidFill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Curved Connector 20"/>
          <p:cNvCxnSpPr>
            <a:stCxn id="51" idx="2"/>
          </p:cNvCxnSpPr>
          <p:nvPr/>
        </p:nvCxnSpPr>
        <p:spPr bwMode="auto">
          <a:xfrm rot="5400000">
            <a:off x="8555920" y="2747876"/>
            <a:ext cx="431009" cy="1236045"/>
          </a:xfrm>
          <a:prstGeom prst="curvedConnector2">
            <a:avLst/>
          </a:prstGeom>
          <a:ln>
            <a:solidFill>
              <a:srgbClr val="7030A0"/>
            </a:solidFill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50" idx="2"/>
          </p:cNvCxnSpPr>
          <p:nvPr/>
        </p:nvCxnSpPr>
        <p:spPr bwMode="auto">
          <a:xfrm rot="5400000">
            <a:off x="7294939" y="1345753"/>
            <a:ext cx="619993" cy="1798666"/>
          </a:xfrm>
          <a:prstGeom prst="curvedConnector2">
            <a:avLst/>
          </a:prstGeom>
          <a:ln>
            <a:solidFill>
              <a:srgbClr val="7030A0"/>
            </a:solidFill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051FC-C4B8-204A-8AE9-3611FB139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DA058-3DB6-874A-AD4C-8A0D4B4FF958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00795-D075-BE41-B3AC-E2D702B1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B1283F-6E94-3849-AD5B-D70959382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46C3-F161-974A-9FDA-27CA5BBB23C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963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315" grpId="0" animBg="1"/>
      <p:bldP spid="13319" grpId="0" animBg="1"/>
      <p:bldP spid="13320" grpId="0" animBg="1"/>
      <p:bldP spid="9" grpId="0" animBg="1"/>
      <p:bldP spid="38" grpId="0" animBg="1"/>
      <p:bldP spid="39" grpId="0" animBg="1"/>
      <p:bldP spid="40" grpId="0" animBg="1"/>
      <p:bldP spid="41" grpId="0" animBg="1"/>
      <p:bldP spid="10" grpId="0" animBg="1"/>
      <p:bldP spid="45" grpId="0" animBg="1"/>
      <p:bldP spid="47" grpId="0" animBg="1"/>
      <p:bldP spid="15" grpId="0" animBg="1"/>
      <p:bldP spid="50" grpId="0" animBg="1"/>
      <p:bldP spid="5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4471" y="211276"/>
            <a:ext cx="8229600" cy="838200"/>
          </a:xfrm>
        </p:spPr>
        <p:txBody>
          <a:bodyPr/>
          <a:lstStyle/>
          <a:p>
            <a:r>
              <a:rPr lang="en-US" dirty="0"/>
              <a:t>Printing Multiplication Table</a:t>
            </a:r>
          </a:p>
        </p:txBody>
      </p:sp>
      <p:sp>
        <p:nvSpPr>
          <p:cNvPr id="7" name="Rounded Rectangle 6"/>
          <p:cNvSpPr/>
          <p:nvPr/>
        </p:nvSpPr>
        <p:spPr bwMode="auto">
          <a:xfrm>
            <a:off x="5045710" y="1599239"/>
            <a:ext cx="5317490" cy="42862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endParaRPr lang="en-US" sz="2800" dirty="0">
              <a:latin typeface="Verdana" pitchFamily="34" charset="0"/>
              <a:sym typeface="+mn-ea"/>
            </a:endParaRPr>
          </a:p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>
                <a:latin typeface="Verdana" pitchFamily="34" charset="0"/>
                <a:sym typeface="+mn-ea"/>
              </a:rPr>
              <a:t>n = int(input('n=? '))</a:t>
            </a:r>
          </a:p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 err="1">
                <a:latin typeface="Verdana" pitchFamily="34" charset="0"/>
              </a:rPr>
              <a:t>i</a:t>
            </a:r>
            <a:r>
              <a:rPr lang="en-US" sz="2800" dirty="0">
                <a:latin typeface="Verdana" pitchFamily="34" charset="0"/>
              </a:rPr>
              <a:t> = 1</a:t>
            </a:r>
          </a:p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endParaRPr lang="en-US" sz="2800" dirty="0">
              <a:latin typeface="Verdana" pitchFamily="34" charset="0"/>
            </a:endParaRPr>
          </a:p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b="1" dirty="0">
                <a:solidFill>
                  <a:srgbClr val="FF0000"/>
                </a:solidFill>
                <a:latin typeface="Verdana" pitchFamily="34" charset="0"/>
              </a:rPr>
              <a:t>while</a:t>
            </a:r>
            <a:r>
              <a:rPr lang="en-US" sz="2800" dirty="0">
                <a:latin typeface="Verdana" pitchFamily="34" charset="0"/>
              </a:rPr>
              <a:t> (</a:t>
            </a:r>
            <a:r>
              <a:rPr lang="en-US" sz="2800" dirty="0" err="1">
                <a:latin typeface="Verdana" pitchFamily="34" charset="0"/>
              </a:rPr>
              <a:t>i</a:t>
            </a:r>
            <a:r>
              <a:rPr lang="en-US" sz="2800" dirty="0">
                <a:latin typeface="Verdana" pitchFamily="34" charset="0"/>
              </a:rPr>
              <a:t> &lt;= 10) :</a:t>
            </a:r>
          </a:p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>
                <a:latin typeface="Verdana" pitchFamily="34" charset="0"/>
              </a:rPr>
              <a:t>   print (n ,'X', i, '=', n*</a:t>
            </a:r>
            <a:r>
              <a:rPr lang="en-US" sz="2800" dirty="0" err="1">
                <a:latin typeface="Verdana" pitchFamily="34" charset="0"/>
              </a:rPr>
              <a:t>i</a:t>
            </a:r>
            <a:r>
              <a:rPr lang="en-US" sz="2800" dirty="0">
                <a:latin typeface="Verdana" pitchFamily="34" charset="0"/>
              </a:rPr>
              <a:t>)</a:t>
            </a:r>
          </a:p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>
                <a:latin typeface="Verdana" pitchFamily="34" charset="0"/>
              </a:rPr>
              <a:t>   </a:t>
            </a:r>
            <a:r>
              <a:rPr lang="en-US" sz="2800" dirty="0" err="1">
                <a:latin typeface="Verdana" pitchFamily="34" charset="0"/>
              </a:rPr>
              <a:t>i</a:t>
            </a:r>
            <a:r>
              <a:rPr lang="en-US" sz="2800" dirty="0">
                <a:latin typeface="Verdana" pitchFamily="34" charset="0"/>
              </a:rPr>
              <a:t> = </a:t>
            </a:r>
            <a:r>
              <a:rPr lang="en-US" sz="2800" dirty="0" err="1">
                <a:latin typeface="Verdana" pitchFamily="34" charset="0"/>
              </a:rPr>
              <a:t>i</a:t>
            </a:r>
            <a:r>
              <a:rPr lang="en-US" sz="2800" dirty="0">
                <a:latin typeface="Verdana" pitchFamily="34" charset="0"/>
              </a:rPr>
              <a:t> + 1</a:t>
            </a:r>
          </a:p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>
                <a:latin typeface="Verdana" pitchFamily="34" charset="0"/>
              </a:rPr>
              <a:t>print ('done‘)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719294" y="1468085"/>
            <a:ext cx="3837993" cy="2842848"/>
            <a:chOff x="1600199" y="1447800"/>
            <a:chExt cx="5662612" cy="4191000"/>
          </a:xfrm>
        </p:grpSpPr>
        <p:sp>
          <p:nvSpPr>
            <p:cNvPr id="13315" name="AutoShape 3"/>
            <p:cNvSpPr>
              <a:spLocks noChangeArrowheads="1"/>
            </p:cNvSpPr>
            <p:nvPr/>
          </p:nvSpPr>
          <p:spPr bwMode="auto">
            <a:xfrm>
              <a:off x="2362199" y="3886200"/>
              <a:ext cx="2443161" cy="914400"/>
            </a:xfrm>
            <a:prstGeom prst="roundRect">
              <a:avLst>
                <a:gd name="adj" fmla="val 0"/>
              </a:avLst>
            </a:prstGeom>
            <a:solidFill>
              <a:srgbClr val="FFC000"/>
            </a:solidFill>
            <a:ln w="9360">
              <a:solidFill>
                <a:schemeClr val="accent4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1400" dirty="0">
                  <a:ea typeface="ＭＳ Ｐゴシック" pitchFamily="32" charset="-128"/>
                </a:rPr>
                <a:t>Print n x  </a:t>
              </a:r>
              <a:r>
                <a:rPr lang="en-US" altLang="en-US" sz="1400" dirty="0" err="1">
                  <a:ea typeface="ＭＳ Ｐゴシック" pitchFamily="32" charset="-128"/>
                </a:rPr>
                <a:t>i</a:t>
              </a:r>
              <a:r>
                <a:rPr lang="en-US" altLang="en-US" sz="1400" dirty="0">
                  <a:ea typeface="ＭＳ Ｐゴシック" pitchFamily="32" charset="-128"/>
                </a:rPr>
                <a:t> = </a:t>
              </a:r>
              <a:r>
                <a:rPr lang="en-US" altLang="en-US" sz="1400" dirty="0" err="1">
                  <a:ea typeface="ＭＳ Ｐゴシック" pitchFamily="32" charset="-128"/>
                </a:rPr>
                <a:t>ni</a:t>
              </a:r>
              <a:endParaRPr lang="en-US" altLang="en-US" sz="1400" dirty="0">
                <a:ea typeface="ＭＳ Ｐゴシック" pitchFamily="32" charset="-128"/>
              </a:endParaRPr>
            </a:p>
            <a:p>
              <a:pPr algn="ctr">
                <a:buClrTx/>
                <a:buFontTx/>
                <a:buNone/>
              </a:pPr>
              <a:r>
                <a:rPr lang="en-US" altLang="en-US" sz="1400" dirty="0">
                  <a:ea typeface="ＭＳ Ｐゴシック" pitchFamily="32" charset="-128"/>
                </a:rPr>
                <a:t>i = i+1</a:t>
              </a:r>
            </a:p>
          </p:txBody>
        </p:sp>
        <p:sp>
          <p:nvSpPr>
            <p:cNvPr id="13319" name="AutoShape 7"/>
            <p:cNvSpPr>
              <a:spLocks noChangeArrowheads="1"/>
            </p:cNvSpPr>
            <p:nvPr/>
          </p:nvSpPr>
          <p:spPr bwMode="auto">
            <a:xfrm>
              <a:off x="4310061" y="1447800"/>
              <a:ext cx="1214438" cy="919163"/>
            </a:xfrm>
            <a:prstGeom prst="roundRect">
              <a:avLst>
                <a:gd name="adj" fmla="val 16667"/>
              </a:avLst>
            </a:prstGeom>
            <a:solidFill>
              <a:srgbClr val="FFC000"/>
            </a:solidFill>
            <a:ln w="9360">
              <a:solidFill>
                <a:schemeClr val="accent4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1400" dirty="0">
                  <a:ea typeface="ＭＳ Ｐゴシック" pitchFamily="32" charset="-128"/>
                </a:rPr>
                <a:t>Input n</a:t>
              </a:r>
            </a:p>
            <a:p>
              <a:pPr algn="ctr">
                <a:buClrTx/>
                <a:buFontTx/>
                <a:buNone/>
              </a:pPr>
              <a:r>
                <a:rPr lang="en-US" altLang="en-US" sz="1400" dirty="0" err="1">
                  <a:ea typeface="ＭＳ Ｐゴシック" pitchFamily="32" charset="-128"/>
                </a:rPr>
                <a:t>i</a:t>
              </a:r>
              <a:r>
                <a:rPr lang="en-US" altLang="en-US" sz="1400" dirty="0">
                  <a:ea typeface="ＭＳ Ｐゴシック" pitchFamily="32" charset="-128"/>
                </a:rPr>
                <a:t> = 1</a:t>
              </a:r>
            </a:p>
          </p:txBody>
        </p:sp>
        <p:sp>
          <p:nvSpPr>
            <p:cNvPr id="13320" name="AutoShape 8"/>
            <p:cNvSpPr>
              <a:spLocks noChangeArrowheads="1"/>
            </p:cNvSpPr>
            <p:nvPr/>
          </p:nvSpPr>
          <p:spPr bwMode="auto">
            <a:xfrm>
              <a:off x="4881561" y="2366963"/>
              <a:ext cx="223838" cy="376238"/>
            </a:xfrm>
            <a:prstGeom prst="downArrow">
              <a:avLst>
                <a:gd name="adj1" fmla="val 50000"/>
                <a:gd name="adj2" fmla="val 50426"/>
              </a:avLst>
            </a:prstGeom>
            <a:solidFill>
              <a:srgbClr val="FFC000"/>
            </a:solidFill>
            <a:ln w="9360">
              <a:solidFill>
                <a:schemeClr val="accent4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00"/>
            </a:p>
          </p:txBody>
        </p:sp>
        <p:grpSp>
          <p:nvGrpSpPr>
            <p:cNvPr id="13321" name="Group 9"/>
            <p:cNvGrpSpPr/>
            <p:nvPr/>
          </p:nvGrpSpPr>
          <p:grpSpPr bwMode="auto">
            <a:xfrm>
              <a:off x="3348036" y="2693986"/>
              <a:ext cx="3116263" cy="1014413"/>
              <a:chOff x="1581" y="1697"/>
              <a:chExt cx="1963" cy="639"/>
            </a:xfrm>
            <a:solidFill>
              <a:srgbClr val="FFC000"/>
            </a:solidFill>
          </p:grpSpPr>
          <p:sp>
            <p:nvSpPr>
              <p:cNvPr id="13325" name="Text Box 13"/>
              <p:cNvSpPr txBox="1">
                <a:spLocks noChangeArrowheads="1"/>
              </p:cNvSpPr>
              <p:nvPr/>
            </p:nvSpPr>
            <p:spPr bwMode="auto">
              <a:xfrm>
                <a:off x="1581" y="1768"/>
                <a:ext cx="528" cy="24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bg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 altLang="en-US" sz="1100" dirty="0"/>
                  <a:t>TRUE</a:t>
                </a:r>
              </a:p>
            </p:txBody>
          </p:sp>
          <p:sp>
            <p:nvSpPr>
              <p:cNvPr id="13322" name="AutoShape 10"/>
              <p:cNvSpPr>
                <a:spLocks noChangeArrowheads="1"/>
              </p:cNvSpPr>
              <p:nvPr/>
            </p:nvSpPr>
            <p:spPr bwMode="auto">
              <a:xfrm>
                <a:off x="1968" y="1728"/>
                <a:ext cx="1281" cy="608"/>
              </a:xfrm>
              <a:prstGeom prst="flowChartDecision">
                <a:avLst/>
              </a:prstGeom>
              <a:grpFill/>
              <a:ln w="9360">
                <a:solidFill>
                  <a:schemeClr val="accent4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 altLang="en-US" sz="1200" dirty="0" err="1">
                    <a:ea typeface="ＭＳ Ｐゴシック" pitchFamily="32" charset="-128"/>
                  </a:rPr>
                  <a:t>i</a:t>
                </a:r>
                <a:r>
                  <a:rPr lang="en-US" altLang="en-US" sz="1200" dirty="0">
                    <a:ea typeface="ＭＳ Ｐゴシック" pitchFamily="32" charset="-128"/>
                  </a:rPr>
                  <a:t> &lt;=10</a:t>
                </a:r>
              </a:p>
            </p:txBody>
          </p:sp>
          <p:sp>
            <p:nvSpPr>
              <p:cNvPr id="13326" name="Text Box 14"/>
              <p:cNvSpPr txBox="1">
                <a:spLocks noChangeArrowheads="1"/>
              </p:cNvSpPr>
              <p:nvPr/>
            </p:nvSpPr>
            <p:spPr bwMode="auto">
              <a:xfrm>
                <a:off x="2958" y="1697"/>
                <a:ext cx="586" cy="245"/>
              </a:xfrm>
              <a:prstGeom prst="rect">
                <a:avLst/>
              </a:prstGeom>
              <a:noFill/>
              <a:ln w="9525">
                <a:noFill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 altLang="en-US" sz="1100" dirty="0"/>
                  <a:t>FALSE</a:t>
                </a:r>
              </a:p>
            </p:txBody>
          </p:sp>
        </p:grpSp>
        <p:sp>
          <p:nvSpPr>
            <p:cNvPr id="9" name="Up Arrow 8"/>
            <p:cNvSpPr/>
            <p:nvPr/>
          </p:nvSpPr>
          <p:spPr bwMode="auto">
            <a:xfrm>
              <a:off x="1600199" y="2707482"/>
              <a:ext cx="381000" cy="2702718"/>
            </a:xfrm>
            <a:prstGeom prst="upArrow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lang="en-US" sz="1200">
                <a:latin typeface="Verdana" pitchFamily="34" charset="0"/>
              </a:endParaRPr>
            </a:p>
          </p:txBody>
        </p:sp>
        <p:sp>
          <p:nvSpPr>
            <p:cNvPr id="38" name="Up Arrow 37"/>
            <p:cNvSpPr/>
            <p:nvPr/>
          </p:nvSpPr>
          <p:spPr bwMode="auto">
            <a:xfrm rot="10800000">
              <a:off x="3169729" y="4807529"/>
              <a:ext cx="381000" cy="526471"/>
            </a:xfrm>
            <a:prstGeom prst="upArrow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lang="en-US" sz="1200">
                <a:latin typeface="Verdana" pitchFamily="34" charset="0"/>
              </a:endParaRPr>
            </a:p>
          </p:txBody>
        </p:sp>
        <p:sp>
          <p:nvSpPr>
            <p:cNvPr id="39" name="Up Arrow 38"/>
            <p:cNvSpPr/>
            <p:nvPr/>
          </p:nvSpPr>
          <p:spPr bwMode="auto">
            <a:xfrm rot="8168692">
              <a:off x="4374746" y="2654775"/>
              <a:ext cx="265371" cy="350120"/>
            </a:xfrm>
            <a:prstGeom prst="upArrow">
              <a:avLst>
                <a:gd name="adj1" fmla="val 57272"/>
                <a:gd name="adj2" fmla="val 50000"/>
              </a:avLst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lang="en-US" sz="1200">
                <a:latin typeface="Verdana" pitchFamily="34" charset="0"/>
              </a:endParaRPr>
            </a:p>
          </p:txBody>
        </p:sp>
        <p:sp>
          <p:nvSpPr>
            <p:cNvPr id="40" name="Up Arrow 39"/>
            <p:cNvSpPr/>
            <p:nvPr/>
          </p:nvSpPr>
          <p:spPr bwMode="auto">
            <a:xfrm rot="16200000">
              <a:off x="2401489" y="4685110"/>
              <a:ext cx="381000" cy="1526380"/>
            </a:xfrm>
            <a:prstGeom prst="upArrow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lang="en-US" sz="1200">
                <a:latin typeface="Verdana" pitchFamily="34" charset="0"/>
              </a:endParaRPr>
            </a:p>
          </p:txBody>
        </p:sp>
        <p:sp>
          <p:nvSpPr>
            <p:cNvPr id="41" name="Up Arrow 40"/>
            <p:cNvSpPr/>
            <p:nvPr/>
          </p:nvSpPr>
          <p:spPr bwMode="auto">
            <a:xfrm rot="5400000">
              <a:off x="2877740" y="1277540"/>
              <a:ext cx="381000" cy="2702718"/>
            </a:xfrm>
            <a:prstGeom prst="upArrow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lang="en-US" sz="1200">
                <a:latin typeface="Verdana" pitchFamily="34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5791199" y="3886202"/>
              <a:ext cx="1471612" cy="609598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 fontAlgn="base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</a:pPr>
              <a:r>
                <a:rPr lang="en-US" sz="1200" dirty="0">
                  <a:latin typeface="Verdana" pitchFamily="34" charset="0"/>
                </a:rPr>
                <a:t>Stop</a:t>
              </a:r>
            </a:p>
            <a:p>
              <a:pPr marL="342900" indent="-342900" fontAlgn="base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Arial" pitchFamily="34" charset="0"/>
                <a:buChar char="•"/>
              </a:pPr>
              <a:endParaRPr lang="en-US" sz="1200" dirty="0">
                <a:latin typeface="Verdana" pitchFamily="34" charset="0"/>
              </a:endParaRPr>
            </a:p>
          </p:txBody>
        </p:sp>
        <p:sp>
          <p:nvSpPr>
            <p:cNvPr id="45" name="Bent Arrow 44"/>
            <p:cNvSpPr/>
            <p:nvPr/>
          </p:nvSpPr>
          <p:spPr bwMode="auto">
            <a:xfrm rot="5400000">
              <a:off x="3283544" y="3207345"/>
              <a:ext cx="735806" cy="621903"/>
            </a:xfrm>
            <a:prstGeom prst="bentArrow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10799999" rev="10799999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lang="en-US" sz="1200">
                <a:latin typeface="Verdana" pitchFamily="34" charset="0"/>
              </a:endParaRPr>
            </a:p>
          </p:txBody>
        </p:sp>
        <p:sp>
          <p:nvSpPr>
            <p:cNvPr id="47" name="Bent Arrow 46"/>
            <p:cNvSpPr/>
            <p:nvPr/>
          </p:nvSpPr>
          <p:spPr bwMode="auto">
            <a:xfrm rot="5400000">
              <a:off x="5950544" y="3207345"/>
              <a:ext cx="735806" cy="621903"/>
            </a:xfrm>
            <a:prstGeom prst="bentArrow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lang="en-US" sz="1200">
                <a:latin typeface="Verdana" pitchFamily="34" charset="0"/>
              </a:endParaRPr>
            </a:p>
          </p:txBody>
        </p:sp>
      </p:grpSp>
      <p:sp>
        <p:nvSpPr>
          <p:cNvPr id="11" name="Left Brace 10"/>
          <p:cNvSpPr/>
          <p:nvPr/>
        </p:nvSpPr>
        <p:spPr bwMode="auto">
          <a:xfrm>
            <a:off x="4252596" y="3885240"/>
            <a:ext cx="1170993" cy="1216025"/>
          </a:xfrm>
          <a:prstGeom prst="leftBrac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fontAlgn="base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lang="en-US" sz="2000">
              <a:latin typeface="Verdana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0852B-1354-3149-A841-7ED8C4EDC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4A2C-EFA5-D34F-B187-E6D2702899A3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5CA60-2793-944B-9772-3ED54846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6E662-6BB5-D74E-A05D-D4784834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46C3-F161-974A-9FDA-27CA5BBB23C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006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981200" y="198438"/>
            <a:ext cx="8229600" cy="1143000"/>
          </a:xfrm>
        </p:spPr>
        <p:txBody>
          <a:bodyPr/>
          <a:lstStyle/>
          <a:p>
            <a:pPr algn="ctr"/>
            <a:r>
              <a:rPr lang="en-US" altLang="en-US" sz="4000" dirty="0"/>
              <a:t>For Loop</a:t>
            </a:r>
          </a:p>
        </p:txBody>
      </p:sp>
      <p:sp>
        <p:nvSpPr>
          <p:cNvPr id="5" name="Content Placeholder 2"/>
          <p:cNvSpPr txBox="1"/>
          <p:nvPr/>
        </p:nvSpPr>
        <p:spPr bwMode="auto">
          <a:xfrm>
            <a:off x="2057400" y="1067436"/>
            <a:ext cx="7467600" cy="11563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Arial" charset="0"/>
              <a:buChar char="•"/>
              <a:defRPr/>
            </a:pPr>
            <a:r>
              <a:rPr lang="en-US" sz="3200" kern="0" dirty="0">
                <a:cs typeface="Arial" pitchFamily="34" charset="0"/>
              </a:rPr>
              <a:t>Print the sum of the reciprocals of the first 100 natural numbers.</a:t>
            </a:r>
          </a:p>
          <a:p>
            <a:pPr marL="457200" indent="-4572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defRPr/>
            </a:pPr>
            <a:endParaRPr lang="en-US" sz="3200" kern="0" dirty="0">
              <a:cs typeface="Arial" pitchFamily="34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676400" y="2287270"/>
            <a:ext cx="8834120" cy="37325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en-US" sz="3600" b="1" dirty="0" err="1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rsum</a:t>
            </a:r>
            <a:r>
              <a:rPr lang="en-US" sz="3600" b="1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=0.0</a:t>
            </a:r>
            <a:r>
              <a:rPr lang="en-US" sz="3600" b="1" dirty="0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# the reciprocal sum</a:t>
            </a:r>
          </a:p>
          <a:p>
            <a:pPr eaLnBrk="0" hangingPunct="0">
              <a:defRPr/>
            </a:pPr>
            <a:endParaRPr lang="en-US" sz="3600" b="1" dirty="0">
              <a:solidFill>
                <a:srgbClr val="00B050"/>
              </a:solidFill>
              <a:latin typeface="Courier New" pitchFamily="49" charset="0"/>
              <a:ea typeface="ＭＳ Ｐゴシック" pitchFamily="34" charset="-128"/>
              <a:cs typeface="Courier New" pitchFamily="49" charset="0"/>
            </a:endParaRPr>
          </a:p>
          <a:p>
            <a:pPr eaLnBrk="0" hangingPunct="0">
              <a:defRPr/>
            </a:pPr>
            <a:r>
              <a:rPr lang="en-US" sz="3600" b="1" dirty="0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# the for loop</a:t>
            </a:r>
          </a:p>
          <a:p>
            <a:pPr eaLnBrk="0" hangingPunct="0">
              <a:defRPr/>
            </a:pPr>
            <a:r>
              <a:rPr lang="en-US" sz="3600" b="1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for i in </a:t>
            </a:r>
            <a:r>
              <a:rPr lang="en-US" sz="3600" b="1" dirty="0">
                <a:solidFill>
                  <a:srgbClr val="FF0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range</a:t>
            </a:r>
            <a:r>
              <a:rPr lang="en-US" sz="3600" b="1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(1,101):</a:t>
            </a:r>
          </a:p>
          <a:p>
            <a:pPr eaLnBrk="0" hangingPunct="0">
              <a:defRPr/>
            </a:pPr>
            <a:r>
              <a:rPr lang="en-US" sz="3600" b="1" dirty="0" err="1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   rsum = rsum + 1.0/i</a:t>
            </a:r>
          </a:p>
          <a:p>
            <a:pPr eaLnBrk="0" hangingPunct="0">
              <a:defRPr/>
            </a:pPr>
            <a:r>
              <a:rPr lang="en-US" sz="3600" b="1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print ('sum is', </a:t>
            </a:r>
            <a:r>
              <a:rPr lang="en-US" sz="3600" b="1" dirty="0" err="1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rsum</a:t>
            </a:r>
            <a:r>
              <a:rPr lang="en-US" sz="3600" b="1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AD188-6A89-8A4B-8636-34766C05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EC6B3-443C-9346-99BE-F3B619D3883A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C7A2E9-0B03-3645-A101-A3DAE8613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363ED-6BE5-5246-BE5B-B8DA4161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46C3-F161-974A-9FDA-27CA5BBB23C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8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995DF-3A7A-4D46-BA5E-42CE15A0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5CB7A-C8C0-8847-A0CF-D787E4E5B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loops are used for sequential traversal.</a:t>
            </a:r>
          </a:p>
          <a:p>
            <a:r>
              <a:rPr lang="en-US" dirty="0"/>
              <a:t>For example: traversing a list or string or tuple etc.</a:t>
            </a:r>
          </a:p>
          <a:p>
            <a:r>
              <a:rPr lang="en-US" dirty="0"/>
              <a:t>In Python, there is no C style for loop, i.e., for (i=0; i&lt;n; i++).</a:t>
            </a:r>
          </a:p>
          <a:p>
            <a:r>
              <a:rPr lang="en-US" dirty="0"/>
              <a:t>There is “for in” loop which is similar to </a:t>
            </a:r>
            <a:r>
              <a:rPr lang="en-US" b="1" dirty="0"/>
              <a:t>for each</a:t>
            </a:r>
            <a:r>
              <a:rPr lang="en-US" dirty="0"/>
              <a:t> loop in other languages.</a:t>
            </a:r>
          </a:p>
          <a:p>
            <a:endParaRPr lang="en-US" dirty="0"/>
          </a:p>
          <a:p>
            <a:r>
              <a:rPr lang="en-US" dirty="0"/>
              <a:t>Next slide shows the syntax.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52042-1026-B74E-97B7-2DE021BEF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7DE17-D720-1F41-8540-A78E507C1F0E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A450F-FDA4-1948-A9D2-70FAB27DF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13E1E-90CB-974A-8926-C29C2CCE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46C3-F161-974A-9FDA-27CA5BBB23C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85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1828800" y="459242"/>
            <a:ext cx="8747125" cy="471487"/>
          </a:xfrm>
        </p:spPr>
        <p:txBody>
          <a:bodyPr>
            <a:noAutofit/>
          </a:bodyPr>
          <a:lstStyle/>
          <a:p>
            <a:r>
              <a:rPr lang="en-US" altLang="en-US" dirty="0"/>
              <a:t>For loop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508353"/>
            <a:ext cx="8534400" cy="636813"/>
          </a:xfrm>
        </p:spPr>
        <p:txBody>
          <a:bodyPr/>
          <a:lstStyle/>
          <a:p>
            <a:r>
              <a:rPr lang="en-US" altLang="en-US" dirty="0"/>
              <a:t>General form</a:t>
            </a:r>
          </a:p>
          <a:p>
            <a:endParaRPr lang="en-US" altLang="en-US" dirty="0"/>
          </a:p>
          <a:p>
            <a:pPr>
              <a:buFont typeface="Wingdings 2" pitchFamily="18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1828800" y="2590800"/>
            <a:ext cx="8610600" cy="1752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en-US" sz="3600" b="1" dirty="0">
                <a:ea typeface="ＭＳ Ｐゴシック" pitchFamily="34" charset="-128"/>
              </a:rPr>
              <a:t>for </a:t>
            </a:r>
            <a:r>
              <a:rPr lang="en-US" sz="3600" dirty="0">
                <a:ea typeface="ＭＳ Ｐゴシック" pitchFamily="34" charset="-128"/>
              </a:rPr>
              <a:t>variable </a:t>
            </a:r>
            <a:r>
              <a:rPr lang="en-US" sz="3600" b="1" dirty="0">
                <a:ea typeface="ＭＳ Ｐゴシック" pitchFamily="34" charset="-128"/>
              </a:rPr>
              <a:t>in </a:t>
            </a:r>
            <a:r>
              <a:rPr lang="en-US" sz="3600" dirty="0">
                <a:ea typeface="ＭＳ Ｐゴシック" pitchFamily="34" charset="-128"/>
              </a:rPr>
              <a:t>sequence</a:t>
            </a:r>
            <a:r>
              <a:rPr lang="en-US" sz="3600" b="1" dirty="0">
                <a:ea typeface="ＭＳ Ｐゴシック" pitchFamily="34" charset="-128"/>
              </a:rPr>
              <a:t>:</a:t>
            </a:r>
          </a:p>
          <a:p>
            <a:pPr eaLnBrk="0" hangingPunct="0">
              <a:defRPr/>
            </a:pPr>
            <a:r>
              <a:rPr lang="en-US" sz="3600" b="1" dirty="0">
                <a:ea typeface="ＭＳ Ｐゴシック" pitchFamily="34" charset="-128"/>
              </a:rPr>
              <a:t>    </a:t>
            </a:r>
            <a:r>
              <a:rPr lang="en-US" sz="3600" dirty="0">
                <a:ea typeface="ＭＳ Ｐゴシック" pitchFamily="34" charset="-128"/>
              </a:rPr>
              <a:t>stmt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2A4B1-3C3F-434B-82AB-433BC07A1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D9E6-96B8-5742-8138-625C815B15A1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AF221-A5F2-7540-A3FD-E6B1E2148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14EE-38EE-194C-B026-DEB16F10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46C3-F161-974A-9FDA-27CA5BBB23C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1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A9D29-2196-4244-A259-BF40679BF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 loop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7F6C74-D79F-144A-8220-5E7ED0F207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506651"/>
            <a:ext cx="11039839" cy="428999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62C5D-AA80-4641-9B65-2CF772C48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AA909-4ECE-994C-BEE3-7231D3980276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F5C28-CEF4-404E-BE8A-C60F7161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726A9-93A0-D443-98C7-7DCE2495D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46C3-F161-974A-9FDA-27CA5BBB23C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47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range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range(s, e, d)</a:t>
            </a:r>
          </a:p>
          <a:p>
            <a:pPr lvl="1"/>
            <a:r>
              <a:rPr lang="en-US" sz="3200" dirty="0"/>
              <a:t>generates the list</a:t>
            </a:r>
            <a:r>
              <a:rPr lang="en-US" sz="3200" dirty="0" smtClean="0"/>
              <a:t>:</a:t>
            </a:r>
          </a:p>
          <a:p>
            <a:pPr lvl="1"/>
            <a:r>
              <a:rPr lang="en-US" sz="3200" dirty="0" smtClean="0">
                <a:solidFill>
                  <a:srgbClr val="FF0000"/>
                </a:solidFill>
              </a:rPr>
              <a:t>[</a:t>
            </a:r>
            <a:r>
              <a:rPr lang="en-US" sz="3200" dirty="0">
                <a:solidFill>
                  <a:srgbClr val="FF0000"/>
                </a:solidFill>
              </a:rPr>
              <a:t>s, </a:t>
            </a:r>
            <a:r>
              <a:rPr lang="en-US" sz="3200" dirty="0" err="1">
                <a:solidFill>
                  <a:srgbClr val="FF0000"/>
                </a:solidFill>
              </a:rPr>
              <a:t>s+d</a:t>
            </a:r>
            <a:r>
              <a:rPr lang="en-US" sz="3200" dirty="0">
                <a:solidFill>
                  <a:srgbClr val="FF0000"/>
                </a:solidFill>
              </a:rPr>
              <a:t>, s+2*d, …, </a:t>
            </a:r>
            <a:r>
              <a:rPr lang="en-US" sz="3200" dirty="0" err="1">
                <a:solidFill>
                  <a:srgbClr val="FF0000"/>
                </a:solidFill>
              </a:rPr>
              <a:t>s+k</a:t>
            </a:r>
            <a:r>
              <a:rPr lang="en-US" sz="3200" dirty="0">
                <a:solidFill>
                  <a:srgbClr val="FF0000"/>
                </a:solidFill>
              </a:rPr>
              <a:t>*d]</a:t>
            </a:r>
            <a:r>
              <a:rPr lang="en-US" sz="3200" dirty="0"/>
              <a:t> </a:t>
            </a:r>
          </a:p>
          <a:p>
            <a:pPr marL="457200" lvl="1" indent="0" algn="ctr">
              <a:buNone/>
            </a:pPr>
            <a:r>
              <a:rPr lang="en-US" sz="3200" dirty="0"/>
              <a:t>where </a:t>
            </a:r>
            <a:r>
              <a:rPr lang="en-US" sz="3200" dirty="0" err="1">
                <a:solidFill>
                  <a:srgbClr val="FF0000"/>
                </a:solidFill>
              </a:rPr>
              <a:t>s+k</a:t>
            </a:r>
            <a:r>
              <a:rPr lang="en-US" sz="3200" dirty="0">
                <a:solidFill>
                  <a:srgbClr val="FF0000"/>
                </a:solidFill>
              </a:rPr>
              <a:t>*d &lt; e &lt;= s+(k+1)*d</a:t>
            </a:r>
          </a:p>
          <a:p>
            <a:r>
              <a:rPr lang="en-US" sz="3600" dirty="0"/>
              <a:t>range(s, e) is equivalent to range(s, e, 1)</a:t>
            </a:r>
          </a:p>
          <a:p>
            <a:r>
              <a:rPr lang="en-US" sz="3600" dirty="0"/>
              <a:t>range(e) is equivalent to range(0, e)</a:t>
            </a:r>
          </a:p>
          <a:p>
            <a:endParaRPr lang="en-US" sz="3600" dirty="0"/>
          </a:p>
          <a:p>
            <a:pPr marL="457200" lvl="1" indent="0" algn="ctr">
              <a:buNone/>
            </a:pP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BAA236F-AC23-4C40-8444-2FA4C75E98C3}"/>
              </a:ext>
            </a:extLst>
          </p:cNvPr>
          <p:cNvSpPr/>
          <p:nvPr/>
        </p:nvSpPr>
        <p:spPr>
          <a:xfrm>
            <a:off x="2743200" y="5410200"/>
            <a:ext cx="7467600" cy="946150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Exercise</a:t>
            </a:r>
            <a:r>
              <a:rPr lang="en-US" sz="3200" dirty="0"/>
              <a:t>: What if d is negative? Use python interpreter to find out.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125F6-42AA-0F4D-BD16-9B0332A1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4CB48-7B39-4041-AAE6-6CD09EB13F75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48711E-BE7F-C34C-A1FF-72FE4C480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0A9C2-682D-9E48-8A01-50C1A7ACC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46C3-F161-974A-9FDA-27CA5BBB23C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4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auto">
          <a:xfrm>
            <a:off x="1905000" y="2819400"/>
            <a:ext cx="8514080" cy="3416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+mn-ea"/>
              </a:rPr>
              <a:t># print all odd numbers &lt; 10</a:t>
            </a:r>
          </a:p>
          <a:p>
            <a:r>
              <a:rPr lang="en-US" sz="3200" b="1" dirty="0" err="1"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 = 1</a:t>
            </a:r>
          </a:p>
          <a:p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while </a:t>
            </a:r>
            <a:r>
              <a:rPr lang="en-US" sz="3200" b="1" dirty="0" err="1"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 &lt;= 10:	</a:t>
            </a:r>
          </a:p>
          <a:p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   if i%2==0: </a:t>
            </a:r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+mn-ea"/>
              </a:rPr>
              <a:t># even</a:t>
            </a:r>
          </a:p>
          <a:p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      continue</a:t>
            </a:r>
          </a:p>
          <a:p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   print (</a:t>
            </a:r>
            <a:r>
              <a:rPr lang="en-US" sz="3200" b="1" dirty="0" err="1"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, end=</a:t>
            </a:r>
            <a:r>
              <a:rPr lang="en-US" sz="3200" b="1" i="1" dirty="0">
                <a:latin typeface="Courier New" pitchFamily="49" charset="0"/>
                <a:cs typeface="Courier New" pitchFamily="49" charset="0"/>
                <a:sym typeface="+mn-ea"/>
              </a:rPr>
              <a:t>‘ ‘</a:t>
            </a:r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)</a:t>
            </a:r>
          </a:p>
          <a:p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   </a:t>
            </a:r>
            <a:r>
              <a:rPr lang="en-US" sz="3200" b="1" dirty="0" err="1"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 = i+1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300" y="315685"/>
            <a:ext cx="7772400" cy="925285"/>
          </a:xfrm>
        </p:spPr>
        <p:txBody>
          <a:bodyPr>
            <a:normAutofit/>
          </a:bodyPr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567543"/>
            <a:ext cx="8001000" cy="685800"/>
          </a:xfrm>
        </p:spPr>
        <p:txBody>
          <a:bodyPr>
            <a:normAutofit/>
          </a:bodyPr>
          <a:lstStyle/>
          <a:p>
            <a:r>
              <a:rPr lang="en-US" dirty="0"/>
              <a:t>What will be the output of the following program</a:t>
            </a:r>
            <a:endParaRPr lang="en-US" sz="3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ED5F9-8404-0344-9F23-12B020E6C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4F8F8-847A-6449-9214-7CDD8D06DF3E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F30ED-61F2-1E41-A092-D285D7B0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57A0A-ADA6-1B4B-92DA-99E289BF1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46C3-F161-974A-9FDA-27CA5BBB23C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9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auto">
          <a:xfrm>
            <a:off x="1905000" y="2819400"/>
            <a:ext cx="8514080" cy="3416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+mn-ea"/>
              </a:rPr>
              <a:t># print all odd numbers &lt; 10</a:t>
            </a:r>
          </a:p>
          <a:p>
            <a:r>
              <a:rPr lang="en-US" sz="3200" b="1" dirty="0" err="1"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 = 1</a:t>
            </a:r>
          </a:p>
          <a:p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while </a:t>
            </a:r>
            <a:r>
              <a:rPr lang="en-US" sz="3200" b="1" dirty="0" err="1"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 &lt;= 10:	</a:t>
            </a:r>
          </a:p>
          <a:p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   if i%2==0: </a:t>
            </a:r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+mn-ea"/>
              </a:rPr>
              <a:t># even</a:t>
            </a:r>
          </a:p>
          <a:p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      continue</a:t>
            </a:r>
          </a:p>
          <a:p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   print (</a:t>
            </a:r>
            <a:r>
              <a:rPr lang="en-US" sz="3200" b="1" dirty="0" err="1"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, end=</a:t>
            </a:r>
            <a:r>
              <a:rPr lang="en-US" sz="3200" b="1" i="1" dirty="0">
                <a:latin typeface="Courier New" pitchFamily="49" charset="0"/>
                <a:cs typeface="Courier New" pitchFamily="49" charset="0"/>
                <a:sym typeface="+mn-ea"/>
              </a:rPr>
              <a:t>‘ ‘</a:t>
            </a:r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)</a:t>
            </a:r>
          </a:p>
          <a:p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   </a:t>
            </a:r>
            <a:r>
              <a:rPr lang="en-US" sz="3200" b="1" dirty="0" err="1"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latin typeface="Courier New" pitchFamily="49" charset="0"/>
                <a:cs typeface="Courier New" pitchFamily="49" charset="0"/>
                <a:sym typeface="+mn-ea"/>
              </a:rPr>
              <a:t> = i+1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83136"/>
            <a:ext cx="7772400" cy="838200"/>
          </a:xfrm>
        </p:spPr>
        <p:txBody>
          <a:bodyPr>
            <a:normAutofit/>
          </a:bodyPr>
          <a:lstStyle/>
          <a:p>
            <a:r>
              <a:rPr lang="en-US" dirty="0"/>
              <a:t>Continue and Update Expr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300" y="1208423"/>
            <a:ext cx="8001000" cy="945136"/>
          </a:xfrm>
        </p:spPr>
        <p:txBody>
          <a:bodyPr>
            <a:normAutofit/>
          </a:bodyPr>
          <a:lstStyle/>
          <a:p>
            <a:r>
              <a:rPr lang="en-US" dirty="0"/>
              <a:t>Make sure continue does not bypass update-expression for while loops</a:t>
            </a:r>
            <a:endParaRPr lang="en-US" sz="30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3000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9" name="Curved Connector 8"/>
          <p:cNvCxnSpPr/>
          <p:nvPr/>
        </p:nvCxnSpPr>
        <p:spPr bwMode="auto">
          <a:xfrm rot="10800000" flipV="1">
            <a:off x="4419602" y="3810000"/>
            <a:ext cx="2717751" cy="2133599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7352" y="3459954"/>
            <a:ext cx="3170355" cy="18158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</a:rPr>
              <a:t>i</a:t>
            </a:r>
            <a:r>
              <a:rPr lang="en-US" sz="2800" dirty="0">
                <a:solidFill>
                  <a:srgbClr val="C00000"/>
                </a:solidFill>
              </a:rPr>
              <a:t> is not incremented </a:t>
            </a:r>
          </a:p>
          <a:p>
            <a:r>
              <a:rPr lang="en-US" sz="2800" dirty="0">
                <a:solidFill>
                  <a:srgbClr val="C00000"/>
                </a:solidFill>
              </a:rPr>
              <a:t>when even number </a:t>
            </a:r>
          </a:p>
          <a:p>
            <a:r>
              <a:rPr lang="en-US" sz="2800" dirty="0">
                <a:solidFill>
                  <a:srgbClr val="C00000"/>
                </a:solidFill>
              </a:rPr>
              <a:t>encountered.</a:t>
            </a:r>
          </a:p>
          <a:p>
            <a:r>
              <a:rPr lang="en-US" sz="2800" dirty="0">
                <a:solidFill>
                  <a:srgbClr val="C00000"/>
                </a:solidFill>
              </a:rPr>
              <a:t>Infinite loop!!</a:t>
            </a:r>
          </a:p>
        </p:txBody>
      </p:sp>
      <p:pic>
        <p:nvPicPr>
          <p:cNvPr id="2050" name="Picture 2" descr="C:\Users\karkare\AppData\Local\Microsoft\Windows\INetCache\IE\45LGD9AS\MC900238957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1676400"/>
            <a:ext cx="1396756" cy="113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89915-B3ED-FF4D-95A2-BE936DA4C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0008-5B7E-E145-A103-A18A64BA1817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11C73-15A8-D444-9CEF-8A1B2E8AC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1C469-5D12-C249-B3E0-6E242E78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46C3-F161-974A-9FDA-27CA5BBB23C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8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496"/>
            <a:ext cx="12192000" cy="133350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IN" sz="7200" b="1" dirty="0">
                <a:solidFill>
                  <a:srgbClr val="A2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b="1" dirty="0">
              <a:solidFill>
                <a:srgbClr val="A2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AC757-DDD3-264F-B77D-C44FF96F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34455-7595-7945-864A-6254BC11D3A3}" type="datetime1">
              <a:rPr lang="en-IN" smtClean="0"/>
              <a:pPr/>
              <a:t>15-01-2025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46BFF-1913-2942-A686-B7A2F8172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Python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BCCB6-5866-B84A-B6CB-0D0953C8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FD74-5DBD-DC4F-A114-E2C9B32FA9B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9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660</Words>
  <Application>Microsoft Office PowerPoint</Application>
  <PresentationFormat>Widescreen</PresentationFormat>
  <Paragraphs>223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ＭＳ Ｐゴシック</vt:lpstr>
      <vt:lpstr>Arial</vt:lpstr>
      <vt:lpstr>Arial Narrow</vt:lpstr>
      <vt:lpstr>Calibri</vt:lpstr>
      <vt:lpstr>Calibri Light</vt:lpstr>
      <vt:lpstr>Courier New</vt:lpstr>
      <vt:lpstr>Times New Roman</vt:lpstr>
      <vt:lpstr>Verdana</vt:lpstr>
      <vt:lpstr>Wingdings</vt:lpstr>
      <vt:lpstr>Wingdings 2</vt:lpstr>
      <vt:lpstr>Office Theme</vt:lpstr>
      <vt:lpstr>Branch - CSE Python Programming</vt:lpstr>
      <vt:lpstr>Loops in Python</vt:lpstr>
      <vt:lpstr>While Loop</vt:lpstr>
      <vt:lpstr>Program…</vt:lpstr>
      <vt:lpstr>Printing Multiplication Table</vt:lpstr>
      <vt:lpstr>Printing Multiplication Table</vt:lpstr>
      <vt:lpstr>Printing Multiplication Table</vt:lpstr>
      <vt:lpstr>For Loop</vt:lpstr>
      <vt:lpstr>For loop</vt:lpstr>
      <vt:lpstr>For loop in Python</vt:lpstr>
      <vt:lpstr>For loop</vt:lpstr>
      <vt:lpstr>range</vt:lpstr>
      <vt:lpstr>Quiz</vt:lpstr>
      <vt:lpstr>Continue and Update Expr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- CSE Python Programming</dc:title>
  <dc:creator>Shobhit Tyagi</dc:creator>
  <cp:lastModifiedBy>Smita Tiwari</cp:lastModifiedBy>
  <cp:revision>12</cp:revision>
  <dcterms:created xsi:type="dcterms:W3CDTF">2021-12-21T18:25:55Z</dcterms:created>
  <dcterms:modified xsi:type="dcterms:W3CDTF">2025-01-15T10:54:14Z</dcterms:modified>
</cp:coreProperties>
</file>