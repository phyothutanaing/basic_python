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21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23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10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17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 – Part 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35F5-A3D4-8847-9268-B0348AD6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Delete List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12856-1E40-B448-BEA7-644FAA04F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13141" cy="1007222"/>
          </a:xfrm>
        </p:spPr>
        <p:txBody>
          <a:bodyPr/>
          <a:lstStyle/>
          <a:p>
            <a:r>
              <a:rPr lang="en-US" dirty="0"/>
              <a:t>We can delete one or more items from a list using the </a:t>
            </a:r>
            <a:r>
              <a:rPr lang="en-US" b="1" dirty="0"/>
              <a:t>del</a:t>
            </a:r>
            <a:r>
              <a:rPr lang="en-US" dirty="0"/>
              <a:t> statement (which we discussed in Lecture 11 – Strings – Part 1).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AFDDC-4BCE-9A42-BF51-7F19103C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36" y="2561385"/>
            <a:ext cx="5584534" cy="379496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4E080-2223-D14F-BF1D-A239190D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48CF5-DE4B-4C4C-9834-DF668BB903A3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53E03-D634-A14C-9C61-E36AA70C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2E767-76E4-7946-8814-5FD7427A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A0B08-B6F4-3148-904D-40274380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666" y="4751295"/>
            <a:ext cx="7004676" cy="1605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962932-395E-524F-AE2A-C3F35E66786B}"/>
              </a:ext>
            </a:extLst>
          </p:cNvPr>
          <p:cNvSpPr txBox="1"/>
          <p:nvPr/>
        </p:nvSpPr>
        <p:spPr>
          <a:xfrm>
            <a:off x="4846666" y="4228034"/>
            <a:ext cx="1667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90864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BB1C-5AB6-F348-9256-026DD133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Delete List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8E79B-8133-884B-B7D8-516C61688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</a:t>
            </a:r>
            <a:r>
              <a:rPr lang="en-US" b="1" dirty="0"/>
              <a:t>remove()</a:t>
            </a:r>
            <a:r>
              <a:rPr lang="en-US" dirty="0"/>
              <a:t> to remove the given item or </a:t>
            </a:r>
            <a:r>
              <a:rPr lang="en-US" b="1" dirty="0"/>
              <a:t>pop()</a:t>
            </a:r>
            <a:r>
              <a:rPr lang="en-US" dirty="0"/>
              <a:t> to remove an item at the given index.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pop()</a:t>
            </a:r>
            <a:r>
              <a:rPr lang="en-US" dirty="0"/>
              <a:t> method removes and returns the last item if the index is not provided. </a:t>
            </a:r>
          </a:p>
          <a:p>
            <a:pPr lvl="1"/>
            <a:r>
              <a:rPr lang="en-US" dirty="0"/>
              <a:t>This helps us implement lists as stacks (first in, last out data structures).</a:t>
            </a:r>
          </a:p>
          <a:p>
            <a:endParaRPr lang="en-US" dirty="0"/>
          </a:p>
          <a:p>
            <a:r>
              <a:rPr lang="en-US" dirty="0"/>
              <a:t>And, if we have to empty the whole list, we can use the </a:t>
            </a:r>
            <a:r>
              <a:rPr lang="en-US" b="1" dirty="0"/>
              <a:t>clear()</a:t>
            </a:r>
            <a:r>
              <a:rPr lang="en-US" dirty="0"/>
              <a:t> method.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856C8-6987-4F42-82EA-46F1F3F0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E388-5D4B-7F49-AB32-003E18FF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20B81-F821-B142-A7C7-40CDC5EF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61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856C8-6987-4F42-82EA-46F1F3F0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E388-5D4B-7F49-AB32-003E18FF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20B81-F821-B142-A7C7-40CDC5EF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34778-3572-AA46-9CD2-8CD87E7BF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7" y="275852"/>
            <a:ext cx="5856480" cy="6080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043054-4933-7243-B893-C8324F5C4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981" y="1625553"/>
            <a:ext cx="5283200" cy="2057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F13E49-DD87-ED4D-9261-043DD3206BC6}"/>
              </a:ext>
            </a:extLst>
          </p:cNvPr>
          <p:cNvSpPr txBox="1"/>
          <p:nvPr/>
        </p:nvSpPr>
        <p:spPr>
          <a:xfrm>
            <a:off x="6549981" y="1163888"/>
            <a:ext cx="1667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77742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676E-563F-4C45-BA5A-53BBEF1E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Methods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4B26B74-C57B-7D49-ACC4-B5DCF3D580C1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529292" y="1690688"/>
          <a:ext cx="745290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159">
                  <a:extLst>
                    <a:ext uri="{9D8B030D-6E8A-4147-A177-3AD203B41FA5}">
                      <a16:colId xmlns:a16="http://schemas.microsoft.com/office/drawing/2014/main" val="2483590827"/>
                    </a:ext>
                  </a:extLst>
                </a:gridCol>
                <a:gridCol w="6159749">
                  <a:extLst>
                    <a:ext uri="{9D8B030D-6E8A-4147-A177-3AD203B41FA5}">
                      <a16:colId xmlns:a16="http://schemas.microsoft.com/office/drawing/2014/main" val="2290877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6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append()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adds an element to the end of the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970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extend()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adds all elements of a list to another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8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insert()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inserts an item at the defined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0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remove()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an item from the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0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and removes an element at the given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58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all items from the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732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index()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index of the first matched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13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count()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count of the no. of items passed as an 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70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sort()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sort items in a list in ascending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137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reverse()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reverse the order of items in the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631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copy()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shallow copy of the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02641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4C3CE-675C-0C41-AC20-4497F1E1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090F1-D272-6C46-A30A-22471B9A0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C427E-5F27-7745-8DBC-25DB6B6D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5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676E-563F-4C45-BA5A-53BBEF1E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List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4C3CE-675C-0C41-AC20-4497F1E1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090F1-D272-6C46-A30A-22471B9A0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C427E-5F27-7745-8DBC-25DB6B6D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F8B995-9422-5647-B5EC-D4A536D94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820063" cy="4493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8AC626-D95C-9D48-A680-4C3059369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17" y="2400829"/>
            <a:ext cx="4610100" cy="1003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3CB3C7-7C68-6440-A1F1-8FA5647502FF}"/>
              </a:ext>
            </a:extLst>
          </p:cNvPr>
          <p:cNvSpPr txBox="1"/>
          <p:nvPr/>
        </p:nvSpPr>
        <p:spPr>
          <a:xfrm>
            <a:off x="7126817" y="1939164"/>
            <a:ext cx="1667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72218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5C9D-B2B6-F447-8D83-E90FB9ED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List Operations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6B775-13F3-1649-A84A-AB4A5FD97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6642"/>
          </a:xfrm>
        </p:spPr>
        <p:txBody>
          <a:bodyPr/>
          <a:lstStyle/>
          <a:p>
            <a:r>
              <a:rPr lang="en-US" dirty="0"/>
              <a:t>List Membership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D10DD-4F0E-B94C-A2AD-14612018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1D073-D354-5749-9A3E-541121D5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A36D-5CFA-6542-BF71-12A37A10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8C80B-B6B1-3549-A48D-78E2C45F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2267"/>
            <a:ext cx="8466878" cy="35736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501C89-EE74-204B-9311-3825FF36BFD9}"/>
              </a:ext>
            </a:extLst>
          </p:cNvPr>
          <p:cNvSpPr txBox="1"/>
          <p:nvPr/>
        </p:nvSpPr>
        <p:spPr>
          <a:xfrm>
            <a:off x="9686365" y="3646146"/>
            <a:ext cx="1667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36C721-F5C6-5A41-8E19-F24D78AF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867" y="4107811"/>
            <a:ext cx="1083733" cy="122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1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6689-8ABF-8A4D-A7FC-46E7DD23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Through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F9E56-E753-6A49-9372-BB08BB6E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1975"/>
          </a:xfrm>
        </p:spPr>
        <p:txBody>
          <a:bodyPr/>
          <a:lstStyle/>
          <a:p>
            <a:r>
              <a:rPr lang="en-US" dirty="0"/>
              <a:t>Using a </a:t>
            </a:r>
            <a:r>
              <a:rPr lang="en-US" b="1" dirty="0"/>
              <a:t>for</a:t>
            </a:r>
            <a:r>
              <a:rPr lang="en-US" dirty="0"/>
              <a:t> loop we can iterate through each item in a list.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07E2-2B04-6845-8995-3586C2A2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977A9-8F63-934D-8D1C-62C4ADF5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524CD-D382-5048-875D-FDBA30148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1305B2-A9A0-BE4A-8FA8-3BF94CBCA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16" y="2589212"/>
            <a:ext cx="9693855" cy="1017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F8E7F6-C2D1-0B43-AFE0-BE2BC2B7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216" y="4619359"/>
            <a:ext cx="3104782" cy="1349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103255-E17E-A440-BA68-1FF00047F451}"/>
              </a:ext>
            </a:extLst>
          </p:cNvPr>
          <p:cNvSpPr txBox="1"/>
          <p:nvPr/>
        </p:nvSpPr>
        <p:spPr>
          <a:xfrm>
            <a:off x="1056216" y="4110365"/>
            <a:ext cx="1667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673231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FBA1-6DD9-DB42-B929-6D447439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 Amazing Things You Can Do With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3C31-581D-2646-959C-5ED1B7C4C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Retrieving a certain portion of a list</a:t>
            </a:r>
          </a:p>
          <a:p>
            <a:r>
              <a:rPr lang="en-US" dirty="0"/>
              <a:t>Perform similar operation on every element of the list</a:t>
            </a:r>
          </a:p>
          <a:p>
            <a:r>
              <a:rPr lang="en-US" dirty="0"/>
              <a:t>Reversing a list</a:t>
            </a:r>
          </a:p>
          <a:p>
            <a:r>
              <a:rPr lang="en-US" dirty="0"/>
              <a:t>Iterating over multiple lists simultaneously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0D0C4-FC04-0344-BBA9-6345DB21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862DC-6B90-8548-9478-6D5965118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DD02-3C0E-154F-8262-ABB33DE2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22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4F31-CAD7-A941-9111-E32FB3DA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Retrieving a certain portion of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10D0A-3922-AD49-9CA8-2224C92D0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47308"/>
          </a:xfrm>
        </p:spPr>
        <p:txBody>
          <a:bodyPr>
            <a:normAutofit/>
          </a:bodyPr>
          <a:lstStyle/>
          <a:p>
            <a:r>
              <a:rPr lang="en-US" dirty="0"/>
              <a:t>We might want to retrieve a certain portion of a list and make a new list out of it. We can achieve this using the </a:t>
            </a:r>
            <a:r>
              <a:rPr lang="en-US" b="1" dirty="0"/>
              <a:t>slice()</a:t>
            </a:r>
            <a:r>
              <a:rPr lang="en-US" dirty="0"/>
              <a:t> method.</a:t>
            </a:r>
          </a:p>
          <a:p>
            <a:pPr lvl="1"/>
            <a:r>
              <a:rPr lang="en-US" dirty="0"/>
              <a:t>It takes </a:t>
            </a:r>
            <a:r>
              <a:rPr lang="en-US" b="1" dirty="0"/>
              <a:t>starting index value</a:t>
            </a:r>
            <a:r>
              <a:rPr lang="en-US" dirty="0"/>
              <a:t>, </a:t>
            </a:r>
            <a:r>
              <a:rPr lang="en-US" b="1" dirty="0"/>
              <a:t>ending index value</a:t>
            </a:r>
            <a:r>
              <a:rPr lang="en-US" dirty="0"/>
              <a:t> and the </a:t>
            </a:r>
            <a:r>
              <a:rPr lang="en-US" b="1" dirty="0"/>
              <a:t>increment order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Just like the </a:t>
            </a:r>
            <a:r>
              <a:rPr lang="en-US" b="1" dirty="0"/>
              <a:t>range()</a:t>
            </a:r>
            <a:r>
              <a:rPr lang="en-US" dirty="0"/>
              <a:t>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3970B-AC36-804A-A5F5-C344009F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B5776-5C7F-9946-B9AD-55164571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2564-FF29-A34E-B0B3-3CEE352C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E957F9FC-D8DD-724B-9CDD-E57FD906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33" y="3707870"/>
            <a:ext cx="8209510" cy="17154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494132-77B2-8747-A5D9-19CDAF8AE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423290"/>
            <a:ext cx="4234812" cy="5232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E52AA1-F1CB-2140-A317-732F9D629BED}"/>
              </a:ext>
            </a:extLst>
          </p:cNvPr>
          <p:cNvSpPr txBox="1"/>
          <p:nvPr/>
        </p:nvSpPr>
        <p:spPr>
          <a:xfrm>
            <a:off x="880533" y="5423290"/>
            <a:ext cx="1667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102880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4F31-CAD7-A941-9111-E32FB3DA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 similar operation on every element of the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10D0A-3922-AD49-9CA8-2224C92D0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47308"/>
          </a:xfrm>
        </p:spPr>
        <p:txBody>
          <a:bodyPr>
            <a:normAutofit/>
          </a:bodyPr>
          <a:lstStyle/>
          <a:p>
            <a:r>
              <a:rPr lang="en-US" dirty="0"/>
              <a:t>If you want to perform a set of operations on every element of a list, you can do this using the </a:t>
            </a:r>
            <a:r>
              <a:rPr lang="en-US" b="1" dirty="0"/>
              <a:t>map()</a:t>
            </a:r>
            <a:r>
              <a:rPr lang="en-US" dirty="0"/>
              <a:t> function.</a:t>
            </a:r>
          </a:p>
          <a:p>
            <a:pPr lvl="1"/>
            <a:r>
              <a:rPr lang="en-US" dirty="0"/>
              <a:t>You only need to write your function including those operations and then use the </a:t>
            </a:r>
            <a:r>
              <a:rPr lang="en-US" b="1" dirty="0"/>
              <a:t>map()</a:t>
            </a:r>
            <a:r>
              <a:rPr lang="en-US" dirty="0"/>
              <a:t> function which takes a function and an iterable (list in this case).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3970B-AC36-804A-A5F5-C344009F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B5776-5C7F-9946-B9AD-55164571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2564-FF29-A34E-B0B3-3CEE352C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52AA1-F1CB-2140-A317-732F9D629BED}"/>
              </a:ext>
            </a:extLst>
          </p:cNvPr>
          <p:cNvSpPr txBox="1"/>
          <p:nvPr/>
        </p:nvSpPr>
        <p:spPr>
          <a:xfrm>
            <a:off x="838200" y="5646825"/>
            <a:ext cx="1667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E9F7CF-8430-C14B-BF54-6D1FC2A5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11" y="3541044"/>
            <a:ext cx="6651856" cy="2065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BF8D58-AF81-BA46-B368-52AC4B14C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717961"/>
            <a:ext cx="4034562" cy="41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54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CF12-458F-514C-83B8-6D864AF2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Reversing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A403D-590B-D141-877B-5082773D0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8108"/>
          </a:xfrm>
        </p:spPr>
        <p:txBody>
          <a:bodyPr>
            <a:normAutofit/>
          </a:bodyPr>
          <a:lstStyle/>
          <a:p>
            <a:r>
              <a:rPr lang="en-US" dirty="0"/>
              <a:t>It is common trick that is known to almost all Python programmers, but it is worth starting with. In this case, we use the [ ] operator to traverse through a list in the reverse direction by setting the third parameter to -1.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E9C7-F94B-C649-B89C-66B997F5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F111C-A7D1-E44F-99B6-132688D9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282FF-6E50-1647-B6E2-27CA0E50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BCD02F-07A8-914A-9D3F-67F167816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33" y="3758669"/>
            <a:ext cx="9437723" cy="160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00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CF12-458F-514C-83B8-6D864AF2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over multiple lists simultaneously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A403D-590B-D141-877B-5082773D0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0467" cy="4033308"/>
          </a:xfrm>
        </p:spPr>
        <p:txBody>
          <a:bodyPr>
            <a:normAutofit/>
          </a:bodyPr>
          <a:lstStyle/>
          <a:p>
            <a:r>
              <a:rPr lang="en-US" dirty="0"/>
              <a:t>You have two lists whose elements you want to access simultaneously. </a:t>
            </a:r>
          </a:p>
          <a:p>
            <a:r>
              <a:rPr lang="en-US" dirty="0"/>
              <a:t>The </a:t>
            </a:r>
            <a:r>
              <a:rPr lang="en-US" b="1" dirty="0"/>
              <a:t>zip()</a:t>
            </a:r>
            <a:r>
              <a:rPr lang="en-US" dirty="0"/>
              <a:t> function allows you to do that using one line of code. </a:t>
            </a:r>
          </a:p>
          <a:p>
            <a:r>
              <a:rPr lang="en-US" dirty="0"/>
              <a:t>This function takes multiple lists as the arguments and iterates through them at the same time. </a:t>
            </a:r>
          </a:p>
          <a:p>
            <a:r>
              <a:rPr lang="en-US" dirty="0"/>
              <a:t>The iteration stops when the smaller list is exhausted.</a:t>
            </a:r>
          </a:p>
          <a:p>
            <a:endParaRPr lang="en-US" dirty="0"/>
          </a:p>
          <a:p>
            <a:r>
              <a:rPr lang="en-US" dirty="0"/>
              <a:t>The best part about the zip function is that it can be used to iterate through multiple lists at the same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E9C7-F94B-C649-B89C-66B997F5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F111C-A7D1-E44F-99B6-132688D9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282FF-6E50-1647-B6E2-27CA0E50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61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CF12-458F-514C-83B8-6D864AF2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over multiple lists simultaneously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E9C7-F94B-C649-B89C-66B997F5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6F03-A2D3-1548-8034-F47D1D9DD02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F111C-A7D1-E44F-99B6-132688D9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282FF-6E50-1647-B6E2-27CA0E50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96FE-40EB-444B-809E-BD9B9B2C958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203B817-A47C-D64A-9F5F-78B10A6BE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77" y="1770592"/>
            <a:ext cx="11877459" cy="379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33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31C-554F-874A-920F-A99A2B339E18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2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642</Words>
  <Application>Microsoft Office PowerPoint</Application>
  <PresentationFormat>Widescreen</PresentationFormat>
  <Paragraphs>119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Delete List Elements</vt:lpstr>
      <vt:lpstr>Delete List Elements</vt:lpstr>
      <vt:lpstr>PowerPoint Presentation</vt:lpstr>
      <vt:lpstr>Python List Methods</vt:lpstr>
      <vt:lpstr>Python List Methods</vt:lpstr>
      <vt:lpstr>Other List Operations in Python</vt:lpstr>
      <vt:lpstr>Iterating Through a List</vt:lpstr>
      <vt:lpstr>4 Amazing Things You Can Do With Lists</vt:lpstr>
      <vt:lpstr>Retrieving a certain portion of a list</vt:lpstr>
      <vt:lpstr>Perform similar operation on every element of the list</vt:lpstr>
      <vt:lpstr>Reversing a list</vt:lpstr>
      <vt:lpstr>Iterating over multiple lists simultaneously</vt:lpstr>
      <vt:lpstr>Iterating over multiple lists simultaneously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2025-01-28T16:46:03Z</dcterms:modified>
</cp:coreProperties>
</file>