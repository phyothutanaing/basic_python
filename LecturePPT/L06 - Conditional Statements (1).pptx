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8" r:id="rId2"/>
    <p:sldId id="364" r:id="rId3"/>
    <p:sldId id="377" r:id="rId4"/>
    <p:sldId id="369" r:id="rId5"/>
    <p:sldId id="372" r:id="rId6"/>
    <p:sldId id="373" r:id="rId7"/>
    <p:sldId id="371" r:id="rId8"/>
    <p:sldId id="370" r:id="rId9"/>
    <p:sldId id="368" r:id="rId10"/>
    <p:sldId id="367" r:id="rId11"/>
    <p:sldId id="379" r:id="rId12"/>
    <p:sldId id="380" r:id="rId13"/>
    <p:sldId id="381" r:id="rId14"/>
    <p:sldId id="383" r:id="rId15"/>
    <p:sldId id="3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7" d="100"/>
          <a:sy n="87" d="100"/>
        </p:scale>
        <p:origin x="52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5BD7A-4D6C-4231-A97E-295702CBD2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56A01D6-45BE-4455-994C-8F491B0EE4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68301E-986C-4840-BED5-31A87A9EF889}"/>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5" name="Footer Placeholder 4">
            <a:extLst>
              <a:ext uri="{FF2B5EF4-FFF2-40B4-BE49-F238E27FC236}">
                <a16:creationId xmlns:a16="http://schemas.microsoft.com/office/drawing/2014/main" id="{56D8A464-EFA7-4F11-9840-DF23AEB233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64E0D-0217-4A6F-8CDB-8FEF40BBA0A3}"/>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494704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96334-3FC3-4F60-9381-1830F5EBE9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B6F0A8-8566-4193-BE40-1626D2E84E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B1D1EF-009C-4A25-BB55-D00F989E65D4}"/>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5" name="Footer Placeholder 4">
            <a:extLst>
              <a:ext uri="{FF2B5EF4-FFF2-40B4-BE49-F238E27FC236}">
                <a16:creationId xmlns:a16="http://schemas.microsoft.com/office/drawing/2014/main" id="{154B8C7D-8AE5-4A29-B8F4-9EB18AD9EA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C1CE37-841F-489C-B77D-CE30DF44B19D}"/>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826265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E3794-F8D2-4C81-A35F-5308DADD30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21414D-E3B6-426B-99C7-C5B65969F7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BF55B9-D674-450E-A1E0-4CC9BD13E7E9}"/>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5" name="Footer Placeholder 4">
            <a:extLst>
              <a:ext uri="{FF2B5EF4-FFF2-40B4-BE49-F238E27FC236}">
                <a16:creationId xmlns:a16="http://schemas.microsoft.com/office/drawing/2014/main" id="{846FC076-010F-4645-86B8-7B8531BB14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158A4C-ACE8-41C0-B954-59806C9ED7A1}"/>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3215845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1F219-D545-475F-8AEA-91D6D687C8F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A16CC3-73E8-411C-9D2C-8426FCEE18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F700454-86E4-48DE-AFC6-0F956CBA52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7DD2C1C-8C4E-462C-83A8-849E9642DD67}"/>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6" name="Footer Placeholder 5">
            <a:extLst>
              <a:ext uri="{FF2B5EF4-FFF2-40B4-BE49-F238E27FC236}">
                <a16:creationId xmlns:a16="http://schemas.microsoft.com/office/drawing/2014/main" id="{4CEC88C5-1810-46C0-8CC4-9702519943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68E255-3DBA-4858-9E3D-1513FB2A5A42}"/>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4002069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1D177-033C-4E95-ADEC-31FC7AAF497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C41962-47EE-4B15-833B-AF16AE8AE6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3AF971-787F-4750-9E89-5DEABAF5E9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DEB21AE-2B2D-4E3F-9FE2-2AEF7353F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331FF9-590F-4244-B4A2-F6F15707FD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A955704-D6CA-4F45-BDDD-6D48DA6089DD}"/>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8" name="Footer Placeholder 7">
            <a:extLst>
              <a:ext uri="{FF2B5EF4-FFF2-40B4-BE49-F238E27FC236}">
                <a16:creationId xmlns:a16="http://schemas.microsoft.com/office/drawing/2014/main" id="{045626B6-40D9-4486-A330-B7ACB3293F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BE149F-6358-4F00-B3D5-8A6F51FD6D5D}"/>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1440347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791ED-EA6C-441F-9D89-C0CC82F176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124C9C-ABA4-4FC1-8742-216D04DC2F92}"/>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4" name="Footer Placeholder 3">
            <a:extLst>
              <a:ext uri="{FF2B5EF4-FFF2-40B4-BE49-F238E27FC236}">
                <a16:creationId xmlns:a16="http://schemas.microsoft.com/office/drawing/2014/main" id="{CF704609-AD14-4DBC-9AC7-697B72F8E5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94870DF-978C-4330-BAF6-1CEAF1D90156}"/>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3531945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E33914-D59D-4E6A-B9FC-0276AD9F3F96}"/>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3" name="Footer Placeholder 2">
            <a:extLst>
              <a:ext uri="{FF2B5EF4-FFF2-40B4-BE49-F238E27FC236}">
                <a16:creationId xmlns:a16="http://schemas.microsoft.com/office/drawing/2014/main" id="{5EEE7898-EC1B-468A-836A-8A3FC421019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51D4A3-F71E-4CAE-BFAD-89255AFCB36A}"/>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1956606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61255-5594-4626-A4FF-CD5C3AF9F6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615179-997A-47CB-B48E-894DEBD76B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E18D76-6EE4-4A99-AB0B-A241E62D6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E4BEBD-F88A-4199-9403-B08AFA6FB4C9}"/>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6" name="Footer Placeholder 5">
            <a:extLst>
              <a:ext uri="{FF2B5EF4-FFF2-40B4-BE49-F238E27FC236}">
                <a16:creationId xmlns:a16="http://schemas.microsoft.com/office/drawing/2014/main" id="{DFBB5C23-69DE-4DE4-9833-5F105AC4ED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EE09FA-58F0-4BE8-8161-E11BA897983C}"/>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2593524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431F6-20DF-4ACD-8F0B-B142FF7222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A0DCF24-64D6-4FFB-9503-13C8F49766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C36AA9-C1EA-41CB-87DF-5BFD78F0ED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009520-2C5A-490D-B90F-DB11C3A44242}"/>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6" name="Footer Placeholder 5">
            <a:extLst>
              <a:ext uri="{FF2B5EF4-FFF2-40B4-BE49-F238E27FC236}">
                <a16:creationId xmlns:a16="http://schemas.microsoft.com/office/drawing/2014/main" id="{D1D8C458-9717-42F7-9D0B-8C8A2D3314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B5D6E8-CED0-4021-B432-88C93757B137}"/>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3705333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A999D-8361-463B-A96F-24F3CA1998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C28188-4AEC-4303-A964-318D9FE827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E05AC-A920-4FB2-B2FA-BD18BBA27D4D}"/>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5" name="Footer Placeholder 4">
            <a:extLst>
              <a:ext uri="{FF2B5EF4-FFF2-40B4-BE49-F238E27FC236}">
                <a16:creationId xmlns:a16="http://schemas.microsoft.com/office/drawing/2014/main" id="{23A245B8-57DF-41D6-9D78-9D487D5EDE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FF5430-CCDA-4F3D-8237-58B581A337AB}"/>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495907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01C18A-D192-48AD-B80A-C613507F39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6237A5-6783-446D-B6A0-971D00DF14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B98DA6-EB80-4528-9F6C-7821F59D452C}"/>
              </a:ext>
            </a:extLst>
          </p:cNvPr>
          <p:cNvSpPr>
            <a:spLocks noGrp="1"/>
          </p:cNvSpPr>
          <p:nvPr>
            <p:ph type="dt" sz="half" idx="10"/>
          </p:nvPr>
        </p:nvSpPr>
        <p:spPr/>
        <p:txBody>
          <a:bodyPr/>
          <a:lstStyle/>
          <a:p>
            <a:fld id="{130EE1EB-76B6-4AFD-9907-5DDBABB377A2}" type="datetimeFigureOut">
              <a:rPr lang="en-IN" smtClean="0"/>
              <a:pPr/>
              <a:t>15-01-2025</a:t>
            </a:fld>
            <a:endParaRPr lang="en-IN"/>
          </a:p>
        </p:txBody>
      </p:sp>
      <p:sp>
        <p:nvSpPr>
          <p:cNvPr id="5" name="Footer Placeholder 4">
            <a:extLst>
              <a:ext uri="{FF2B5EF4-FFF2-40B4-BE49-F238E27FC236}">
                <a16:creationId xmlns:a16="http://schemas.microsoft.com/office/drawing/2014/main" id="{7B3FF9AD-9A17-4979-9E89-470CD59C22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47F7AB-C427-43F3-8378-B7B759D0253E}"/>
              </a:ext>
            </a:extLst>
          </p:cNvPr>
          <p:cNvSpPr>
            <a:spLocks noGrp="1"/>
          </p:cNvSpPr>
          <p:nvPr>
            <p:ph type="sldNum" sz="quarter" idx="12"/>
          </p:nvPr>
        </p:nvSpPr>
        <p:spPr/>
        <p:txBody>
          <a:bodyPr/>
          <a:lstStyle/>
          <a:p>
            <a:fld id="{69484B81-EAE5-4A28-B148-8B159829F0F0}" type="slidenum">
              <a:rPr lang="en-IN" smtClean="0"/>
              <a:pPr/>
              <a:t>‹#›</a:t>
            </a:fld>
            <a:endParaRPr lang="en-IN"/>
          </a:p>
        </p:txBody>
      </p:sp>
    </p:spTree>
    <p:extLst>
      <p:ext uri="{BB962C8B-B14F-4D97-AF65-F5344CB8AC3E}">
        <p14:creationId xmlns:p14="http://schemas.microsoft.com/office/powerpoint/2010/main" val="2672587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EF1D27-7CC4-4D5E-B46D-C1CBA709AA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4EF14E-BB9D-4B8B-97BF-649D074785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EC38CD-EF8B-4146-8AB2-24871476C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0EE1EB-76B6-4AFD-9907-5DDBABB377A2}" type="datetimeFigureOut">
              <a:rPr lang="en-IN" smtClean="0"/>
              <a:pPr/>
              <a:t>15-01-2025</a:t>
            </a:fld>
            <a:endParaRPr lang="en-IN"/>
          </a:p>
        </p:txBody>
      </p:sp>
      <p:sp>
        <p:nvSpPr>
          <p:cNvPr id="5" name="Footer Placeholder 4">
            <a:extLst>
              <a:ext uri="{FF2B5EF4-FFF2-40B4-BE49-F238E27FC236}">
                <a16:creationId xmlns:a16="http://schemas.microsoft.com/office/drawing/2014/main" id="{9EA9C79B-A9F8-48CD-9B9B-5BE6977730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3E7F64-E4BA-401E-90CB-0202230AF2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484B81-EAE5-4A28-B148-8B159829F0F0}" type="slidenum">
              <a:rPr lang="en-IN" smtClean="0"/>
              <a:pPr/>
              <a:t>‹#›</a:t>
            </a:fld>
            <a:endParaRPr lang="en-IN"/>
          </a:p>
        </p:txBody>
      </p:sp>
    </p:spTree>
    <p:extLst>
      <p:ext uri="{BB962C8B-B14F-4D97-AF65-F5344CB8AC3E}">
        <p14:creationId xmlns:p14="http://schemas.microsoft.com/office/powerpoint/2010/main" val="4044107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scholarhat.com/tutorial/python/keywords-in-python"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897C85F-4E22-424E-8ABA-7692FB4188A4}"/>
              </a:ext>
            </a:extLst>
          </p:cNvPr>
          <p:cNvSpPr/>
          <p:nvPr/>
        </p:nvSpPr>
        <p:spPr>
          <a:xfrm>
            <a:off x="5881685" y="4445348"/>
            <a:ext cx="428628" cy="338554"/>
          </a:xfrm>
          <a:prstGeom prst="rect">
            <a:avLst/>
          </a:prstGeom>
        </p:spPr>
        <p:txBody>
          <a:bodyPr wrap="square">
            <a:spAutoFit/>
          </a:bodyPr>
          <a:lstStyle/>
          <a:p>
            <a:pPr algn="ctr"/>
            <a:r>
              <a:rPr lang="en-IN" sz="1600" b="1" dirty="0">
                <a:latin typeface="Times New Roman" panose="02020603050405020304" pitchFamily="18" charset="0"/>
                <a:cs typeface="Times New Roman" panose="02020603050405020304" pitchFamily="18" charset="0"/>
              </a:rPr>
              <a:t>By</a:t>
            </a:r>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17E17F5E-7BEC-2A4A-802D-803E2C0108CC}"/>
              </a:ext>
            </a:extLst>
          </p:cNvPr>
          <p:cNvSpPr/>
          <p:nvPr/>
        </p:nvSpPr>
        <p:spPr>
          <a:xfrm>
            <a:off x="3400615" y="5193303"/>
            <a:ext cx="5372852" cy="1323439"/>
          </a:xfrm>
          <a:prstGeom prst="rect">
            <a:avLst/>
          </a:prstGeom>
        </p:spPr>
        <p:txBody>
          <a:bodyPr wrap="square">
            <a:spAutoFit/>
          </a:bodyPr>
          <a:lstStyle/>
          <a:p>
            <a:pPr algn="ctr"/>
            <a:r>
              <a:rPr lang="en-IN" sz="3200" b="1" dirty="0" err="1" smtClean="0">
                <a:solidFill>
                  <a:srgbClr val="A20000"/>
                </a:solidFill>
                <a:latin typeface="Times New Roman" panose="02020603050405020304" pitchFamily="18" charset="0"/>
                <a:cs typeface="Times New Roman" panose="02020603050405020304" pitchFamily="18" charset="0"/>
              </a:rPr>
              <a:t>Dr.</a:t>
            </a:r>
            <a:r>
              <a:rPr lang="en-IN" sz="3200" b="1" dirty="0" smtClean="0">
                <a:solidFill>
                  <a:srgbClr val="A20000"/>
                </a:solidFill>
                <a:latin typeface="Times New Roman" panose="02020603050405020304" pitchFamily="18" charset="0"/>
                <a:cs typeface="Times New Roman" panose="02020603050405020304" pitchFamily="18" charset="0"/>
              </a:rPr>
              <a:t> Smita Tiwari</a:t>
            </a:r>
          </a:p>
          <a:p>
            <a:pPr algn="ctr"/>
            <a:r>
              <a:rPr lang="en-IN" sz="1600" b="1" dirty="0" smtClean="0">
                <a:latin typeface="Times New Roman" panose="02020603050405020304" pitchFamily="18" charset="0"/>
                <a:cs typeface="Times New Roman" panose="02020603050405020304" pitchFamily="18" charset="0"/>
              </a:rPr>
              <a:t>Assistant </a:t>
            </a:r>
            <a:r>
              <a:rPr lang="en-IN" sz="1600" b="1" dirty="0">
                <a:latin typeface="Times New Roman" panose="02020603050405020304" pitchFamily="18" charset="0"/>
                <a:cs typeface="Times New Roman" panose="02020603050405020304" pitchFamily="18" charset="0"/>
              </a:rPr>
              <a:t>Professor</a:t>
            </a:r>
          </a:p>
          <a:p>
            <a:pPr algn="ctr"/>
            <a:r>
              <a:rPr lang="en-IN" sz="1600" b="1" dirty="0">
                <a:latin typeface="Times New Roman" panose="02020603050405020304" pitchFamily="18" charset="0"/>
                <a:cs typeface="Times New Roman" panose="02020603050405020304" pitchFamily="18" charset="0"/>
              </a:rPr>
              <a:t>Department of Computer Science and </a:t>
            </a:r>
            <a:r>
              <a:rPr lang="en-IN" sz="1600" b="1" dirty="0" smtClean="0">
                <a:latin typeface="Times New Roman" panose="02020603050405020304" pitchFamily="18" charset="0"/>
                <a:cs typeface="Times New Roman" panose="02020603050405020304" pitchFamily="18" charset="0"/>
              </a:rPr>
              <a:t>Engineering</a:t>
            </a:r>
          </a:p>
          <a:p>
            <a:pPr algn="ctr"/>
            <a:r>
              <a:rPr lang="en-IN" sz="1600" b="1" dirty="0" smtClean="0">
                <a:latin typeface="Times New Roman" panose="02020603050405020304" pitchFamily="18" charset="0"/>
                <a:cs typeface="Times New Roman" panose="02020603050405020304" pitchFamily="18" charset="0"/>
              </a:rPr>
              <a:t>School of Engineering &amp; Technology</a:t>
            </a:r>
            <a:endParaRPr lang="en-IN" sz="1600" b="1"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20A6791E-EF9A-A04B-A2E4-F233C901C6DA}"/>
              </a:ext>
            </a:extLst>
          </p:cNvPr>
          <p:cNvSpPr>
            <a:spLocks noGrp="1"/>
          </p:cNvSpPr>
          <p:nvPr>
            <p:ph type="ctrTitle"/>
          </p:nvPr>
        </p:nvSpPr>
        <p:spPr>
          <a:xfrm>
            <a:off x="3416921" y="2478207"/>
            <a:ext cx="5453798" cy="714380"/>
          </a:xfrm>
        </p:spPr>
        <p:txBody>
          <a:bodyPr>
            <a:noAutofit/>
          </a:bodyPr>
          <a:lstStyle/>
          <a:p>
            <a:r>
              <a:rPr lang="en-IN" sz="1600" b="1" dirty="0">
                <a:latin typeface="Times New Roman" panose="02020603050405020304" pitchFamily="18" charset="0"/>
                <a:cs typeface="Times New Roman" panose="02020603050405020304" pitchFamily="18" charset="0"/>
              </a:rPr>
              <a:t>Branch - CSE</a:t>
            </a:r>
            <a:r>
              <a:rPr lang="en-IN" sz="2400" b="1" dirty="0">
                <a:latin typeface="Times New Roman" panose="02020603050405020304" pitchFamily="18" charset="0"/>
                <a:cs typeface="Times New Roman" panose="02020603050405020304" pitchFamily="18" charset="0"/>
              </a:rPr>
              <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Python Programming</a:t>
            </a:r>
            <a:endParaRPr lang="en-US" sz="3200" b="1" dirty="0">
              <a:solidFill>
                <a:srgbClr val="A20000"/>
              </a:solidFill>
              <a:latin typeface="Times New Roman" panose="02020603050405020304" pitchFamily="18" charset="0"/>
              <a:cs typeface="Times New Roman" panose="02020603050405020304" pitchFamily="18" charset="0"/>
            </a:endParaRPr>
          </a:p>
        </p:txBody>
      </p:sp>
      <p:pic>
        <p:nvPicPr>
          <p:cNvPr id="1026" name="Picture 2" descr="Download Sharda University Logo PNG and Vector (PDF, SVG, Ai, EPS) F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5155" y="93018"/>
            <a:ext cx="4353059" cy="238518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FA0BEB44-0E1D-AA4B-8233-0A526118C7CE}"/>
              </a:ext>
            </a:extLst>
          </p:cNvPr>
          <p:cNvSpPr/>
          <p:nvPr/>
        </p:nvSpPr>
        <p:spPr>
          <a:xfrm>
            <a:off x="2265650" y="3429000"/>
            <a:ext cx="7756340" cy="923330"/>
          </a:xfrm>
          <a:prstGeom prst="rect">
            <a:avLst/>
          </a:prstGeom>
        </p:spPr>
        <p:txBody>
          <a:bodyPr wrap="square">
            <a:spAutoFit/>
          </a:bodyPr>
          <a:lstStyle/>
          <a:p>
            <a:pPr algn="ctr"/>
            <a:r>
              <a:rPr lang="en-IN" b="1" dirty="0">
                <a:latin typeface="Times New Roman" panose="02020603050405020304" pitchFamily="18" charset="0"/>
                <a:cs typeface="Times New Roman" panose="02020603050405020304" pitchFamily="18" charset="0"/>
              </a:rPr>
              <a:t>Lecture – </a:t>
            </a:r>
            <a:r>
              <a:rPr lang="en-IN" b="1" dirty="0" smtClean="0">
                <a:latin typeface="Times New Roman" panose="02020603050405020304" pitchFamily="18" charset="0"/>
                <a:cs typeface="Times New Roman" panose="02020603050405020304" pitchFamily="18" charset="0"/>
              </a:rPr>
              <a:t>6</a:t>
            </a:r>
            <a:r>
              <a:rPr lang="en-IN" b="1" dirty="0">
                <a:solidFill>
                  <a:srgbClr val="A20000"/>
                </a:solidFill>
                <a:latin typeface="Times New Roman" panose="02020603050405020304" pitchFamily="18" charset="0"/>
                <a:cs typeface="Times New Roman" panose="02020603050405020304" pitchFamily="18" charset="0"/>
              </a:rPr>
              <a:t/>
            </a:r>
            <a:br>
              <a:rPr lang="en-IN" b="1" dirty="0">
                <a:solidFill>
                  <a:srgbClr val="A20000"/>
                </a:solidFill>
                <a:latin typeface="Times New Roman" panose="02020603050405020304" pitchFamily="18" charset="0"/>
                <a:cs typeface="Times New Roman" panose="02020603050405020304" pitchFamily="18" charset="0"/>
              </a:rPr>
            </a:br>
            <a:r>
              <a:rPr lang="en-US" sz="3600" b="1" dirty="0" smtClean="0">
                <a:solidFill>
                  <a:srgbClr val="A20000"/>
                </a:solidFill>
                <a:latin typeface="Times New Roman" panose="02020603050405020304" pitchFamily="18" charset="0"/>
                <a:cs typeface="Times New Roman" panose="02020603050405020304" pitchFamily="18" charset="0"/>
              </a:rPr>
              <a:t>Conditional Statements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5986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rmAutofit fontScale="90000"/>
          </a:bodyPr>
          <a:lstStyle/>
          <a:p>
            <a:r>
              <a:rPr lang="en-US" dirty="0" smtClean="0"/>
              <a:t/>
            </a:r>
            <a:br>
              <a:rPr lang="en-US" dirty="0" smtClean="0"/>
            </a:br>
            <a:r>
              <a:rPr lang="en-US" dirty="0" smtClean="0"/>
              <a:t>Decision-Making Statements/Conditional Statements </a:t>
            </a:r>
            <a:r>
              <a:rPr lang="en-US" dirty="0"/>
              <a:t>in Python: An Overview</a:t>
            </a:r>
            <a:br>
              <a:rPr lang="en-US" dirty="0"/>
            </a:br>
            <a:endParaRPr lang="en-IN"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6927DE9-4A93-48D8-A22D-226EFE307B97}"/>
              </a:ext>
            </a:extLst>
          </p:cNvPr>
          <p:cNvSpPr>
            <a:spLocks noGrp="1"/>
          </p:cNvSpPr>
          <p:nvPr>
            <p:ph idx="1"/>
          </p:nvPr>
        </p:nvSpPr>
        <p:spPr>
          <a:xfrm>
            <a:off x="838200" y="1929384"/>
            <a:ext cx="10204938" cy="4677716"/>
          </a:xfrm>
        </p:spPr>
        <p:txBody>
          <a:bodyPr>
            <a:normAutofit/>
          </a:bodyPr>
          <a:lstStyle/>
          <a:p>
            <a:pPr algn="just"/>
            <a:r>
              <a:rPr lang="en-US" sz="2300" dirty="0"/>
              <a:t>Programming requires decision-making statements because they let programs decide what to do and run distinct code blocks according to predefined conditions</a:t>
            </a:r>
            <a:r>
              <a:rPr lang="en-US" sz="2300" dirty="0" smtClean="0"/>
              <a:t>.</a:t>
            </a:r>
          </a:p>
          <a:p>
            <a:pPr marL="0" indent="0" algn="just">
              <a:buNone/>
            </a:pPr>
            <a:endParaRPr lang="en-US" sz="2300" dirty="0" smtClean="0"/>
          </a:p>
          <a:p>
            <a:pPr algn="just"/>
            <a:r>
              <a:rPr lang="en-US" sz="2300" dirty="0" smtClean="0"/>
              <a:t>Programmers </a:t>
            </a:r>
            <a:r>
              <a:rPr lang="en-US" sz="2300" dirty="0"/>
              <a:t>can control how a program executes depending on a variety of conditions by using these statements.</a:t>
            </a:r>
            <a:r>
              <a:rPr lang="en-IN" sz="2300" dirty="0" smtClean="0"/>
              <a:t> </a:t>
            </a:r>
          </a:p>
          <a:p>
            <a:pPr algn="just"/>
            <a:endParaRPr lang="en-IN" sz="2300" dirty="0"/>
          </a:p>
          <a:p>
            <a:pPr algn="just"/>
            <a:r>
              <a:rPr lang="en-US" sz="2300" dirty="0"/>
              <a:t>The foundation of decision-making is condition checking</a:t>
            </a:r>
            <a:r>
              <a:rPr lang="en-US" sz="2300" dirty="0" smtClean="0"/>
              <a:t>.</a:t>
            </a:r>
          </a:p>
          <a:p>
            <a:pPr marL="0" indent="0" algn="just">
              <a:buNone/>
            </a:pPr>
            <a:endParaRPr lang="en-US" sz="2300" dirty="0" smtClean="0"/>
          </a:p>
          <a:p>
            <a:pPr algn="just"/>
            <a:r>
              <a:rPr lang="en-US" sz="2300" dirty="0" smtClean="0"/>
              <a:t> </a:t>
            </a:r>
            <a:r>
              <a:rPr lang="en-US" sz="2300" dirty="0"/>
              <a:t>In Python, decision-making is performed by using conditional statements</a:t>
            </a:r>
            <a:endParaRPr lang="en-IN" sz="2300" dirty="0"/>
          </a:p>
        </p:txBody>
      </p:sp>
    </p:spTree>
    <p:extLst>
      <p:ext uri="{BB962C8B-B14F-4D97-AF65-F5344CB8AC3E}">
        <p14:creationId xmlns:p14="http://schemas.microsoft.com/office/powerpoint/2010/main" val="3620000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rmAutofit fontScale="90000"/>
          </a:bodyPr>
          <a:lstStyle/>
          <a:p>
            <a:r>
              <a:rPr lang="en-US" sz="5400" dirty="0"/>
              <a:t>Types of decision-making statements in python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6927DE9-4A93-48D8-A22D-226EFE307B97}"/>
              </a:ext>
            </a:extLst>
          </p:cNvPr>
          <p:cNvSpPr>
            <a:spLocks noGrp="1"/>
          </p:cNvSpPr>
          <p:nvPr>
            <p:ph idx="1"/>
          </p:nvPr>
        </p:nvSpPr>
        <p:spPr>
          <a:xfrm>
            <a:off x="838200" y="1929384"/>
            <a:ext cx="10515600" cy="4677716"/>
          </a:xfrm>
        </p:spPr>
        <p:txBody>
          <a:bodyPr>
            <a:normAutofit/>
          </a:bodyPr>
          <a:lstStyle/>
          <a:p>
            <a:pPr marL="0" indent="0">
              <a:buNone/>
            </a:pPr>
            <a:r>
              <a:rPr lang="en-US" sz="2300" dirty="0" smtClean="0"/>
              <a:t>There </a:t>
            </a:r>
            <a:r>
              <a:rPr lang="en-US" sz="2300" dirty="0"/>
              <a:t>are four types of decision-making statements in Python language, those are</a:t>
            </a:r>
          </a:p>
          <a:p>
            <a:pPr lvl="1"/>
            <a:r>
              <a:rPr lang="en-US" sz="2300" dirty="0"/>
              <a:t>If statements in python</a:t>
            </a:r>
          </a:p>
          <a:p>
            <a:pPr lvl="1"/>
            <a:r>
              <a:rPr lang="en-US" sz="2300" dirty="0"/>
              <a:t>If else statement in python</a:t>
            </a:r>
          </a:p>
          <a:p>
            <a:pPr lvl="1"/>
            <a:r>
              <a:rPr lang="en-US" sz="2300" dirty="0"/>
              <a:t>Nested if else statement in Python</a:t>
            </a:r>
          </a:p>
          <a:p>
            <a:pPr lvl="1"/>
            <a:r>
              <a:rPr lang="en-US" sz="2300" dirty="0"/>
              <a:t>if-</a:t>
            </a:r>
            <a:r>
              <a:rPr lang="en-US" sz="2300" dirty="0" err="1"/>
              <a:t>elif</a:t>
            </a:r>
            <a:r>
              <a:rPr lang="en-US" sz="2300" dirty="0"/>
              <a:t>-else Ladder in Python</a:t>
            </a:r>
          </a:p>
        </p:txBody>
      </p:sp>
    </p:spTree>
    <p:extLst>
      <p:ext uri="{BB962C8B-B14F-4D97-AF65-F5344CB8AC3E}">
        <p14:creationId xmlns:p14="http://schemas.microsoft.com/office/powerpoint/2010/main" val="426879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rmAutofit/>
          </a:bodyPr>
          <a:lstStyle/>
          <a:p>
            <a:r>
              <a:rPr lang="en-US" sz="5000" dirty="0">
                <a:latin typeface="+mn-lt"/>
              </a:rPr>
              <a:t>If statements in python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83223" y="1812951"/>
            <a:ext cx="6661639" cy="2923877"/>
          </a:xfrm>
          <a:prstGeom prst="rect">
            <a:avLst/>
          </a:prstGeom>
        </p:spPr>
        <p:txBody>
          <a:bodyPr wrap="square">
            <a:spAutoFit/>
          </a:bodyPr>
          <a:lstStyle/>
          <a:p>
            <a:r>
              <a:rPr lang="en-US" sz="2300" b="1" dirty="0"/>
              <a:t>1. If statements in python</a:t>
            </a:r>
          </a:p>
          <a:p>
            <a:pPr lvl="1" algn="just">
              <a:buFont typeface="Arial" panose="020B0604020202020204" pitchFamily="34" charset="0"/>
              <a:buChar char="•"/>
            </a:pPr>
            <a:r>
              <a:rPr lang="en-US" sz="2300" dirty="0">
                <a:solidFill>
                  <a:srgbClr val="022144"/>
                </a:solidFill>
              </a:rPr>
              <a:t>The simplest structure for making decisions is an if statement, which only permits </a:t>
            </a:r>
            <a:r>
              <a:rPr lang="en-US" sz="2300" dirty="0" smtClean="0">
                <a:solidFill>
                  <a:srgbClr val="022144"/>
                </a:solidFill>
              </a:rPr>
              <a:t>the </a:t>
            </a:r>
            <a:r>
              <a:rPr lang="en-US" sz="2300" dirty="0">
                <a:solidFill>
                  <a:srgbClr val="022144"/>
                </a:solidFill>
              </a:rPr>
              <a:t>execution of a code block if a predetermined condition is met.</a:t>
            </a:r>
          </a:p>
          <a:p>
            <a:pPr lvl="1" algn="just">
              <a:buFont typeface="Arial" panose="020B0604020202020204" pitchFamily="34" charset="0"/>
              <a:buChar char="•"/>
            </a:pPr>
            <a:r>
              <a:rPr lang="en-US" sz="2300" dirty="0">
                <a:solidFill>
                  <a:srgbClr val="022144"/>
                </a:solidFill>
              </a:rPr>
              <a:t>The if </a:t>
            </a:r>
            <a:r>
              <a:rPr lang="en-US" sz="2300" b="1" dirty="0">
                <a:solidFill>
                  <a:srgbClr val="022144"/>
                </a:solidFill>
                <a:hlinkClick r:id="rId2"/>
              </a:rPr>
              <a:t>keyword</a:t>
            </a:r>
            <a:r>
              <a:rPr lang="en-US" sz="2300" dirty="0">
                <a:solidFill>
                  <a:srgbClr val="022144"/>
                </a:solidFill>
              </a:rPr>
              <a:t> is followed by an indented block of statements that are executed if </a:t>
            </a:r>
            <a:r>
              <a:rPr lang="en-US" sz="2300" dirty="0" smtClean="0">
                <a:solidFill>
                  <a:srgbClr val="022144"/>
                </a:solidFill>
              </a:rPr>
              <a:t>the </a:t>
            </a:r>
            <a:r>
              <a:rPr lang="en-US" sz="2300" dirty="0">
                <a:solidFill>
                  <a:srgbClr val="022144"/>
                </a:solidFill>
              </a:rPr>
              <a:t>condition is assessed and found to be true.</a:t>
            </a:r>
          </a:p>
          <a:p>
            <a:pPr lvl="1" algn="just">
              <a:buFont typeface="Arial" panose="020B0604020202020204" pitchFamily="34" charset="0"/>
              <a:buChar char="•"/>
            </a:pPr>
            <a:r>
              <a:rPr lang="en-US" sz="2300" dirty="0">
                <a:solidFill>
                  <a:srgbClr val="022144"/>
                </a:solidFill>
              </a:rPr>
              <a:t>If not, the code skips the if block.</a:t>
            </a:r>
            <a:endParaRPr lang="en-US" sz="2300" b="0" i="0" dirty="0">
              <a:solidFill>
                <a:srgbClr val="022144"/>
              </a:solidFill>
              <a:effectLst/>
            </a:endParaRPr>
          </a:p>
        </p:txBody>
      </p:sp>
      <p:pic>
        <p:nvPicPr>
          <p:cNvPr id="14" name="Picture 13"/>
          <p:cNvPicPr>
            <a:picLocks noChangeAspect="1"/>
          </p:cNvPicPr>
          <p:nvPr/>
        </p:nvPicPr>
        <p:blipFill>
          <a:blip r:embed="rId3"/>
          <a:stretch>
            <a:fillRect/>
          </a:stretch>
        </p:blipFill>
        <p:spPr>
          <a:xfrm>
            <a:off x="7429500" y="254312"/>
            <a:ext cx="4178046" cy="6603688"/>
          </a:xfrm>
          <a:prstGeom prst="rect">
            <a:avLst/>
          </a:prstGeom>
        </p:spPr>
      </p:pic>
      <p:pic>
        <p:nvPicPr>
          <p:cNvPr id="16" name="Picture 15"/>
          <p:cNvPicPr>
            <a:picLocks noChangeAspect="1"/>
          </p:cNvPicPr>
          <p:nvPr/>
        </p:nvPicPr>
        <p:blipFill>
          <a:blip r:embed="rId4"/>
          <a:stretch>
            <a:fillRect/>
          </a:stretch>
        </p:blipFill>
        <p:spPr>
          <a:xfrm>
            <a:off x="1071194" y="4736828"/>
            <a:ext cx="3993175" cy="1575802"/>
          </a:xfrm>
          <a:prstGeom prst="rect">
            <a:avLst/>
          </a:prstGeom>
        </p:spPr>
      </p:pic>
      <p:pic>
        <p:nvPicPr>
          <p:cNvPr id="17" name="Picture 16"/>
          <p:cNvPicPr>
            <a:picLocks noChangeAspect="1"/>
          </p:cNvPicPr>
          <p:nvPr/>
        </p:nvPicPr>
        <p:blipFill>
          <a:blip r:embed="rId5"/>
          <a:stretch>
            <a:fillRect/>
          </a:stretch>
        </p:blipFill>
        <p:spPr>
          <a:xfrm>
            <a:off x="10000704" y="561947"/>
            <a:ext cx="1265030" cy="403895"/>
          </a:xfrm>
          <a:prstGeom prst="rect">
            <a:avLst/>
          </a:prstGeom>
        </p:spPr>
      </p:pic>
      <p:sp>
        <p:nvSpPr>
          <p:cNvPr id="3" name="Rectangle 2"/>
          <p:cNvSpPr/>
          <p:nvPr/>
        </p:nvSpPr>
        <p:spPr>
          <a:xfrm>
            <a:off x="5380774" y="5335749"/>
            <a:ext cx="5741495" cy="1154162"/>
          </a:xfrm>
          <a:prstGeom prst="rect">
            <a:avLst/>
          </a:prstGeom>
        </p:spPr>
        <p:txBody>
          <a:bodyPr wrap="square">
            <a:spAutoFit/>
          </a:bodyPr>
          <a:lstStyle/>
          <a:p>
            <a:r>
              <a:rPr lang="en-US" sz="2300" dirty="0" err="1">
                <a:latin typeface="Cambria" panose="02040503050406030204" pitchFamily="18" charset="0"/>
                <a:ea typeface="Cambria" panose="02040503050406030204" pitchFamily="18" charset="0"/>
              </a:rPr>
              <a:t>num</a:t>
            </a:r>
            <a:r>
              <a:rPr lang="en-US" sz="2300" dirty="0">
                <a:latin typeface="Cambria" panose="02040503050406030204" pitchFamily="18" charset="0"/>
                <a:ea typeface="Cambria" panose="02040503050406030204" pitchFamily="18" charset="0"/>
              </a:rPr>
              <a:t> = 8 </a:t>
            </a:r>
            <a:endParaRPr lang="en-US" sz="2300" dirty="0" smtClean="0">
              <a:latin typeface="Cambria" panose="02040503050406030204" pitchFamily="18" charset="0"/>
              <a:ea typeface="Cambria" panose="02040503050406030204" pitchFamily="18" charset="0"/>
            </a:endParaRPr>
          </a:p>
          <a:p>
            <a:r>
              <a:rPr lang="en-US" sz="2300" b="1" dirty="0" smtClean="0">
                <a:latin typeface="Cambria" panose="02040503050406030204" pitchFamily="18" charset="0"/>
                <a:ea typeface="Cambria" panose="02040503050406030204" pitchFamily="18" charset="0"/>
              </a:rPr>
              <a:t>if</a:t>
            </a:r>
            <a:r>
              <a:rPr lang="en-US" sz="2300" dirty="0" smtClean="0">
                <a:latin typeface="Cambria" panose="02040503050406030204" pitchFamily="18" charset="0"/>
                <a:ea typeface="Cambria" panose="02040503050406030204" pitchFamily="18" charset="0"/>
              </a:rPr>
              <a:t> </a:t>
            </a:r>
            <a:r>
              <a:rPr lang="en-US" sz="2300" dirty="0" err="1">
                <a:latin typeface="Cambria" panose="02040503050406030204" pitchFamily="18" charset="0"/>
                <a:ea typeface="Cambria" panose="02040503050406030204" pitchFamily="18" charset="0"/>
              </a:rPr>
              <a:t>num</a:t>
            </a:r>
            <a:r>
              <a:rPr lang="en-US" sz="2300" dirty="0">
                <a:latin typeface="Cambria" panose="02040503050406030204" pitchFamily="18" charset="0"/>
                <a:ea typeface="Cambria" panose="02040503050406030204" pitchFamily="18" charset="0"/>
              </a:rPr>
              <a:t> &gt; 0: </a:t>
            </a:r>
            <a:endParaRPr lang="en-US" sz="2300" dirty="0" smtClean="0">
              <a:latin typeface="Cambria" panose="02040503050406030204" pitchFamily="18" charset="0"/>
              <a:ea typeface="Cambria" panose="02040503050406030204" pitchFamily="18" charset="0"/>
            </a:endParaRPr>
          </a:p>
          <a:p>
            <a:r>
              <a:rPr lang="en-US" sz="2300" dirty="0">
                <a:latin typeface="Cambria" panose="02040503050406030204" pitchFamily="18" charset="0"/>
                <a:ea typeface="Cambria" panose="02040503050406030204" pitchFamily="18" charset="0"/>
              </a:rPr>
              <a:t> </a:t>
            </a:r>
            <a:r>
              <a:rPr lang="en-US" sz="2300" dirty="0" smtClean="0">
                <a:latin typeface="Cambria" panose="02040503050406030204" pitchFamily="18" charset="0"/>
                <a:ea typeface="Cambria" panose="02040503050406030204" pitchFamily="18" charset="0"/>
              </a:rPr>
              <a:t>  print</a:t>
            </a:r>
            <a:r>
              <a:rPr lang="en-US" sz="2300" dirty="0">
                <a:latin typeface="Cambria" panose="02040503050406030204" pitchFamily="18" charset="0"/>
                <a:ea typeface="Cambria" panose="02040503050406030204" pitchFamily="18" charset="0"/>
              </a:rPr>
              <a:t>("The number is positive.")</a:t>
            </a:r>
            <a:endParaRPr lang="en-IN" sz="2300" dirty="0">
              <a:latin typeface="Cambria" panose="02040503050406030204" pitchFamily="18" charset="0"/>
              <a:ea typeface="Cambria" panose="02040503050406030204" pitchFamily="18" charset="0"/>
            </a:endParaRPr>
          </a:p>
        </p:txBody>
      </p:sp>
      <p:sp>
        <p:nvSpPr>
          <p:cNvPr id="11" name="Rectangle 10"/>
          <p:cNvSpPr/>
          <p:nvPr/>
        </p:nvSpPr>
        <p:spPr>
          <a:xfrm>
            <a:off x="5380774" y="5146110"/>
            <a:ext cx="1059521" cy="369332"/>
          </a:xfrm>
          <a:prstGeom prst="rect">
            <a:avLst/>
          </a:prstGeom>
        </p:spPr>
        <p:txBody>
          <a:bodyPr wrap="none">
            <a:spAutoFit/>
          </a:bodyPr>
          <a:lstStyle/>
          <a:p>
            <a:pPr algn="just"/>
            <a:r>
              <a:rPr lang="en-US" b="1" dirty="0" smtClean="0"/>
              <a:t>Example:</a:t>
            </a:r>
            <a:endParaRPr lang="en-US" b="1" dirty="0"/>
          </a:p>
        </p:txBody>
      </p:sp>
    </p:spTree>
    <p:extLst>
      <p:ext uri="{BB962C8B-B14F-4D97-AF65-F5344CB8AC3E}">
        <p14:creationId xmlns:p14="http://schemas.microsoft.com/office/powerpoint/2010/main" val="709017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FFA08-8DC7-453A-B1E6-10BADD999667}"/>
              </a:ext>
            </a:extLst>
          </p:cNvPr>
          <p:cNvSpPr>
            <a:spLocks noGrp="1"/>
          </p:cNvSpPr>
          <p:nvPr>
            <p:ph type="title"/>
          </p:nvPr>
        </p:nvSpPr>
        <p:spPr>
          <a:xfrm>
            <a:off x="600808" y="351809"/>
            <a:ext cx="10515600" cy="1325563"/>
          </a:xfrm>
        </p:spPr>
        <p:txBody>
          <a:bodyPr>
            <a:normAutofit fontScale="90000"/>
          </a:bodyPr>
          <a:lstStyle/>
          <a:p>
            <a:r>
              <a:rPr lang="en-US" sz="5400" dirty="0">
                <a:latin typeface="+mn-lt"/>
              </a:rPr>
              <a:t>If else </a:t>
            </a:r>
            <a:r>
              <a:rPr lang="en-US" sz="5400" dirty="0" smtClean="0">
                <a:latin typeface="+mn-lt"/>
              </a:rPr>
              <a:t>statement in Python</a:t>
            </a:r>
            <a:r>
              <a:rPr lang="en-US" sz="5400" dirty="0">
                <a:latin typeface="+mn-lt"/>
              </a:rPr>
              <a:t/>
            </a:r>
            <a:br>
              <a:rPr lang="en-US" sz="5400" dirty="0">
                <a:latin typeface="+mn-lt"/>
              </a:rPr>
            </a:br>
            <a:endParaRPr lang="en-IN" sz="5400" dirty="0">
              <a:latin typeface="+mn-lt"/>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2"/>
          <a:stretch>
            <a:fillRect/>
          </a:stretch>
        </p:blipFill>
        <p:spPr>
          <a:xfrm>
            <a:off x="7447085" y="712177"/>
            <a:ext cx="4669134" cy="5873261"/>
          </a:xfrm>
          <a:prstGeom prst="rect">
            <a:avLst/>
          </a:prstGeom>
        </p:spPr>
      </p:pic>
      <p:sp>
        <p:nvSpPr>
          <p:cNvPr id="7" name="Rectangle 6"/>
          <p:cNvSpPr/>
          <p:nvPr/>
        </p:nvSpPr>
        <p:spPr>
          <a:xfrm>
            <a:off x="600808" y="1950217"/>
            <a:ext cx="6705600" cy="2308324"/>
          </a:xfrm>
          <a:prstGeom prst="rect">
            <a:avLst/>
          </a:prstGeom>
        </p:spPr>
        <p:txBody>
          <a:bodyPr wrap="square">
            <a:spAutoFit/>
          </a:bodyPr>
          <a:lstStyle/>
          <a:p>
            <a:r>
              <a:rPr lang="en-US" sz="2400" b="1" dirty="0" smtClean="0">
                <a:solidFill>
                  <a:srgbClr val="05B5B3"/>
                </a:solidFill>
              </a:rPr>
              <a:t>2. If else statement in python</a:t>
            </a:r>
          </a:p>
          <a:p>
            <a:pPr algn="just">
              <a:buFont typeface="Arial" panose="020B0604020202020204" pitchFamily="34" charset="0"/>
              <a:buChar char="•"/>
            </a:pPr>
            <a:r>
              <a:rPr lang="en-US" sz="2400" dirty="0" smtClean="0">
                <a:solidFill>
                  <a:srgbClr val="022144"/>
                </a:solidFill>
              </a:rPr>
              <a:t>If the condition in the if block evaluates to false, the if-else statement executes an alternate block of code.</a:t>
            </a:r>
          </a:p>
          <a:p>
            <a:pPr algn="just">
              <a:buFont typeface="Arial" panose="020B0604020202020204" pitchFamily="34" charset="0"/>
              <a:buChar char="•"/>
            </a:pPr>
            <a:r>
              <a:rPr lang="en-US" sz="2400" dirty="0" smtClean="0">
                <a:solidFill>
                  <a:srgbClr val="022144"/>
                </a:solidFill>
              </a:rPr>
              <a:t>This block of alternatives is introduced by the </a:t>
            </a:r>
            <a:r>
              <a:rPr lang="en-US" sz="2400" b="1" dirty="0" smtClean="0">
                <a:solidFill>
                  <a:srgbClr val="022144"/>
                </a:solidFill>
              </a:rPr>
              <a:t>else keyword</a:t>
            </a:r>
            <a:r>
              <a:rPr lang="en-US" sz="2000" dirty="0" smtClean="0">
                <a:solidFill>
                  <a:srgbClr val="022144"/>
                </a:solidFill>
              </a:rPr>
              <a:t>.</a:t>
            </a:r>
            <a:endParaRPr lang="en-US" sz="2000" b="0" i="0" dirty="0">
              <a:solidFill>
                <a:srgbClr val="022144"/>
              </a:solidFill>
              <a:effectLst/>
            </a:endParaRPr>
          </a:p>
        </p:txBody>
      </p:sp>
      <p:pic>
        <p:nvPicPr>
          <p:cNvPr id="11" name="Picture 10"/>
          <p:cNvPicPr>
            <a:picLocks noChangeAspect="1"/>
          </p:cNvPicPr>
          <p:nvPr/>
        </p:nvPicPr>
        <p:blipFill>
          <a:blip r:embed="rId3"/>
          <a:stretch>
            <a:fillRect/>
          </a:stretch>
        </p:blipFill>
        <p:spPr>
          <a:xfrm>
            <a:off x="238213" y="4381634"/>
            <a:ext cx="3885379" cy="2072102"/>
          </a:xfrm>
          <a:prstGeom prst="rect">
            <a:avLst/>
          </a:prstGeom>
        </p:spPr>
      </p:pic>
      <p:pic>
        <p:nvPicPr>
          <p:cNvPr id="12" name="Picture 11"/>
          <p:cNvPicPr>
            <a:picLocks noChangeAspect="1"/>
          </p:cNvPicPr>
          <p:nvPr/>
        </p:nvPicPr>
        <p:blipFill>
          <a:blip r:embed="rId4"/>
          <a:stretch>
            <a:fillRect/>
          </a:stretch>
        </p:blipFill>
        <p:spPr>
          <a:xfrm>
            <a:off x="10359929" y="1157634"/>
            <a:ext cx="1265030" cy="403895"/>
          </a:xfrm>
          <a:prstGeom prst="rect">
            <a:avLst/>
          </a:prstGeom>
        </p:spPr>
      </p:pic>
      <p:sp>
        <p:nvSpPr>
          <p:cNvPr id="3" name="Rectangle 2"/>
          <p:cNvSpPr/>
          <p:nvPr/>
        </p:nvSpPr>
        <p:spPr>
          <a:xfrm>
            <a:off x="4547844" y="4863815"/>
            <a:ext cx="3877407" cy="1862048"/>
          </a:xfrm>
          <a:prstGeom prst="rect">
            <a:avLst/>
          </a:prstGeom>
        </p:spPr>
        <p:txBody>
          <a:bodyPr wrap="square">
            <a:spAutoFit/>
          </a:bodyPr>
          <a:lstStyle/>
          <a:p>
            <a:r>
              <a:rPr lang="en-US" sz="2300" dirty="0" err="1"/>
              <a:t>num</a:t>
            </a:r>
            <a:r>
              <a:rPr lang="en-US" sz="2300" dirty="0"/>
              <a:t> = 11 </a:t>
            </a:r>
            <a:endParaRPr lang="en-US" sz="2300" dirty="0" smtClean="0"/>
          </a:p>
          <a:p>
            <a:r>
              <a:rPr lang="en-US" sz="2300" b="1" dirty="0" smtClean="0"/>
              <a:t>if</a:t>
            </a:r>
            <a:r>
              <a:rPr lang="en-US" sz="2300" dirty="0" smtClean="0"/>
              <a:t> </a:t>
            </a:r>
            <a:r>
              <a:rPr lang="en-US" sz="2300" dirty="0" err="1"/>
              <a:t>num</a:t>
            </a:r>
            <a:r>
              <a:rPr lang="en-US" sz="2300" dirty="0"/>
              <a:t> % 2 == 0: </a:t>
            </a:r>
            <a:endParaRPr lang="en-US" sz="2300" dirty="0" smtClean="0"/>
          </a:p>
          <a:p>
            <a:r>
              <a:rPr lang="en-US" sz="2300" dirty="0"/>
              <a:t> </a:t>
            </a:r>
            <a:r>
              <a:rPr lang="en-US" sz="2300" dirty="0" smtClean="0"/>
              <a:t>  print</a:t>
            </a:r>
            <a:r>
              <a:rPr lang="en-US" sz="2300" dirty="0"/>
              <a:t>("The number is even.") </a:t>
            </a:r>
            <a:endParaRPr lang="en-US" sz="2300" dirty="0" smtClean="0"/>
          </a:p>
          <a:p>
            <a:r>
              <a:rPr lang="en-US" sz="2300" b="1" dirty="0" smtClean="0"/>
              <a:t>else</a:t>
            </a:r>
            <a:r>
              <a:rPr lang="en-US" sz="2300" dirty="0"/>
              <a:t>: </a:t>
            </a:r>
            <a:endParaRPr lang="en-US" sz="2300" dirty="0" smtClean="0"/>
          </a:p>
          <a:p>
            <a:r>
              <a:rPr lang="en-US" sz="2300" dirty="0"/>
              <a:t> </a:t>
            </a:r>
            <a:r>
              <a:rPr lang="en-US" sz="2300" dirty="0" smtClean="0"/>
              <a:t>  print</a:t>
            </a:r>
            <a:r>
              <a:rPr lang="en-US" sz="2300" dirty="0"/>
              <a:t>("The number is odd.")</a:t>
            </a:r>
            <a:endParaRPr lang="en-IN" sz="2300" dirty="0"/>
          </a:p>
        </p:txBody>
      </p:sp>
      <p:sp>
        <p:nvSpPr>
          <p:cNvPr id="13" name="Rectangle 12"/>
          <p:cNvSpPr/>
          <p:nvPr/>
        </p:nvSpPr>
        <p:spPr>
          <a:xfrm>
            <a:off x="4554415" y="4531386"/>
            <a:ext cx="1059521" cy="369332"/>
          </a:xfrm>
          <a:prstGeom prst="rect">
            <a:avLst/>
          </a:prstGeom>
        </p:spPr>
        <p:txBody>
          <a:bodyPr wrap="none">
            <a:spAutoFit/>
          </a:bodyPr>
          <a:lstStyle/>
          <a:p>
            <a:pPr algn="just"/>
            <a:r>
              <a:rPr lang="en-US" b="1" dirty="0" smtClean="0"/>
              <a:t>Example:</a:t>
            </a:r>
            <a:endParaRPr lang="en-US" b="1" dirty="0"/>
          </a:p>
        </p:txBody>
      </p:sp>
    </p:spTree>
    <p:extLst>
      <p:ext uri="{BB962C8B-B14F-4D97-AF65-F5344CB8AC3E}">
        <p14:creationId xmlns:p14="http://schemas.microsoft.com/office/powerpoint/2010/main" val="1424737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rmAutofit/>
          </a:bodyPr>
          <a:lstStyle/>
          <a:p>
            <a:r>
              <a:rPr lang="en-US" sz="4900" b="1" dirty="0" smtClean="0">
                <a:latin typeface="+mn-lt"/>
              </a:rPr>
              <a:t>Nested </a:t>
            </a:r>
            <a:r>
              <a:rPr lang="en-US" sz="4900" b="1" dirty="0">
                <a:latin typeface="+mn-lt"/>
              </a:rPr>
              <a:t>if else statement in Python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
            <a:extLst>
              <a:ext uri="{FF2B5EF4-FFF2-40B4-BE49-F238E27FC236}">
                <a16:creationId xmlns:a16="http://schemas.microsoft.com/office/drawing/2014/main" id="{0E543F95-05CA-4EA5-ADCC-DDC05DE2DD47}"/>
              </a:ext>
            </a:extLst>
          </p:cNvPr>
          <p:cNvSpPr>
            <a:spLocks noChangeArrowheads="1"/>
          </p:cNvSpPr>
          <p:nvPr/>
        </p:nvSpPr>
        <p:spPr bwMode="auto">
          <a:xfrm>
            <a:off x="0" y="104217"/>
            <a:ext cx="15312440" cy="248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FFFFFF"/>
                </a:solidFill>
                <a:effectLst/>
                <a:latin typeface="Consolas" panose="020B0609020204030204" pitchFamily="49" charset="0"/>
              </a:rPr>
              <a:t>3333333333333335</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4"/>
          <p:cNvSpPr/>
          <p:nvPr/>
        </p:nvSpPr>
        <p:spPr>
          <a:xfrm>
            <a:off x="669036" y="1786911"/>
            <a:ext cx="6920484" cy="2923877"/>
          </a:xfrm>
          <a:prstGeom prst="rect">
            <a:avLst/>
          </a:prstGeom>
        </p:spPr>
        <p:txBody>
          <a:bodyPr wrap="square">
            <a:spAutoFit/>
          </a:bodyPr>
          <a:lstStyle/>
          <a:p>
            <a:r>
              <a:rPr lang="en-US" sz="2300" b="1" dirty="0"/>
              <a:t>3. Nested if else statement in </a:t>
            </a:r>
            <a:r>
              <a:rPr lang="en-US" sz="2300" b="1" dirty="0" smtClean="0"/>
              <a:t>Python</a:t>
            </a:r>
          </a:p>
          <a:p>
            <a:endParaRPr lang="en-US" sz="2300" b="1" dirty="0"/>
          </a:p>
          <a:p>
            <a:pPr algn="just">
              <a:buFont typeface="Arial" panose="020B0604020202020204" pitchFamily="34" charset="0"/>
              <a:buChar char="•"/>
            </a:pPr>
            <a:r>
              <a:rPr lang="en-US" sz="2300" dirty="0" smtClean="0"/>
              <a:t>Python enables the nesting of decision-making </a:t>
            </a:r>
            <a:r>
              <a:rPr lang="en-US" sz="2300" dirty="0" smtClean="0"/>
              <a:t>statements, which </a:t>
            </a:r>
            <a:r>
              <a:rPr lang="en-US" sz="2300" dirty="0" smtClean="0"/>
              <a:t>facilitates the development of more complex decision </a:t>
            </a:r>
            <a:r>
              <a:rPr lang="en-US" sz="2300" dirty="0" smtClean="0"/>
              <a:t>logic</a:t>
            </a:r>
            <a:r>
              <a:rPr lang="en-US" sz="2300" dirty="0" smtClean="0"/>
              <a:t>.</a:t>
            </a:r>
          </a:p>
          <a:p>
            <a:pPr algn="just"/>
            <a:endParaRPr lang="en-US" sz="2300" dirty="0"/>
          </a:p>
          <a:p>
            <a:pPr algn="just">
              <a:buFont typeface="Arial" panose="020B0604020202020204" pitchFamily="34" charset="0"/>
              <a:buChar char="•"/>
            </a:pPr>
            <a:r>
              <a:rPr lang="en-US" sz="2300" dirty="0" smtClean="0"/>
              <a:t>A hierarchy of conditions can be created by an if or if-else block </a:t>
            </a:r>
            <a:r>
              <a:rPr lang="en-US" sz="2300" dirty="0" smtClean="0"/>
              <a:t>within </a:t>
            </a:r>
            <a:r>
              <a:rPr lang="en-US" sz="2300" dirty="0" smtClean="0"/>
              <a:t>another if or if-else block.</a:t>
            </a:r>
            <a:endParaRPr lang="en-US" sz="2300" b="0" i="0" dirty="0">
              <a:effectLst/>
            </a:endParaRPr>
          </a:p>
        </p:txBody>
      </p:sp>
      <p:pic>
        <p:nvPicPr>
          <p:cNvPr id="4" name="Picture 3"/>
          <p:cNvPicPr>
            <a:picLocks noChangeAspect="1"/>
          </p:cNvPicPr>
          <p:nvPr/>
        </p:nvPicPr>
        <p:blipFill>
          <a:blip r:embed="rId2"/>
          <a:stretch>
            <a:fillRect/>
          </a:stretch>
        </p:blipFill>
        <p:spPr>
          <a:xfrm>
            <a:off x="7589520" y="2076026"/>
            <a:ext cx="4434874" cy="2898310"/>
          </a:xfrm>
          <a:prstGeom prst="rect">
            <a:avLst/>
          </a:prstGeom>
        </p:spPr>
      </p:pic>
      <p:sp>
        <p:nvSpPr>
          <p:cNvPr id="9" name="Rectangle 8"/>
          <p:cNvSpPr/>
          <p:nvPr/>
        </p:nvSpPr>
        <p:spPr>
          <a:xfrm>
            <a:off x="7561982" y="1686517"/>
            <a:ext cx="1059521" cy="369332"/>
          </a:xfrm>
          <a:prstGeom prst="rect">
            <a:avLst/>
          </a:prstGeom>
        </p:spPr>
        <p:txBody>
          <a:bodyPr wrap="none">
            <a:spAutoFit/>
          </a:bodyPr>
          <a:lstStyle/>
          <a:p>
            <a:pPr algn="just"/>
            <a:r>
              <a:rPr lang="en-US" b="1" dirty="0" smtClean="0"/>
              <a:t>Example:</a:t>
            </a:r>
            <a:endParaRPr lang="en-US" b="1" dirty="0"/>
          </a:p>
        </p:txBody>
      </p:sp>
    </p:spTree>
    <p:extLst>
      <p:ext uri="{BB962C8B-B14F-4D97-AF65-F5344CB8AC3E}">
        <p14:creationId xmlns:p14="http://schemas.microsoft.com/office/powerpoint/2010/main" val="1336673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6"/>
            <a:ext cx="10292862" cy="795460"/>
          </a:xfrm>
        </p:spPr>
        <p:txBody>
          <a:bodyPr>
            <a:normAutofit fontScale="90000"/>
          </a:bodyPr>
          <a:lstStyle/>
          <a:p>
            <a:r>
              <a:rPr lang="en-US" sz="5400" b="1" dirty="0"/>
              <a:t>Nested if else statement in Python</a:t>
            </a:r>
            <a:endParaRPr lang="en-IN"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2"/>
          <a:stretch>
            <a:fillRect/>
          </a:stretch>
        </p:blipFill>
        <p:spPr>
          <a:xfrm>
            <a:off x="507770" y="1865258"/>
            <a:ext cx="5526262" cy="4823144"/>
          </a:xfrm>
          <a:prstGeom prst="rect">
            <a:avLst/>
          </a:prstGeom>
        </p:spPr>
      </p:pic>
      <p:pic>
        <p:nvPicPr>
          <p:cNvPr id="6" name="Picture 5"/>
          <p:cNvPicPr>
            <a:picLocks noChangeAspect="1"/>
          </p:cNvPicPr>
          <p:nvPr/>
        </p:nvPicPr>
        <p:blipFill>
          <a:blip r:embed="rId3"/>
          <a:stretch>
            <a:fillRect/>
          </a:stretch>
        </p:blipFill>
        <p:spPr>
          <a:xfrm>
            <a:off x="10359929" y="1157634"/>
            <a:ext cx="1265030" cy="403895"/>
          </a:xfrm>
          <a:prstGeom prst="rect">
            <a:avLst/>
          </a:prstGeom>
        </p:spPr>
      </p:pic>
      <p:pic>
        <p:nvPicPr>
          <p:cNvPr id="12" name="Picture 11"/>
          <p:cNvPicPr>
            <a:picLocks noChangeAspect="1"/>
          </p:cNvPicPr>
          <p:nvPr/>
        </p:nvPicPr>
        <p:blipFill>
          <a:blip r:embed="rId4"/>
          <a:stretch>
            <a:fillRect/>
          </a:stretch>
        </p:blipFill>
        <p:spPr>
          <a:xfrm>
            <a:off x="5802839" y="1083839"/>
            <a:ext cx="6386113" cy="5761219"/>
          </a:xfrm>
          <a:prstGeom prst="rect">
            <a:avLst/>
          </a:prstGeom>
        </p:spPr>
      </p:pic>
      <p:pic>
        <p:nvPicPr>
          <p:cNvPr id="13" name="Picture 12"/>
          <p:cNvPicPr>
            <a:picLocks noChangeAspect="1"/>
          </p:cNvPicPr>
          <p:nvPr/>
        </p:nvPicPr>
        <p:blipFill>
          <a:blip r:embed="rId3"/>
          <a:stretch>
            <a:fillRect/>
          </a:stretch>
        </p:blipFill>
        <p:spPr>
          <a:xfrm>
            <a:off x="10359929" y="1489032"/>
            <a:ext cx="1265030" cy="413258"/>
          </a:xfrm>
          <a:prstGeom prst="rect">
            <a:avLst/>
          </a:prstGeom>
        </p:spPr>
      </p:pic>
    </p:spTree>
    <p:extLst>
      <p:ext uri="{BB962C8B-B14F-4D97-AF65-F5344CB8AC3E}">
        <p14:creationId xmlns:p14="http://schemas.microsoft.com/office/powerpoint/2010/main" val="579227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rmAutofit fontScale="90000"/>
          </a:bodyPr>
          <a:lstStyle/>
          <a:p>
            <a:r>
              <a:rPr lang="en-US" sz="5400" dirty="0" smtClean="0">
                <a:latin typeface="+mn-lt"/>
              </a:rPr>
              <a:t>Python </a:t>
            </a:r>
            <a:r>
              <a:rPr lang="en-US" sz="5400" dirty="0">
                <a:latin typeface="+mn-lt"/>
              </a:rPr>
              <a:t>if-</a:t>
            </a:r>
            <a:r>
              <a:rPr lang="en-US" sz="5400" dirty="0" err="1">
                <a:latin typeface="+mn-lt"/>
              </a:rPr>
              <a:t>elif</a:t>
            </a:r>
            <a:r>
              <a:rPr lang="en-US" sz="5400" dirty="0">
                <a:latin typeface="+mn-lt"/>
              </a:rPr>
              <a:t>-else Ladder</a:t>
            </a:r>
            <a:r>
              <a:rPr lang="en-US" sz="5400" dirty="0">
                <a:solidFill>
                  <a:srgbClr val="05B5B3"/>
                </a:solidFill>
                <a:latin typeface="+mn-lt"/>
              </a:rPr>
              <a:t/>
            </a:r>
            <a:br>
              <a:rPr lang="en-US" sz="5400" dirty="0">
                <a:solidFill>
                  <a:srgbClr val="05B5B3"/>
                </a:solidFill>
                <a:latin typeface="+mn-lt"/>
              </a:rPr>
            </a:br>
            <a:endParaRPr lang="en-IN" sz="5400" dirty="0">
              <a:latin typeface="+mn-lt"/>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81363" y="1804490"/>
            <a:ext cx="5837021" cy="2215991"/>
          </a:xfrm>
          <a:prstGeom prst="rect">
            <a:avLst/>
          </a:prstGeom>
        </p:spPr>
        <p:txBody>
          <a:bodyPr wrap="square">
            <a:spAutoFit/>
          </a:bodyPr>
          <a:lstStyle/>
          <a:p>
            <a:r>
              <a:rPr lang="en-US" sz="2300" b="1" dirty="0"/>
              <a:t>4. Python if-</a:t>
            </a:r>
            <a:r>
              <a:rPr lang="en-US" sz="2300" b="1" dirty="0" err="1"/>
              <a:t>elif</a:t>
            </a:r>
            <a:r>
              <a:rPr lang="en-US" sz="2300" b="1" dirty="0"/>
              <a:t>-else Ladder</a:t>
            </a:r>
          </a:p>
          <a:p>
            <a:pPr algn="just">
              <a:buFont typeface="Arial" panose="020B0604020202020204" pitchFamily="34" charset="0"/>
              <a:buChar char="•"/>
            </a:pPr>
            <a:r>
              <a:rPr lang="en-US" sz="2300" dirty="0">
                <a:solidFill>
                  <a:srgbClr val="022144"/>
                </a:solidFill>
              </a:rPr>
              <a:t>An if-</a:t>
            </a:r>
            <a:r>
              <a:rPr lang="en-US" sz="2300" dirty="0" err="1">
                <a:solidFill>
                  <a:srgbClr val="022144"/>
                </a:solidFill>
              </a:rPr>
              <a:t>elif</a:t>
            </a:r>
            <a:r>
              <a:rPr lang="en-US" sz="2300" dirty="0">
                <a:solidFill>
                  <a:srgbClr val="022144"/>
                </a:solidFill>
              </a:rPr>
              <a:t>-else ladder is an order of if statements connected by </a:t>
            </a:r>
            <a:r>
              <a:rPr lang="en-US" sz="2300" dirty="0" err="1">
                <a:solidFill>
                  <a:srgbClr val="022144"/>
                </a:solidFill>
              </a:rPr>
              <a:t>elif</a:t>
            </a:r>
            <a:r>
              <a:rPr lang="en-US" sz="2300" dirty="0">
                <a:solidFill>
                  <a:srgbClr val="022144"/>
                </a:solidFill>
              </a:rPr>
              <a:t> statements.</a:t>
            </a:r>
          </a:p>
          <a:p>
            <a:pPr algn="just">
              <a:buFont typeface="Arial" panose="020B0604020202020204" pitchFamily="34" charset="0"/>
              <a:buChar char="•"/>
            </a:pPr>
            <a:r>
              <a:rPr lang="en-US" sz="2300" dirty="0">
                <a:solidFill>
                  <a:srgbClr val="022144"/>
                </a:solidFill>
              </a:rPr>
              <a:t>This enables you to check for numerous conditions and run separate code blocks based on which condition is met.</a:t>
            </a:r>
            <a:endParaRPr lang="en-US" sz="2300" b="0" i="0" dirty="0">
              <a:solidFill>
                <a:srgbClr val="022144"/>
              </a:solidFill>
              <a:effectLst/>
            </a:endParaRPr>
          </a:p>
        </p:txBody>
      </p:sp>
      <p:pic>
        <p:nvPicPr>
          <p:cNvPr id="9" name="Picture 8"/>
          <p:cNvPicPr>
            <a:picLocks noChangeAspect="1"/>
          </p:cNvPicPr>
          <p:nvPr/>
        </p:nvPicPr>
        <p:blipFill>
          <a:blip r:embed="rId2"/>
          <a:stretch>
            <a:fillRect/>
          </a:stretch>
        </p:blipFill>
        <p:spPr>
          <a:xfrm>
            <a:off x="94217" y="4020481"/>
            <a:ext cx="3158938" cy="2517086"/>
          </a:xfrm>
          <a:prstGeom prst="rect">
            <a:avLst/>
          </a:prstGeom>
        </p:spPr>
      </p:pic>
      <p:pic>
        <p:nvPicPr>
          <p:cNvPr id="11" name="Picture 10"/>
          <p:cNvPicPr>
            <a:picLocks noChangeAspect="1"/>
          </p:cNvPicPr>
          <p:nvPr/>
        </p:nvPicPr>
        <p:blipFill>
          <a:blip r:embed="rId3"/>
          <a:stretch>
            <a:fillRect/>
          </a:stretch>
        </p:blipFill>
        <p:spPr>
          <a:xfrm>
            <a:off x="6308117" y="1027906"/>
            <a:ext cx="5880835" cy="5816210"/>
          </a:xfrm>
          <a:prstGeom prst="rect">
            <a:avLst/>
          </a:prstGeom>
        </p:spPr>
      </p:pic>
      <p:pic>
        <p:nvPicPr>
          <p:cNvPr id="12" name="Picture 11"/>
          <p:cNvPicPr>
            <a:picLocks noChangeAspect="1"/>
          </p:cNvPicPr>
          <p:nvPr/>
        </p:nvPicPr>
        <p:blipFill>
          <a:blip r:embed="rId4"/>
          <a:stretch>
            <a:fillRect/>
          </a:stretch>
        </p:blipFill>
        <p:spPr>
          <a:xfrm>
            <a:off x="10359929" y="1157634"/>
            <a:ext cx="1265030" cy="403895"/>
          </a:xfrm>
          <a:prstGeom prst="rect">
            <a:avLst/>
          </a:prstGeom>
        </p:spPr>
      </p:pic>
      <p:pic>
        <p:nvPicPr>
          <p:cNvPr id="13" name="Picture 12"/>
          <p:cNvPicPr>
            <a:picLocks noChangeAspect="1"/>
          </p:cNvPicPr>
          <p:nvPr/>
        </p:nvPicPr>
        <p:blipFill>
          <a:blip r:embed="rId5"/>
          <a:stretch>
            <a:fillRect/>
          </a:stretch>
        </p:blipFill>
        <p:spPr>
          <a:xfrm>
            <a:off x="3347372" y="4167724"/>
            <a:ext cx="3211691" cy="2676392"/>
          </a:xfrm>
          <a:prstGeom prst="rect">
            <a:avLst/>
          </a:prstGeom>
        </p:spPr>
      </p:pic>
      <p:sp>
        <p:nvSpPr>
          <p:cNvPr id="14" name="Rectangle 13"/>
          <p:cNvSpPr/>
          <p:nvPr/>
        </p:nvSpPr>
        <p:spPr>
          <a:xfrm>
            <a:off x="4702005" y="3759978"/>
            <a:ext cx="1059521" cy="369332"/>
          </a:xfrm>
          <a:prstGeom prst="rect">
            <a:avLst/>
          </a:prstGeom>
        </p:spPr>
        <p:txBody>
          <a:bodyPr wrap="none">
            <a:spAutoFit/>
          </a:bodyPr>
          <a:lstStyle/>
          <a:p>
            <a:pPr algn="just"/>
            <a:r>
              <a:rPr lang="en-US" b="1" dirty="0" smtClean="0"/>
              <a:t>Example:</a:t>
            </a:r>
            <a:endParaRPr lang="en-US" b="1" dirty="0"/>
          </a:p>
        </p:txBody>
      </p:sp>
    </p:spTree>
    <p:extLst>
      <p:ext uri="{BB962C8B-B14F-4D97-AF65-F5344CB8AC3E}">
        <p14:creationId xmlns:p14="http://schemas.microsoft.com/office/powerpoint/2010/main" val="2945675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rmAutofit/>
          </a:bodyPr>
          <a:lstStyle/>
          <a:p>
            <a:r>
              <a:rPr lang="en-US" sz="5400" dirty="0"/>
              <a:t>Short Hand if Statement</a:t>
            </a:r>
            <a:endParaRPr lang="en-US"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886499" y="1920895"/>
            <a:ext cx="10415954" cy="1508105"/>
          </a:xfrm>
          <a:prstGeom prst="rect">
            <a:avLst/>
          </a:prstGeom>
        </p:spPr>
        <p:txBody>
          <a:bodyPr wrap="square">
            <a:spAutoFit/>
          </a:bodyPr>
          <a:lstStyle/>
          <a:p>
            <a:r>
              <a:rPr lang="en-US" sz="2300" b="1" dirty="0"/>
              <a:t>Short Hand if Statement</a:t>
            </a:r>
          </a:p>
          <a:p>
            <a:r>
              <a:rPr lang="en-US" sz="2300" dirty="0"/>
              <a:t>In Python, a shorthand if statement is an easy way to write an if statement with a single expression. It is very useful when you have a basic condition to verify and only one action to take if that condition is met.</a:t>
            </a:r>
            <a:endParaRPr lang="en-IN" sz="2300" dirty="0"/>
          </a:p>
        </p:txBody>
      </p:sp>
      <p:pic>
        <p:nvPicPr>
          <p:cNvPr id="7" name="Picture 6"/>
          <p:cNvPicPr>
            <a:picLocks noChangeAspect="1"/>
          </p:cNvPicPr>
          <p:nvPr/>
        </p:nvPicPr>
        <p:blipFill>
          <a:blip r:embed="rId2"/>
          <a:stretch>
            <a:fillRect/>
          </a:stretch>
        </p:blipFill>
        <p:spPr>
          <a:xfrm>
            <a:off x="968194" y="3495972"/>
            <a:ext cx="5801883" cy="1544283"/>
          </a:xfrm>
          <a:prstGeom prst="rect">
            <a:avLst/>
          </a:prstGeom>
        </p:spPr>
      </p:pic>
      <p:sp>
        <p:nvSpPr>
          <p:cNvPr id="9" name="Rectangle 8"/>
          <p:cNvSpPr/>
          <p:nvPr/>
        </p:nvSpPr>
        <p:spPr>
          <a:xfrm>
            <a:off x="968194" y="5654801"/>
            <a:ext cx="5159041" cy="446276"/>
          </a:xfrm>
          <a:prstGeom prst="rect">
            <a:avLst/>
          </a:prstGeom>
        </p:spPr>
        <p:txBody>
          <a:bodyPr wrap="none">
            <a:spAutoFit/>
          </a:bodyPr>
          <a:lstStyle/>
          <a:p>
            <a:r>
              <a:rPr lang="en-US" sz="2300" dirty="0" err="1"/>
              <a:t>i</a:t>
            </a:r>
            <a:r>
              <a:rPr lang="en-US" sz="2300" dirty="0"/>
              <a:t> = 21 </a:t>
            </a:r>
            <a:r>
              <a:rPr lang="en-US" sz="2300" b="1" dirty="0"/>
              <a:t>if</a:t>
            </a:r>
            <a:r>
              <a:rPr lang="en-US" sz="2300" dirty="0"/>
              <a:t> </a:t>
            </a:r>
            <a:r>
              <a:rPr lang="en-US" sz="2300" dirty="0" err="1"/>
              <a:t>i</a:t>
            </a:r>
            <a:r>
              <a:rPr lang="en-US" sz="2300" dirty="0"/>
              <a:t> &gt; 15: print("</a:t>
            </a:r>
            <a:r>
              <a:rPr lang="en-US" sz="2300" dirty="0" err="1"/>
              <a:t>i</a:t>
            </a:r>
            <a:r>
              <a:rPr lang="en-US" sz="2300" dirty="0"/>
              <a:t> is greater than 15")</a:t>
            </a:r>
            <a:endParaRPr lang="en-IN" sz="2300" dirty="0"/>
          </a:p>
        </p:txBody>
      </p:sp>
      <p:sp>
        <p:nvSpPr>
          <p:cNvPr id="11" name="Rectangle 10"/>
          <p:cNvSpPr/>
          <p:nvPr/>
        </p:nvSpPr>
        <p:spPr>
          <a:xfrm>
            <a:off x="968194" y="5162862"/>
            <a:ext cx="1059521" cy="369332"/>
          </a:xfrm>
          <a:prstGeom prst="rect">
            <a:avLst/>
          </a:prstGeom>
        </p:spPr>
        <p:txBody>
          <a:bodyPr wrap="none">
            <a:spAutoFit/>
          </a:bodyPr>
          <a:lstStyle/>
          <a:p>
            <a:pPr algn="just"/>
            <a:r>
              <a:rPr lang="en-US" b="1" dirty="0" smtClean="0"/>
              <a:t>Example:</a:t>
            </a:r>
            <a:endParaRPr lang="en-US" b="1" dirty="0"/>
          </a:p>
        </p:txBody>
      </p:sp>
    </p:spTree>
    <p:extLst>
      <p:ext uri="{BB962C8B-B14F-4D97-AF65-F5344CB8AC3E}">
        <p14:creationId xmlns:p14="http://schemas.microsoft.com/office/powerpoint/2010/main" val="1872940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rmAutofit/>
          </a:bodyPr>
          <a:lstStyle/>
          <a:p>
            <a:r>
              <a:rPr lang="en-US" sz="4900" dirty="0">
                <a:latin typeface="+mn-lt"/>
              </a:rPr>
              <a:t>Short Hand if-else statement</a:t>
            </a:r>
            <a:endParaRPr lang="en-US" sz="4900" dirty="0">
              <a:latin typeface="+mn-lt"/>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999392" y="2090872"/>
            <a:ext cx="10272346" cy="1508105"/>
          </a:xfrm>
          <a:prstGeom prst="rect">
            <a:avLst/>
          </a:prstGeom>
        </p:spPr>
        <p:txBody>
          <a:bodyPr wrap="square">
            <a:spAutoFit/>
          </a:bodyPr>
          <a:lstStyle/>
          <a:p>
            <a:pPr algn="just"/>
            <a:r>
              <a:rPr lang="en-US" sz="2300" b="1" dirty="0"/>
              <a:t>Short Hand if-else statement</a:t>
            </a:r>
          </a:p>
          <a:p>
            <a:pPr algn="just"/>
            <a:r>
              <a:rPr lang="en-US" sz="2300" dirty="0">
                <a:solidFill>
                  <a:srgbClr val="022144"/>
                </a:solidFill>
              </a:rPr>
              <a:t>If-else statements in Python are written in a more clear manner using short-hand if-else statements. They are useful when there is just one expression to evaluate for each branch of the if-else statement</a:t>
            </a:r>
            <a:r>
              <a:rPr lang="en-US" dirty="0">
                <a:solidFill>
                  <a:srgbClr val="022144"/>
                </a:solidFill>
                <a:latin typeface="Roboto"/>
              </a:rPr>
              <a:t>.</a:t>
            </a:r>
            <a:endParaRPr lang="en-IN" dirty="0"/>
          </a:p>
        </p:txBody>
      </p:sp>
      <p:pic>
        <p:nvPicPr>
          <p:cNvPr id="9" name="Picture 8"/>
          <p:cNvPicPr>
            <a:picLocks noChangeAspect="1"/>
          </p:cNvPicPr>
          <p:nvPr/>
        </p:nvPicPr>
        <p:blipFill>
          <a:blip r:embed="rId2"/>
          <a:stretch>
            <a:fillRect/>
          </a:stretch>
        </p:blipFill>
        <p:spPr>
          <a:xfrm>
            <a:off x="999392" y="3717354"/>
            <a:ext cx="6702670" cy="1243040"/>
          </a:xfrm>
          <a:prstGeom prst="rect">
            <a:avLst/>
          </a:prstGeom>
        </p:spPr>
      </p:pic>
      <p:sp>
        <p:nvSpPr>
          <p:cNvPr id="11" name="Rectangle 10"/>
          <p:cNvSpPr/>
          <p:nvPr/>
        </p:nvSpPr>
        <p:spPr>
          <a:xfrm>
            <a:off x="1113693" y="5532194"/>
            <a:ext cx="7423638" cy="923330"/>
          </a:xfrm>
          <a:prstGeom prst="rect">
            <a:avLst/>
          </a:prstGeom>
        </p:spPr>
        <p:txBody>
          <a:bodyPr wrap="square">
            <a:spAutoFit/>
          </a:bodyPr>
          <a:lstStyle/>
          <a:p>
            <a:r>
              <a:rPr lang="en-US" dirty="0">
                <a:latin typeface="SFMono-Regular"/>
              </a:rPr>
              <a:t>age = </a:t>
            </a:r>
            <a:r>
              <a:rPr lang="en-US" dirty="0" smtClean="0">
                <a:latin typeface="SFMono-Regular"/>
              </a:rPr>
              <a:t>18</a:t>
            </a:r>
          </a:p>
          <a:p>
            <a:r>
              <a:rPr lang="en-US" dirty="0" smtClean="0">
                <a:latin typeface="SFMono-Regular"/>
              </a:rPr>
              <a:t>message </a:t>
            </a:r>
            <a:r>
              <a:rPr lang="en-US" dirty="0">
                <a:latin typeface="SFMono-Regular"/>
              </a:rPr>
              <a:t>= "You can vote" </a:t>
            </a:r>
            <a:r>
              <a:rPr lang="en-US" b="1" dirty="0">
                <a:latin typeface="SFMono-Regular"/>
              </a:rPr>
              <a:t>if</a:t>
            </a:r>
            <a:r>
              <a:rPr lang="en-US" dirty="0">
                <a:latin typeface="SFMono-Regular"/>
              </a:rPr>
              <a:t> age &gt;= 18 </a:t>
            </a:r>
            <a:r>
              <a:rPr lang="en-US" b="1" dirty="0">
                <a:latin typeface="SFMono-Regular"/>
              </a:rPr>
              <a:t>else</a:t>
            </a:r>
            <a:r>
              <a:rPr lang="en-US" dirty="0">
                <a:latin typeface="SFMono-Regular"/>
              </a:rPr>
              <a:t> "You cannot vote yet" print(message)</a:t>
            </a:r>
            <a:endParaRPr lang="en-IN" dirty="0"/>
          </a:p>
        </p:txBody>
      </p:sp>
      <p:sp>
        <p:nvSpPr>
          <p:cNvPr id="12" name="Rectangle 11"/>
          <p:cNvSpPr/>
          <p:nvPr/>
        </p:nvSpPr>
        <p:spPr>
          <a:xfrm>
            <a:off x="1113693" y="5162862"/>
            <a:ext cx="1059521" cy="369332"/>
          </a:xfrm>
          <a:prstGeom prst="rect">
            <a:avLst/>
          </a:prstGeom>
        </p:spPr>
        <p:txBody>
          <a:bodyPr wrap="none">
            <a:spAutoFit/>
          </a:bodyPr>
          <a:lstStyle/>
          <a:p>
            <a:pPr algn="just"/>
            <a:r>
              <a:rPr lang="en-US" b="1" dirty="0" smtClean="0"/>
              <a:t>Example:</a:t>
            </a:r>
            <a:endParaRPr lang="en-US" b="1" dirty="0"/>
          </a:p>
        </p:txBody>
      </p:sp>
    </p:spTree>
    <p:extLst>
      <p:ext uri="{BB962C8B-B14F-4D97-AF65-F5344CB8AC3E}">
        <p14:creationId xmlns:p14="http://schemas.microsoft.com/office/powerpoint/2010/main" val="3932476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Autofit/>
          </a:bodyPr>
          <a:lstStyle/>
          <a:p>
            <a:r>
              <a:rPr lang="en-US" sz="4900" dirty="0">
                <a:latin typeface="+mn-lt"/>
              </a:rPr>
              <a:t>Break, Pass, and Continue Statements in Python</a:t>
            </a:r>
          </a:p>
        </p:txBody>
      </p:sp>
      <p:sp>
        <p:nvSpPr>
          <p:cNvPr id="3" name="Rectangle 2"/>
          <p:cNvSpPr/>
          <p:nvPr/>
        </p:nvSpPr>
        <p:spPr>
          <a:xfrm>
            <a:off x="838200" y="1890072"/>
            <a:ext cx="10515599" cy="4339650"/>
          </a:xfrm>
          <a:prstGeom prst="rect">
            <a:avLst/>
          </a:prstGeom>
        </p:spPr>
        <p:txBody>
          <a:bodyPr wrap="square">
            <a:spAutoFit/>
          </a:bodyPr>
          <a:lstStyle/>
          <a:p>
            <a:pPr algn="just"/>
            <a:r>
              <a:rPr lang="en-US" dirty="0">
                <a:solidFill>
                  <a:srgbClr val="51565E"/>
                </a:solidFill>
                <a:latin typeface="Roboto"/>
              </a:rPr>
              <a:t>I</a:t>
            </a:r>
            <a:r>
              <a:rPr lang="en-US" sz="2300" dirty="0"/>
              <a:t>n Python, "break", "continue", and "pass"  are control flow statements used within loops and conditional statements. </a:t>
            </a:r>
            <a:endParaRPr lang="en-US" sz="2300" dirty="0" smtClean="0"/>
          </a:p>
          <a:p>
            <a:pPr algn="just"/>
            <a:endParaRPr lang="en-US" sz="2300" dirty="0"/>
          </a:p>
          <a:p>
            <a:pPr marL="342900" indent="-342900" algn="just">
              <a:buFont typeface="Arial" panose="020B0604020202020204" pitchFamily="34" charset="0"/>
              <a:buChar char="•"/>
            </a:pPr>
            <a:r>
              <a:rPr lang="en-US" sz="2300" b="1" dirty="0" smtClean="0">
                <a:solidFill>
                  <a:srgbClr val="C00000"/>
                </a:solidFill>
              </a:rPr>
              <a:t>"</a:t>
            </a:r>
            <a:r>
              <a:rPr lang="en-US" sz="2300" b="1" dirty="0">
                <a:solidFill>
                  <a:srgbClr val="C00000"/>
                </a:solidFill>
              </a:rPr>
              <a:t>break" </a:t>
            </a:r>
            <a:r>
              <a:rPr lang="en-US" sz="2300" dirty="0"/>
              <a:t>is used to exit a loop prematurely if a certain condition is met. It terminates the loop entirely and continues with the next statement after the loop</a:t>
            </a:r>
            <a:r>
              <a:rPr lang="en-US" sz="2300" dirty="0" smtClean="0"/>
              <a:t>.</a:t>
            </a:r>
          </a:p>
          <a:p>
            <a:pPr marL="342900" indent="-342900" algn="just">
              <a:buFont typeface="Arial" panose="020B0604020202020204" pitchFamily="34" charset="0"/>
              <a:buChar char="•"/>
            </a:pPr>
            <a:endParaRPr lang="en-US" sz="2300" dirty="0"/>
          </a:p>
          <a:p>
            <a:pPr marL="342900" indent="-342900" algn="just">
              <a:buFont typeface="Arial" panose="020B0604020202020204" pitchFamily="34" charset="0"/>
              <a:buChar char="•"/>
            </a:pPr>
            <a:r>
              <a:rPr lang="en-US" sz="2300" b="1" dirty="0">
                <a:solidFill>
                  <a:srgbClr val="C00000"/>
                </a:solidFill>
              </a:rPr>
              <a:t>"continue" </a:t>
            </a:r>
            <a:r>
              <a:rPr lang="en-US" sz="2300" dirty="0"/>
              <a:t>is used to skip the rest of the current iteration of a loop and continue with the next iteration. It effectively jumps to the next iteration without executing the remaining code in the loop's body. </a:t>
            </a:r>
            <a:endParaRPr lang="en-US" sz="2300" dirty="0" smtClean="0"/>
          </a:p>
          <a:p>
            <a:pPr marL="342900" indent="-342900" algn="just">
              <a:buFont typeface="Arial" panose="020B0604020202020204" pitchFamily="34" charset="0"/>
              <a:buChar char="•"/>
            </a:pPr>
            <a:endParaRPr lang="en-US" sz="2300" dirty="0"/>
          </a:p>
          <a:p>
            <a:pPr marL="342900" indent="-342900" algn="just">
              <a:buFont typeface="Arial" panose="020B0604020202020204" pitchFamily="34" charset="0"/>
              <a:buChar char="•"/>
            </a:pPr>
            <a:r>
              <a:rPr lang="en-US" sz="2300" b="1" dirty="0" smtClean="0">
                <a:solidFill>
                  <a:srgbClr val="C00000"/>
                </a:solidFill>
              </a:rPr>
              <a:t>"</a:t>
            </a:r>
            <a:r>
              <a:rPr lang="en-US" sz="2300" b="1" dirty="0">
                <a:solidFill>
                  <a:srgbClr val="C00000"/>
                </a:solidFill>
              </a:rPr>
              <a:t>pass" </a:t>
            </a:r>
            <a:r>
              <a:rPr lang="en-US" sz="2300" dirty="0"/>
              <a:t>is a null operation; it doesn't do anything. It's used as a placeholder when a statement is syntactically required but no action is needed. </a:t>
            </a:r>
            <a:endParaRPr lang="en-US" sz="2300" b="0" i="0" dirty="0">
              <a:effectLst/>
            </a:endParaRPr>
          </a:p>
        </p:txBody>
      </p:sp>
    </p:spTree>
    <p:extLst>
      <p:ext uri="{BB962C8B-B14F-4D97-AF65-F5344CB8AC3E}">
        <p14:creationId xmlns:p14="http://schemas.microsoft.com/office/powerpoint/2010/main" val="1155488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Autofit/>
          </a:bodyPr>
          <a:lstStyle/>
          <a:p>
            <a:r>
              <a:rPr lang="en-US" sz="5400" b="1" dirty="0"/>
              <a:t>The Break </a:t>
            </a:r>
            <a:r>
              <a:rPr lang="en-US" sz="5400" b="1" dirty="0" smtClean="0"/>
              <a:t>Statement </a:t>
            </a:r>
            <a:r>
              <a:rPr lang="en-US" sz="4900" dirty="0" smtClean="0">
                <a:latin typeface="+mn-lt"/>
              </a:rPr>
              <a:t>in </a:t>
            </a:r>
            <a:r>
              <a:rPr lang="en-US" sz="4900" dirty="0">
                <a:latin typeface="+mn-lt"/>
              </a:rPr>
              <a:t>Python</a:t>
            </a:r>
          </a:p>
        </p:txBody>
      </p:sp>
      <p:sp>
        <p:nvSpPr>
          <p:cNvPr id="5" name="Rectangle 4"/>
          <p:cNvSpPr/>
          <p:nvPr/>
        </p:nvSpPr>
        <p:spPr>
          <a:xfrm>
            <a:off x="920261" y="1690688"/>
            <a:ext cx="10553700" cy="2215991"/>
          </a:xfrm>
          <a:prstGeom prst="rect">
            <a:avLst/>
          </a:prstGeom>
        </p:spPr>
        <p:txBody>
          <a:bodyPr wrap="square">
            <a:spAutoFit/>
          </a:bodyPr>
          <a:lstStyle/>
          <a:p>
            <a:pPr marL="342900" indent="-342900" algn="just">
              <a:buFont typeface="Arial" panose="020B0604020202020204" pitchFamily="34" charset="0"/>
              <a:buChar char="•"/>
            </a:pPr>
            <a:r>
              <a:rPr lang="en-US" sz="2300" dirty="0" smtClean="0"/>
              <a:t>The </a:t>
            </a:r>
            <a:r>
              <a:rPr lang="en-US" sz="2300" dirty="0"/>
              <a:t>break statement allows </a:t>
            </a:r>
            <a:r>
              <a:rPr lang="en-US" sz="2300" dirty="0" smtClean="0"/>
              <a:t>to </a:t>
            </a:r>
            <a:r>
              <a:rPr lang="en-US" sz="2300" dirty="0"/>
              <a:t>prematurely exit from a loop, regardless of whether it is a for loop or a while loop</a:t>
            </a:r>
            <a:r>
              <a:rPr lang="en-US" sz="2300" dirty="0" smtClean="0"/>
              <a:t>.</a:t>
            </a:r>
          </a:p>
          <a:p>
            <a:pPr marL="342900" indent="-342900" algn="just">
              <a:buFont typeface="Arial" panose="020B0604020202020204" pitchFamily="34" charset="0"/>
              <a:buChar char="•"/>
            </a:pPr>
            <a:endParaRPr lang="en-US" sz="2300" dirty="0"/>
          </a:p>
          <a:p>
            <a:pPr marL="342900" indent="-342900" algn="just">
              <a:buFont typeface="Arial" panose="020B0604020202020204" pitchFamily="34" charset="0"/>
              <a:buChar char="•"/>
            </a:pPr>
            <a:r>
              <a:rPr lang="en-US" sz="2300" dirty="0"/>
              <a:t>When encountered, the break statement terminates the current loop iteration and transfers the program's control to the statement immediately following the loop</a:t>
            </a:r>
            <a:r>
              <a:rPr lang="en-US" sz="2300" dirty="0" smtClean="0"/>
              <a:t>.</a:t>
            </a:r>
          </a:p>
          <a:p>
            <a:pPr algn="just"/>
            <a:endParaRPr lang="en-US" sz="2300" dirty="0"/>
          </a:p>
        </p:txBody>
      </p:sp>
      <p:pic>
        <p:nvPicPr>
          <p:cNvPr id="7" name="Picture 6"/>
          <p:cNvPicPr>
            <a:picLocks noChangeAspect="1"/>
          </p:cNvPicPr>
          <p:nvPr/>
        </p:nvPicPr>
        <p:blipFill>
          <a:blip r:embed="rId2"/>
          <a:stretch>
            <a:fillRect/>
          </a:stretch>
        </p:blipFill>
        <p:spPr>
          <a:xfrm>
            <a:off x="1333974" y="4064035"/>
            <a:ext cx="4495325" cy="2555378"/>
          </a:xfrm>
          <a:prstGeom prst="rect">
            <a:avLst/>
          </a:prstGeom>
        </p:spPr>
      </p:pic>
      <p:sp>
        <p:nvSpPr>
          <p:cNvPr id="8" name="Rectangle 7"/>
          <p:cNvSpPr/>
          <p:nvPr/>
        </p:nvSpPr>
        <p:spPr>
          <a:xfrm>
            <a:off x="1263162" y="3616025"/>
            <a:ext cx="1059521" cy="369332"/>
          </a:xfrm>
          <a:prstGeom prst="rect">
            <a:avLst/>
          </a:prstGeom>
        </p:spPr>
        <p:txBody>
          <a:bodyPr wrap="none">
            <a:spAutoFit/>
          </a:bodyPr>
          <a:lstStyle/>
          <a:p>
            <a:pPr algn="just"/>
            <a:r>
              <a:rPr lang="en-US" b="1" dirty="0" smtClean="0"/>
              <a:t>Example:</a:t>
            </a:r>
            <a:endParaRPr lang="en-US" b="1" dirty="0"/>
          </a:p>
        </p:txBody>
      </p:sp>
      <p:pic>
        <p:nvPicPr>
          <p:cNvPr id="9" name="Picture 8"/>
          <p:cNvPicPr>
            <a:picLocks noChangeAspect="1"/>
          </p:cNvPicPr>
          <p:nvPr/>
        </p:nvPicPr>
        <p:blipFill>
          <a:blip r:embed="rId3"/>
          <a:stretch>
            <a:fillRect/>
          </a:stretch>
        </p:blipFill>
        <p:spPr>
          <a:xfrm>
            <a:off x="5910899" y="4064035"/>
            <a:ext cx="1843917" cy="2549033"/>
          </a:xfrm>
          <a:prstGeom prst="rect">
            <a:avLst/>
          </a:prstGeom>
        </p:spPr>
      </p:pic>
      <p:sp>
        <p:nvSpPr>
          <p:cNvPr id="10" name="Rectangle 9"/>
          <p:cNvSpPr/>
          <p:nvPr/>
        </p:nvSpPr>
        <p:spPr>
          <a:xfrm>
            <a:off x="7903825" y="3750746"/>
            <a:ext cx="4288175" cy="2862322"/>
          </a:xfrm>
          <a:prstGeom prst="rect">
            <a:avLst/>
          </a:prstGeom>
        </p:spPr>
        <p:txBody>
          <a:bodyPr wrap="square">
            <a:spAutoFit/>
          </a:bodyPr>
          <a:lstStyle/>
          <a:p>
            <a:pPr>
              <a:buFont typeface="Arial" panose="020B0604020202020204" pitchFamily="34" charset="0"/>
              <a:buChar char="•"/>
            </a:pPr>
            <a:r>
              <a:rPr lang="en-US" dirty="0">
                <a:solidFill>
                  <a:srgbClr val="0070C0"/>
                </a:solidFill>
                <a:latin typeface="DM Sans"/>
              </a:rPr>
              <a:t>In this code example, </a:t>
            </a:r>
            <a:r>
              <a:rPr lang="en-US" dirty="0" smtClean="0">
                <a:solidFill>
                  <a:srgbClr val="0070C0"/>
                </a:solidFill>
                <a:latin typeface="DM Sans"/>
              </a:rPr>
              <a:t>there is a </a:t>
            </a:r>
            <a:r>
              <a:rPr lang="en-US" dirty="0">
                <a:solidFill>
                  <a:srgbClr val="0070C0"/>
                </a:solidFill>
                <a:latin typeface="DM Sans"/>
              </a:rPr>
              <a:t>list of numbers.</a:t>
            </a:r>
          </a:p>
          <a:p>
            <a:pPr>
              <a:buFont typeface="Arial" panose="020B0604020202020204" pitchFamily="34" charset="0"/>
              <a:buChar char="•"/>
            </a:pPr>
            <a:r>
              <a:rPr lang="en-US" dirty="0">
                <a:solidFill>
                  <a:srgbClr val="0070C0"/>
                </a:solidFill>
                <a:latin typeface="DM Sans"/>
              </a:rPr>
              <a:t>The loop iterates over each number, and when the value of </a:t>
            </a:r>
            <a:r>
              <a:rPr lang="en-US" dirty="0" err="1">
                <a:solidFill>
                  <a:srgbClr val="0070C0"/>
                </a:solidFill>
                <a:latin typeface="DM Sans"/>
              </a:rPr>
              <a:t>num</a:t>
            </a:r>
            <a:r>
              <a:rPr lang="en-US" dirty="0">
                <a:solidFill>
                  <a:srgbClr val="0070C0"/>
                </a:solidFill>
                <a:latin typeface="DM Sans"/>
              </a:rPr>
              <a:t> becomes 3, the break statement is encountered.</a:t>
            </a:r>
          </a:p>
          <a:p>
            <a:pPr>
              <a:buFont typeface="Arial" panose="020B0604020202020204" pitchFamily="34" charset="0"/>
              <a:buChar char="•"/>
            </a:pPr>
            <a:r>
              <a:rPr lang="en-US" dirty="0">
                <a:solidFill>
                  <a:srgbClr val="0070C0"/>
                </a:solidFill>
                <a:latin typeface="DM Sans"/>
              </a:rPr>
              <a:t>As a result, the loop is terminated, and the program control moves to the line following the loop.</a:t>
            </a:r>
          </a:p>
          <a:p>
            <a:pPr>
              <a:buFont typeface="Arial" panose="020B0604020202020204" pitchFamily="34" charset="0"/>
              <a:buChar char="•"/>
            </a:pPr>
            <a:r>
              <a:rPr lang="en-US" dirty="0">
                <a:solidFill>
                  <a:srgbClr val="0070C0"/>
                </a:solidFill>
                <a:latin typeface="DM Sans"/>
              </a:rPr>
              <a:t>Therefore, only the numbers 1 and 2 are printed.</a:t>
            </a:r>
            <a:endParaRPr lang="en-US" b="0" i="0" dirty="0">
              <a:solidFill>
                <a:srgbClr val="0070C0"/>
              </a:solidFill>
              <a:effectLst/>
              <a:latin typeface="DM Sans"/>
            </a:endParaRPr>
          </a:p>
        </p:txBody>
      </p:sp>
    </p:spTree>
    <p:extLst>
      <p:ext uri="{BB962C8B-B14F-4D97-AF65-F5344CB8AC3E}">
        <p14:creationId xmlns:p14="http://schemas.microsoft.com/office/powerpoint/2010/main" val="868894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Autofit/>
          </a:bodyPr>
          <a:lstStyle/>
          <a:p>
            <a:r>
              <a:rPr lang="en-US" sz="5400" dirty="0">
                <a:solidFill>
                  <a:srgbClr val="2A2A2A"/>
                </a:solidFill>
              </a:rPr>
              <a:t>The Continue </a:t>
            </a:r>
            <a:r>
              <a:rPr lang="en-US" sz="5400" dirty="0" smtClean="0">
                <a:solidFill>
                  <a:srgbClr val="2A2A2A"/>
                </a:solidFill>
              </a:rPr>
              <a:t>Statement </a:t>
            </a:r>
            <a:r>
              <a:rPr lang="en-US" sz="5400" dirty="0" smtClean="0"/>
              <a:t>in </a:t>
            </a:r>
            <a:r>
              <a:rPr lang="en-US" sz="5400" dirty="0"/>
              <a:t>Python</a:t>
            </a:r>
          </a:p>
        </p:txBody>
      </p:sp>
      <p:sp>
        <p:nvSpPr>
          <p:cNvPr id="5" name="Rectangle 4"/>
          <p:cNvSpPr/>
          <p:nvPr/>
        </p:nvSpPr>
        <p:spPr>
          <a:xfrm>
            <a:off x="902676" y="1571453"/>
            <a:ext cx="10738339" cy="2215991"/>
          </a:xfrm>
          <a:prstGeom prst="rect">
            <a:avLst/>
          </a:prstGeom>
        </p:spPr>
        <p:txBody>
          <a:bodyPr wrap="square">
            <a:spAutoFit/>
          </a:bodyPr>
          <a:lstStyle/>
          <a:p>
            <a:pPr marL="342900" indent="-342900" algn="just">
              <a:buFont typeface="Arial" panose="020B0604020202020204" pitchFamily="34" charset="0"/>
              <a:buChar char="•"/>
            </a:pPr>
            <a:r>
              <a:rPr lang="en-US" sz="2300" dirty="0" smtClean="0"/>
              <a:t>The </a:t>
            </a:r>
            <a:r>
              <a:rPr lang="en-US" sz="2300" dirty="0"/>
              <a:t>continue statement allows you to skip the remaining statements within a loop iteration and move to the next iteration</a:t>
            </a:r>
            <a:r>
              <a:rPr lang="en-US" sz="2300" dirty="0" smtClean="0"/>
              <a:t>.</a:t>
            </a:r>
          </a:p>
          <a:p>
            <a:pPr marL="342900" indent="-342900" algn="just">
              <a:buFont typeface="Arial" panose="020B0604020202020204" pitchFamily="34" charset="0"/>
              <a:buChar char="•"/>
            </a:pPr>
            <a:endParaRPr lang="en-US" sz="2300" dirty="0"/>
          </a:p>
          <a:p>
            <a:pPr marL="342900" indent="-342900" algn="just">
              <a:buFont typeface="Arial" panose="020B0604020202020204" pitchFamily="34" charset="0"/>
              <a:buChar char="•"/>
            </a:pPr>
            <a:r>
              <a:rPr lang="en-US" sz="2300" dirty="0"/>
              <a:t>The continue statement </a:t>
            </a:r>
            <a:r>
              <a:rPr lang="en-US" sz="2300" dirty="0" smtClean="0"/>
              <a:t>is useful </a:t>
            </a:r>
            <a:r>
              <a:rPr lang="en-US" sz="2300" dirty="0"/>
              <a:t>when </a:t>
            </a:r>
            <a:r>
              <a:rPr lang="en-US" sz="2300" dirty="0" smtClean="0"/>
              <a:t>we </a:t>
            </a:r>
            <a:r>
              <a:rPr lang="en-US" sz="2300" dirty="0"/>
              <a:t>want to exclude certain elements from processing within a loop</a:t>
            </a:r>
            <a:r>
              <a:rPr lang="en-US" sz="2300" dirty="0" smtClean="0"/>
              <a:t>.</a:t>
            </a:r>
          </a:p>
          <a:p>
            <a:pPr marL="342900" indent="-342900" algn="just">
              <a:buFont typeface="Arial" panose="020B0604020202020204" pitchFamily="34" charset="0"/>
              <a:buChar char="•"/>
            </a:pPr>
            <a:endParaRPr lang="en-US" sz="2300" dirty="0"/>
          </a:p>
        </p:txBody>
      </p:sp>
      <p:pic>
        <p:nvPicPr>
          <p:cNvPr id="6" name="Picture 5"/>
          <p:cNvPicPr>
            <a:picLocks noChangeAspect="1"/>
          </p:cNvPicPr>
          <p:nvPr/>
        </p:nvPicPr>
        <p:blipFill>
          <a:blip r:embed="rId2"/>
          <a:stretch>
            <a:fillRect/>
          </a:stretch>
        </p:blipFill>
        <p:spPr>
          <a:xfrm>
            <a:off x="1328698" y="4159873"/>
            <a:ext cx="4802423" cy="2566242"/>
          </a:xfrm>
          <a:prstGeom prst="rect">
            <a:avLst/>
          </a:prstGeom>
        </p:spPr>
      </p:pic>
      <p:sp>
        <p:nvSpPr>
          <p:cNvPr id="7" name="Rectangle 6"/>
          <p:cNvSpPr/>
          <p:nvPr/>
        </p:nvSpPr>
        <p:spPr>
          <a:xfrm>
            <a:off x="1258360" y="3602778"/>
            <a:ext cx="1339361" cy="369332"/>
          </a:xfrm>
          <a:prstGeom prst="rect">
            <a:avLst/>
          </a:prstGeom>
        </p:spPr>
        <p:txBody>
          <a:bodyPr wrap="square">
            <a:spAutoFit/>
          </a:bodyPr>
          <a:lstStyle/>
          <a:p>
            <a:pPr algn="just"/>
            <a:r>
              <a:rPr lang="en-US" b="1" dirty="0" smtClean="0"/>
              <a:t>Example:</a:t>
            </a:r>
            <a:endParaRPr lang="en-US" b="1" dirty="0"/>
          </a:p>
        </p:txBody>
      </p:sp>
      <p:pic>
        <p:nvPicPr>
          <p:cNvPr id="8" name="Picture 7"/>
          <p:cNvPicPr>
            <a:picLocks noChangeAspect="1"/>
          </p:cNvPicPr>
          <p:nvPr/>
        </p:nvPicPr>
        <p:blipFill>
          <a:blip r:embed="rId3"/>
          <a:stretch>
            <a:fillRect/>
          </a:stretch>
        </p:blipFill>
        <p:spPr>
          <a:xfrm>
            <a:off x="6271845" y="4159873"/>
            <a:ext cx="1370453" cy="2566242"/>
          </a:xfrm>
          <a:prstGeom prst="rect">
            <a:avLst/>
          </a:prstGeom>
        </p:spPr>
      </p:pic>
      <p:sp>
        <p:nvSpPr>
          <p:cNvPr id="9" name="Rectangle 8"/>
          <p:cNvSpPr/>
          <p:nvPr/>
        </p:nvSpPr>
        <p:spPr>
          <a:xfrm>
            <a:off x="7783023" y="3839610"/>
            <a:ext cx="4236062" cy="2862322"/>
          </a:xfrm>
          <a:prstGeom prst="rect">
            <a:avLst/>
          </a:prstGeom>
        </p:spPr>
        <p:txBody>
          <a:bodyPr wrap="square">
            <a:spAutoFit/>
          </a:bodyPr>
          <a:lstStyle/>
          <a:p>
            <a:pPr>
              <a:buFont typeface="Arial" panose="020B0604020202020204" pitchFamily="34" charset="0"/>
              <a:buChar char="•"/>
            </a:pPr>
            <a:r>
              <a:rPr lang="en-US" dirty="0">
                <a:latin typeface="DM Sans"/>
              </a:rPr>
              <a:t>In the </a:t>
            </a:r>
            <a:r>
              <a:rPr lang="en-US" dirty="0" smtClean="0">
                <a:latin typeface="DM Sans"/>
              </a:rPr>
              <a:t>example</a:t>
            </a:r>
            <a:r>
              <a:rPr lang="en-US" dirty="0">
                <a:latin typeface="DM Sans"/>
              </a:rPr>
              <a:t>, the loop iterates over each number in the list</a:t>
            </a:r>
            <a:r>
              <a:rPr lang="en-US" dirty="0" smtClean="0">
                <a:latin typeface="DM Sans"/>
              </a:rPr>
              <a:t>.</a:t>
            </a:r>
          </a:p>
          <a:p>
            <a:pPr>
              <a:buFont typeface="Arial" panose="020B0604020202020204" pitchFamily="34" charset="0"/>
              <a:buChar char="•"/>
            </a:pPr>
            <a:endParaRPr lang="en-US" dirty="0">
              <a:latin typeface="DM Sans"/>
            </a:endParaRPr>
          </a:p>
          <a:p>
            <a:pPr>
              <a:buFont typeface="Arial" panose="020B0604020202020204" pitchFamily="34" charset="0"/>
              <a:buChar char="•"/>
            </a:pPr>
            <a:r>
              <a:rPr lang="en-US" dirty="0">
                <a:latin typeface="DM Sans"/>
              </a:rPr>
              <a:t>If a number is even (divisible by 2), the continue statement </a:t>
            </a:r>
            <a:r>
              <a:rPr lang="en-US" dirty="0" smtClean="0">
                <a:latin typeface="DM Sans"/>
              </a:rPr>
              <a:t>is encountered</a:t>
            </a:r>
            <a:r>
              <a:rPr lang="en-US" dirty="0">
                <a:latin typeface="DM Sans"/>
              </a:rPr>
              <a:t>, skipping the remaining statements within that iteration</a:t>
            </a:r>
            <a:r>
              <a:rPr lang="en-US" dirty="0" smtClean="0">
                <a:latin typeface="DM Sans"/>
              </a:rPr>
              <a:t>.</a:t>
            </a:r>
          </a:p>
          <a:p>
            <a:pPr>
              <a:buFont typeface="Arial" panose="020B0604020202020204" pitchFamily="34" charset="0"/>
              <a:buChar char="•"/>
            </a:pPr>
            <a:endParaRPr lang="en-US" dirty="0">
              <a:latin typeface="DM Sans"/>
            </a:endParaRPr>
          </a:p>
          <a:p>
            <a:pPr>
              <a:buFont typeface="Arial" panose="020B0604020202020204" pitchFamily="34" charset="0"/>
              <a:buChar char="•"/>
            </a:pPr>
            <a:r>
              <a:rPr lang="en-US" dirty="0">
                <a:latin typeface="DM Sans"/>
              </a:rPr>
              <a:t>As a result, only odd numbers are printed.</a:t>
            </a:r>
            <a:endParaRPr lang="en-US" b="0" i="0" dirty="0">
              <a:effectLst/>
              <a:latin typeface="DM Sans"/>
            </a:endParaRPr>
          </a:p>
        </p:txBody>
      </p:sp>
    </p:spTree>
    <p:extLst>
      <p:ext uri="{BB962C8B-B14F-4D97-AF65-F5344CB8AC3E}">
        <p14:creationId xmlns:p14="http://schemas.microsoft.com/office/powerpoint/2010/main" val="2800905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C7FFA08-8DC7-453A-B1E6-10BADD999667}"/>
              </a:ext>
            </a:extLst>
          </p:cNvPr>
          <p:cNvSpPr>
            <a:spLocks noGrp="1"/>
          </p:cNvSpPr>
          <p:nvPr>
            <p:ph type="title"/>
          </p:nvPr>
        </p:nvSpPr>
        <p:spPr>
          <a:xfrm>
            <a:off x="838200" y="365125"/>
            <a:ext cx="10515600" cy="1325563"/>
          </a:xfrm>
        </p:spPr>
        <p:txBody>
          <a:bodyPr>
            <a:noAutofit/>
          </a:bodyPr>
          <a:lstStyle/>
          <a:p>
            <a:r>
              <a:rPr lang="en-US" sz="5400" dirty="0">
                <a:solidFill>
                  <a:srgbClr val="2A2A2A"/>
                </a:solidFill>
              </a:rPr>
              <a:t>The Pass </a:t>
            </a:r>
            <a:r>
              <a:rPr lang="en-US" sz="5400" dirty="0" smtClean="0">
                <a:solidFill>
                  <a:srgbClr val="2A2A2A"/>
                </a:solidFill>
              </a:rPr>
              <a:t>Statement </a:t>
            </a:r>
            <a:r>
              <a:rPr lang="en-US" sz="5400" dirty="0" smtClean="0"/>
              <a:t>in </a:t>
            </a:r>
            <a:r>
              <a:rPr lang="en-US" sz="5400" dirty="0"/>
              <a:t>Python</a:t>
            </a:r>
          </a:p>
        </p:txBody>
      </p:sp>
      <p:sp>
        <p:nvSpPr>
          <p:cNvPr id="5" name="Rectangle 4"/>
          <p:cNvSpPr/>
          <p:nvPr/>
        </p:nvSpPr>
        <p:spPr>
          <a:xfrm>
            <a:off x="838199" y="1552442"/>
            <a:ext cx="10961077" cy="1508105"/>
          </a:xfrm>
          <a:prstGeom prst="rect">
            <a:avLst/>
          </a:prstGeom>
        </p:spPr>
        <p:txBody>
          <a:bodyPr wrap="square">
            <a:spAutoFit/>
          </a:bodyPr>
          <a:lstStyle/>
          <a:p>
            <a:pPr marL="342900" indent="-342900" algn="just">
              <a:buFont typeface="Arial" panose="020B0604020202020204" pitchFamily="34" charset="0"/>
              <a:buChar char="•"/>
            </a:pPr>
            <a:r>
              <a:rPr lang="en-US" sz="2300" dirty="0" smtClean="0"/>
              <a:t>The </a:t>
            </a:r>
            <a:r>
              <a:rPr lang="en-US" sz="2300" dirty="0"/>
              <a:t>pass statement is a placeholder statement that does nothing. </a:t>
            </a:r>
          </a:p>
          <a:p>
            <a:pPr marL="342900" indent="-342900" algn="just">
              <a:buFont typeface="Arial" panose="020B0604020202020204" pitchFamily="34" charset="0"/>
              <a:buChar char="•"/>
            </a:pPr>
            <a:r>
              <a:rPr lang="en-US" sz="2300" dirty="0" smtClean="0"/>
              <a:t>It </a:t>
            </a:r>
            <a:r>
              <a:rPr lang="en-US" sz="2300" dirty="0"/>
              <a:t>is used when </a:t>
            </a:r>
            <a:r>
              <a:rPr lang="en-US" sz="2300" dirty="0" smtClean="0"/>
              <a:t>we </a:t>
            </a:r>
            <a:r>
              <a:rPr lang="en-US" sz="2300" dirty="0"/>
              <a:t>need a statement syntactically but don't want to perform any action</a:t>
            </a:r>
            <a:r>
              <a:rPr lang="en-US" sz="2300" dirty="0" smtClean="0"/>
              <a:t>.</a:t>
            </a:r>
            <a:endParaRPr lang="en-US" sz="2300" dirty="0"/>
          </a:p>
          <a:p>
            <a:pPr marL="342900" indent="-342900" algn="just">
              <a:buFont typeface="Arial" panose="020B0604020202020204" pitchFamily="34" charset="0"/>
              <a:buChar char="•"/>
            </a:pPr>
            <a:r>
              <a:rPr lang="en-US" sz="2300" dirty="0"/>
              <a:t>The pass statement is often used as a placeholder while developing code, </a:t>
            </a:r>
            <a:r>
              <a:rPr lang="en-US" sz="2300" dirty="0" smtClean="0"/>
              <a:t>allowing us  </a:t>
            </a:r>
            <a:r>
              <a:rPr lang="en-US" sz="2300" dirty="0"/>
              <a:t>to leave functions or classes empty until </a:t>
            </a:r>
            <a:r>
              <a:rPr lang="en-US" sz="2300" dirty="0" smtClean="0"/>
              <a:t>we </a:t>
            </a:r>
            <a:r>
              <a:rPr lang="en-US" sz="2300" dirty="0"/>
              <a:t>are ready to implement them</a:t>
            </a:r>
            <a:r>
              <a:rPr lang="en-US" sz="2300" dirty="0" smtClean="0"/>
              <a:t>.</a:t>
            </a:r>
            <a:endParaRPr lang="en-US" sz="2300" dirty="0"/>
          </a:p>
        </p:txBody>
      </p:sp>
      <p:sp>
        <p:nvSpPr>
          <p:cNvPr id="7" name="Rectangle 6"/>
          <p:cNvSpPr/>
          <p:nvPr/>
        </p:nvSpPr>
        <p:spPr>
          <a:xfrm>
            <a:off x="1011561" y="3091325"/>
            <a:ext cx="1532599" cy="477054"/>
          </a:xfrm>
          <a:prstGeom prst="rect">
            <a:avLst/>
          </a:prstGeom>
        </p:spPr>
        <p:txBody>
          <a:bodyPr wrap="none">
            <a:spAutoFit/>
          </a:bodyPr>
          <a:lstStyle/>
          <a:p>
            <a:pPr algn="just"/>
            <a:r>
              <a:rPr lang="en-US" sz="2500" b="1" dirty="0" smtClean="0">
                <a:solidFill>
                  <a:srgbClr val="C00000"/>
                </a:solidFill>
              </a:rPr>
              <a:t>Examples:</a:t>
            </a:r>
            <a:endParaRPr lang="en-US" sz="2500" b="1" dirty="0">
              <a:solidFill>
                <a:srgbClr val="C00000"/>
              </a:solidFill>
            </a:endParaRPr>
          </a:p>
        </p:txBody>
      </p:sp>
      <p:sp>
        <p:nvSpPr>
          <p:cNvPr id="8" name="Rectangle 7"/>
          <p:cNvSpPr/>
          <p:nvPr/>
        </p:nvSpPr>
        <p:spPr>
          <a:xfrm>
            <a:off x="905199" y="3670935"/>
            <a:ext cx="4607578" cy="1754326"/>
          </a:xfrm>
          <a:prstGeom prst="rect">
            <a:avLst/>
          </a:prstGeom>
          <a:ln w="12700">
            <a:solidFill>
              <a:schemeClr val="tx1"/>
            </a:solidFill>
          </a:ln>
        </p:spPr>
        <p:txBody>
          <a:bodyPr wrap="square">
            <a:spAutoFit/>
          </a:bodyPr>
          <a:lstStyle/>
          <a:p>
            <a:r>
              <a:rPr lang="en-US" dirty="0">
                <a:latin typeface="Roboto"/>
              </a:rPr>
              <a:t># Example: Use pass in a conditional </a:t>
            </a:r>
            <a:r>
              <a:rPr lang="en-US" dirty="0" smtClean="0">
                <a:latin typeface="Roboto"/>
              </a:rPr>
              <a:t>block</a:t>
            </a:r>
          </a:p>
          <a:p>
            <a:r>
              <a:rPr lang="en-US" dirty="0" smtClean="0">
                <a:latin typeface="Roboto"/>
              </a:rPr>
              <a:t>x </a:t>
            </a:r>
            <a:r>
              <a:rPr lang="en-US" dirty="0">
                <a:latin typeface="Roboto"/>
              </a:rPr>
              <a:t>= 10</a:t>
            </a:r>
          </a:p>
          <a:p>
            <a:r>
              <a:rPr lang="en-US" dirty="0">
                <a:latin typeface="Roboto"/>
              </a:rPr>
              <a:t>if x &gt; 5:</a:t>
            </a:r>
          </a:p>
          <a:p>
            <a:r>
              <a:rPr lang="en-US" dirty="0">
                <a:latin typeface="Roboto"/>
              </a:rPr>
              <a:t>    pass  # Placeholder for future code</a:t>
            </a:r>
          </a:p>
          <a:p>
            <a:r>
              <a:rPr lang="en-US" dirty="0">
                <a:latin typeface="Roboto"/>
              </a:rPr>
              <a:t>else:</a:t>
            </a:r>
          </a:p>
          <a:p>
            <a:r>
              <a:rPr lang="en-US" dirty="0">
                <a:latin typeface="Roboto"/>
              </a:rPr>
              <a:t>    print("x is not greater than 5")</a:t>
            </a:r>
            <a:endParaRPr lang="en-US" b="0" i="0" dirty="0">
              <a:effectLst/>
              <a:latin typeface="Roboto"/>
            </a:endParaRPr>
          </a:p>
        </p:txBody>
      </p:sp>
      <p:sp>
        <p:nvSpPr>
          <p:cNvPr id="9" name="Rectangle 8"/>
          <p:cNvSpPr/>
          <p:nvPr/>
        </p:nvSpPr>
        <p:spPr>
          <a:xfrm>
            <a:off x="762002" y="5779204"/>
            <a:ext cx="11429998" cy="1015663"/>
          </a:xfrm>
          <a:prstGeom prst="rect">
            <a:avLst/>
          </a:prstGeom>
        </p:spPr>
        <p:txBody>
          <a:bodyPr wrap="square">
            <a:spAutoFit/>
          </a:bodyPr>
          <a:lstStyle/>
          <a:p>
            <a:r>
              <a:rPr lang="en-US" sz="2000" dirty="0"/>
              <a:t>In each of these examples, the "pass" statement is used to indicate that the function, class, or conditional block has been defined but lacks implementation. This allows the code to be syntactically correct while awaiting further development.</a:t>
            </a:r>
            <a:endParaRPr lang="en-IN" sz="2000" dirty="0"/>
          </a:p>
        </p:txBody>
      </p:sp>
      <p:sp>
        <p:nvSpPr>
          <p:cNvPr id="10" name="Rectangle 9"/>
          <p:cNvSpPr/>
          <p:nvPr/>
        </p:nvSpPr>
        <p:spPr>
          <a:xfrm>
            <a:off x="5703276" y="3091325"/>
            <a:ext cx="6096000" cy="1200329"/>
          </a:xfrm>
          <a:prstGeom prst="rect">
            <a:avLst/>
          </a:prstGeom>
          <a:ln w="19050">
            <a:solidFill>
              <a:schemeClr val="tx1"/>
            </a:solidFill>
          </a:ln>
        </p:spPr>
        <p:txBody>
          <a:bodyPr>
            <a:spAutoFit/>
          </a:bodyPr>
          <a:lstStyle/>
          <a:p>
            <a:r>
              <a:rPr lang="en-US" dirty="0">
                <a:latin typeface="Roboto"/>
              </a:rPr>
              <a:t># Example: Define a function with no implementation yet</a:t>
            </a:r>
          </a:p>
          <a:p>
            <a:endParaRPr lang="en-US" dirty="0" smtClean="0">
              <a:latin typeface="Roboto"/>
            </a:endParaRPr>
          </a:p>
          <a:p>
            <a:r>
              <a:rPr lang="en-US" dirty="0" err="1" smtClean="0">
                <a:latin typeface="Roboto"/>
              </a:rPr>
              <a:t>def</a:t>
            </a:r>
            <a:r>
              <a:rPr lang="en-US" dirty="0" smtClean="0">
                <a:latin typeface="Roboto"/>
              </a:rPr>
              <a:t> </a:t>
            </a:r>
            <a:r>
              <a:rPr lang="en-US" dirty="0" err="1">
                <a:latin typeface="Roboto"/>
              </a:rPr>
              <a:t>placeholder_function</a:t>
            </a:r>
            <a:r>
              <a:rPr lang="en-US" dirty="0" smtClean="0">
                <a:latin typeface="Roboto"/>
              </a:rPr>
              <a:t>():</a:t>
            </a:r>
            <a:endParaRPr lang="en-US" dirty="0">
              <a:latin typeface="Roboto"/>
            </a:endParaRPr>
          </a:p>
          <a:p>
            <a:r>
              <a:rPr lang="en-US" dirty="0">
                <a:latin typeface="Roboto"/>
              </a:rPr>
              <a:t>    pass  # Placeholder for future </a:t>
            </a:r>
            <a:r>
              <a:rPr lang="en-US" dirty="0" smtClean="0">
                <a:latin typeface="Roboto"/>
              </a:rPr>
              <a:t>implementation</a:t>
            </a:r>
            <a:endParaRPr lang="en-US" dirty="0">
              <a:latin typeface="Roboto"/>
            </a:endParaRPr>
          </a:p>
        </p:txBody>
      </p:sp>
      <p:sp>
        <p:nvSpPr>
          <p:cNvPr id="11" name="Rectangle 10"/>
          <p:cNvSpPr/>
          <p:nvPr/>
        </p:nvSpPr>
        <p:spPr>
          <a:xfrm>
            <a:off x="5703276" y="4435264"/>
            <a:ext cx="6096000" cy="1200329"/>
          </a:xfrm>
          <a:prstGeom prst="rect">
            <a:avLst/>
          </a:prstGeom>
          <a:ln w="19050">
            <a:solidFill>
              <a:schemeClr val="tx1"/>
            </a:solidFill>
          </a:ln>
        </p:spPr>
        <p:txBody>
          <a:bodyPr>
            <a:spAutoFit/>
          </a:bodyPr>
          <a:lstStyle/>
          <a:p>
            <a:r>
              <a:rPr lang="en-US" dirty="0">
                <a:latin typeface="Roboto"/>
              </a:rPr>
              <a:t># Example: Define an empty class</a:t>
            </a:r>
          </a:p>
          <a:p>
            <a:endParaRPr lang="en-US" dirty="0">
              <a:latin typeface="Roboto"/>
            </a:endParaRPr>
          </a:p>
          <a:p>
            <a:r>
              <a:rPr lang="en-US" dirty="0">
                <a:latin typeface="Roboto"/>
              </a:rPr>
              <a:t>class </a:t>
            </a:r>
            <a:r>
              <a:rPr lang="en-US" dirty="0" err="1">
                <a:latin typeface="Roboto"/>
              </a:rPr>
              <a:t>EmptyClass</a:t>
            </a:r>
            <a:r>
              <a:rPr lang="en-US" dirty="0">
                <a:latin typeface="Roboto"/>
              </a:rPr>
              <a:t>:</a:t>
            </a:r>
          </a:p>
          <a:p>
            <a:r>
              <a:rPr lang="en-US" dirty="0">
                <a:latin typeface="Roboto"/>
              </a:rPr>
              <a:t>    pass  # Placeholder for future class definition</a:t>
            </a:r>
            <a:endParaRPr lang="en-US" dirty="0">
              <a:latin typeface="Roboto"/>
            </a:endParaRPr>
          </a:p>
        </p:txBody>
      </p:sp>
    </p:spTree>
    <p:extLst>
      <p:ext uri="{BB962C8B-B14F-4D97-AF65-F5344CB8AC3E}">
        <p14:creationId xmlns:p14="http://schemas.microsoft.com/office/powerpoint/2010/main" val="2708292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857496"/>
            <a:ext cx="12192000" cy="1333509"/>
          </a:xfrm>
        </p:spPr>
        <p:txBody>
          <a:bodyPr>
            <a:noAutofit/>
          </a:bodyPr>
          <a:lstStyle/>
          <a:p>
            <a:pPr algn="ctr">
              <a:buNone/>
            </a:pPr>
            <a:r>
              <a:rPr lang="en-IN" sz="7200" b="1" dirty="0">
                <a:solidFill>
                  <a:srgbClr val="A20000"/>
                </a:solidFill>
                <a:latin typeface="Times New Roman" panose="02020603050405020304" pitchFamily="18" charset="0"/>
                <a:cs typeface="Times New Roman" panose="02020603050405020304" pitchFamily="18" charset="0"/>
              </a:rPr>
              <a:t>THANK YOU</a:t>
            </a:r>
            <a:endParaRPr lang="en-US" sz="7200" b="1" dirty="0">
              <a:solidFill>
                <a:srgbClr val="A20000"/>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E4AAC757-DDD3-264F-B77D-C44FF96F1272}"/>
              </a:ext>
            </a:extLst>
          </p:cNvPr>
          <p:cNvSpPr>
            <a:spLocks noGrp="1"/>
          </p:cNvSpPr>
          <p:nvPr>
            <p:ph type="dt" sz="half" idx="10"/>
          </p:nvPr>
        </p:nvSpPr>
        <p:spPr/>
        <p:txBody>
          <a:bodyPr/>
          <a:lstStyle/>
          <a:p>
            <a:fld id="{02157019-7CB8-C34D-9182-63C14B0A597C}" type="datetime1">
              <a:rPr lang="en-IN" smtClean="0"/>
              <a:pPr/>
              <a:t>15-01-2025</a:t>
            </a:fld>
            <a:endParaRPr lang="en-US"/>
          </a:p>
        </p:txBody>
      </p:sp>
      <p:sp>
        <p:nvSpPr>
          <p:cNvPr id="4" name="Footer Placeholder 3">
            <a:extLst>
              <a:ext uri="{FF2B5EF4-FFF2-40B4-BE49-F238E27FC236}">
                <a16:creationId xmlns:a16="http://schemas.microsoft.com/office/drawing/2014/main" id="{FCD46BFF-1913-2942-A686-B7A2F8172197}"/>
              </a:ext>
            </a:extLst>
          </p:cNvPr>
          <p:cNvSpPr>
            <a:spLocks noGrp="1"/>
          </p:cNvSpPr>
          <p:nvPr>
            <p:ph type="ftr" sz="quarter" idx="11"/>
          </p:nvPr>
        </p:nvSpPr>
        <p:spPr/>
        <p:txBody>
          <a:bodyPr/>
          <a:lstStyle/>
          <a:p>
            <a:r>
              <a:rPr lang="en-US"/>
              <a:t>Python Programming</a:t>
            </a:r>
          </a:p>
        </p:txBody>
      </p:sp>
      <p:sp>
        <p:nvSpPr>
          <p:cNvPr id="5" name="Slide Number Placeholder 4">
            <a:extLst>
              <a:ext uri="{FF2B5EF4-FFF2-40B4-BE49-F238E27FC236}">
                <a16:creationId xmlns:a16="http://schemas.microsoft.com/office/drawing/2014/main" id="{6D4BCCB6-5866-B84A-B6CB-0D0953C80275}"/>
              </a:ext>
            </a:extLst>
          </p:cNvPr>
          <p:cNvSpPr>
            <a:spLocks noGrp="1"/>
          </p:cNvSpPr>
          <p:nvPr>
            <p:ph type="sldNum" sz="quarter" idx="12"/>
          </p:nvPr>
        </p:nvSpPr>
        <p:spPr/>
        <p:txBody>
          <a:bodyPr/>
          <a:lstStyle/>
          <a:p>
            <a:fld id="{73B1FD74-5DBD-DC4F-A114-E2C9B32FA9B6}" type="slidenum">
              <a:rPr lang="en-US" smtClean="0"/>
              <a:pPr/>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1476</TotalTime>
  <Words>810</Words>
  <Application>Microsoft Office PowerPoint</Application>
  <PresentationFormat>Widescreen</PresentationFormat>
  <Paragraphs>116</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Calibri</vt:lpstr>
      <vt:lpstr>Calibri Light</vt:lpstr>
      <vt:lpstr>Cambria</vt:lpstr>
      <vt:lpstr>Consolas</vt:lpstr>
      <vt:lpstr>DM Sans</vt:lpstr>
      <vt:lpstr>Roboto</vt:lpstr>
      <vt:lpstr>SFMono-Regular</vt:lpstr>
      <vt:lpstr>Times New Roman</vt:lpstr>
      <vt:lpstr>Office Theme</vt:lpstr>
      <vt:lpstr>Branch - CSE Python Programming</vt:lpstr>
      <vt:lpstr> Decision-Making Statements/Conditional Statements in Python: An Overview </vt:lpstr>
      <vt:lpstr>Types of decision-making statements in python</vt:lpstr>
      <vt:lpstr>If statements in python</vt:lpstr>
      <vt:lpstr>If else statement in Python </vt:lpstr>
      <vt:lpstr>Nested if else statement in Python</vt:lpstr>
      <vt:lpstr>Nested if else statement in Python</vt:lpstr>
      <vt:lpstr>Python if-elif-else Ladder </vt:lpstr>
      <vt:lpstr>Short Hand if Statement</vt:lpstr>
      <vt:lpstr>Short Hand if-else statement</vt:lpstr>
      <vt:lpstr>Break, Pass, and Continue Statements in Python</vt:lpstr>
      <vt:lpstr>The Break Statement in Python</vt:lpstr>
      <vt:lpstr>The Continue Statement in Python</vt:lpstr>
      <vt:lpstr>The Pass Statement in Python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Branch - CSE Python Programming</dc:title>
  <dc:creator>Shobhit Tyagi</dc:creator>
  <cp:lastModifiedBy>Smita Tiwari</cp:lastModifiedBy>
  <cp:revision>25</cp:revision>
  <dcterms:created xsi:type="dcterms:W3CDTF">2021-12-21T10:26:13Z</dcterms:created>
  <dcterms:modified xsi:type="dcterms:W3CDTF">2025-01-16T06:26:16Z</dcterms:modified>
</cp:coreProperties>
</file>