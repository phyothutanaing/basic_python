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388" r:id="rId2"/>
    <p:sldId id="389" r:id="rId3"/>
    <p:sldId id="390" r:id="rId4"/>
    <p:sldId id="391" r:id="rId5"/>
    <p:sldId id="392" r:id="rId6"/>
    <p:sldId id="393" r:id="rId7"/>
    <p:sldId id="394" r:id="rId8"/>
    <p:sldId id="395" r:id="rId9"/>
    <p:sldId id="396" r:id="rId10"/>
    <p:sldId id="397" r:id="rId11"/>
    <p:sldId id="398" r:id="rId12"/>
    <p:sldId id="399" r:id="rId13"/>
    <p:sldId id="400" r:id="rId14"/>
    <p:sldId id="40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BD54C3-8144-9E4F-9A23-5A08D92DAE2B}" v="81" dt="2021-12-21T18:59:26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92" autoAdjust="0"/>
    <p:restoredTop sz="96327"/>
  </p:normalViewPr>
  <p:slideViewPr>
    <p:cSldViewPr snapToGrid="0" snapToObjects="1">
      <p:cViewPr varScale="1">
        <p:scale>
          <a:sx n="87" d="100"/>
          <a:sy n="87" d="100"/>
        </p:scale>
        <p:origin x="475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4D34EA-CA4A-9D4F-95C2-7EB2B0B7D27B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DAFC3-C917-6040-A2DA-0C796181EC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92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78171-C08E-454E-8A66-8B8B7F47110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446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A552-EA9C-C941-87DC-58297CE8A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016A1-FD9A-9C4A-AC35-41710872D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5654D-CC5D-144B-B54D-F6BC4B8E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FF0C2-4DD7-C64B-A470-1F3C60A31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A1E6-FB29-BA43-9F2B-B0173468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34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8779-AFC5-DB42-AE0F-679B91E0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3BAF9-67F4-AB41-A579-8977753EF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9C95E-0878-AF47-B06C-90A72F7E6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E1957-891E-4C45-A08A-B7B98977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B8727-3497-644C-8C10-91AB042B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9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D3BCC-98AB-7045-893F-764BBF629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677DF-0759-A447-9F0B-754630EEC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4DD7B-6F33-E340-B978-CFB9A4034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0D106-FB97-AC41-8E99-56304B1C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5340A-86E7-1B4F-A056-39E354444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6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29E9-5402-854B-88F1-BDD1AB8D0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70C0-032D-C443-BC5F-350E9480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2FB81-8A07-A34A-A41B-755775B19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2ECC6-D50A-6441-BBDC-E96AF773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E6376-9594-554D-AC3B-E43C3AA9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7E0A6-3B00-1B41-ABA3-071463B6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8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67136-C463-6642-A1B7-42BF71E74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1D655-56A7-DB4D-B8D4-070253172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98C97-E107-324C-83A2-2B1236F72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342E0-F53A-D147-A8D7-E893C9061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247A1-E5BC-9045-AB0C-67FCCA0E9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CD4BE4-A76F-DB46-AA4A-5CC97291D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288870-3814-B44A-ADC0-78E9E7957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F95C93-10B7-F646-BA68-6446B6C86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35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588E3-1ECE-734D-9814-FF1FF59CC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BC052-4B4A-F147-8F15-D00D2D267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404723-2403-AB4A-BDF1-C16DCB42E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93540-D1A5-1F43-8257-9DA84CE1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1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49E168-26C7-FB41-99A4-8CA7734E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83F4B2-C17A-754F-9C54-D36AAE378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A3279-7DB4-F04B-A197-568C659C3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6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4BCB-4159-2443-BFA3-411610C23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F2039-7E5D-2445-8550-DD05E9B74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93630-872C-0A4F-9549-5F6904C0D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5F66B-7FA2-134A-A615-FF114DB8C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92AF-1A3D-CE40-8858-616EC31FB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D18B2-8D7A-8542-9521-8456FE56A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34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B9EA-EA8B-2445-893C-2FB7C0C08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0143D-9506-AA40-9972-C8C940B3A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0B2B3-6C24-CA45-8713-CBCF7DAF1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C6409-4C3E-7E4B-AAA3-FC2A348E3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7C8E1-D706-6247-BF0C-929BA655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F7D07-8F12-C84D-8CE6-065CBE4AC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39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6F6F-0B3A-174D-ADA0-AA05CF88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2734E-35DB-1644-8FDA-CEDBCBE27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3D087-7CF0-934D-A4AA-4CBCEFC71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C0A09-7A27-AF45-A2EB-D6337537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6B7BC-FF12-B54A-A805-9393D271E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23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C0799B-65F2-2A46-AF03-89F928FF1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D9EC8-BF3F-DA43-BA8B-B195C8744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1DB90-97E6-1F49-9582-D2FC6D337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F9479-51FA-3343-B8F5-9B32069F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617A9-349A-F842-BBA6-BC26CCFA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66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B1DB27-F513-8845-8AB1-50232FC06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266DB-195D-C048-8694-0DA449658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D879E-907A-B34B-B383-845215B55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B59EA-96EA-C04B-8183-A467A71EC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0BD1E-3D55-9A46-A611-D2149273B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9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97C85F-4E22-424E-8ABA-7692FB4188A4}"/>
              </a:ext>
            </a:extLst>
          </p:cNvPr>
          <p:cNvSpPr/>
          <p:nvPr/>
        </p:nvSpPr>
        <p:spPr>
          <a:xfrm>
            <a:off x="5881685" y="4445348"/>
            <a:ext cx="4286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IN" sz="1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E17F5E-7BEC-2A4A-802D-803E2C0108CC}"/>
              </a:ext>
            </a:extLst>
          </p:cNvPr>
          <p:cNvSpPr/>
          <p:nvPr/>
        </p:nvSpPr>
        <p:spPr>
          <a:xfrm>
            <a:off x="3400615" y="5193303"/>
            <a:ext cx="537285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err="1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3200" b="1" dirty="0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Smita Tiwari</a:t>
            </a:r>
            <a:endParaRPr lang="en-IN" sz="3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 &amp; Technology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0A6791E-EF9A-A04B-A2E4-F233C901C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921" y="2478207"/>
            <a:ext cx="5453798" cy="714380"/>
          </a:xfrm>
        </p:spPr>
        <p:txBody>
          <a:bodyPr>
            <a:no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- CSE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</a:t>
            </a:r>
            <a:endParaRPr lang="en-US" sz="3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ownload Sharda University Logo PNG and Vector (PDF, SVG, Ai, EPS) F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155" y="93018"/>
            <a:ext cx="4353059" cy="2385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A0BEB44-0E1D-AA4B-8233-0A526118C7CE}"/>
              </a:ext>
            </a:extLst>
          </p:cNvPr>
          <p:cNvSpPr/>
          <p:nvPr/>
        </p:nvSpPr>
        <p:spPr>
          <a:xfrm>
            <a:off x="2208871" y="3455733"/>
            <a:ext cx="77563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– 18</a:t>
            </a:r>
            <a: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Dictionary – Part 1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62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DC815-FD86-6947-836E-6E32B6FE6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09F85-1516-2A43-BA78-A3C11E7D8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en-US" dirty="0"/>
              <a:t>Unordered collection of items.</a:t>
            </a:r>
          </a:p>
          <a:p>
            <a:r>
              <a:rPr lang="en-US" dirty="0"/>
              <a:t>Each item has a </a:t>
            </a:r>
            <a:r>
              <a:rPr lang="en-US" b="1" dirty="0"/>
              <a:t>key / value</a:t>
            </a:r>
            <a:r>
              <a:rPr lang="en-US" dirty="0"/>
              <a:t> pair.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686E3-CB03-9D4A-BB63-64F322A79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C980-0632-BD4C-978D-038CA7969B64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03352-9AFF-FA4A-9CE0-1560B7B2C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8D053-3D04-404C-8ECE-043E25A20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6DD94-764B-E24B-A214-0F4F9AF2773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0AC8C0-32F2-EB4B-BAD1-A0BB3141D979}"/>
              </a:ext>
            </a:extLst>
          </p:cNvPr>
          <p:cNvSpPr txBox="1"/>
          <p:nvPr/>
        </p:nvSpPr>
        <p:spPr>
          <a:xfrm>
            <a:off x="1050851" y="4634240"/>
            <a:ext cx="10515600" cy="52322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Dictionaries are optimized to retrieve values when the key is known.</a:t>
            </a:r>
          </a:p>
        </p:txBody>
      </p:sp>
    </p:spTree>
    <p:extLst>
      <p:ext uri="{BB962C8B-B14F-4D97-AF65-F5344CB8AC3E}">
        <p14:creationId xmlns:p14="http://schemas.microsoft.com/office/powerpoint/2010/main" val="2849502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01376-57E2-B244-B175-7F9C3990D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Create Python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38480-D64C-A142-AB94-C61542634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Creating a dictionary is as simple as placing items inside curly braces </a:t>
            </a:r>
            <a:r>
              <a:rPr lang="en-US" b="1" dirty="0"/>
              <a:t>{}</a:t>
            </a:r>
            <a:r>
              <a:rPr lang="en-US" dirty="0"/>
              <a:t> separated by commas.</a:t>
            </a:r>
          </a:p>
          <a:p>
            <a:endParaRPr lang="en-US" dirty="0"/>
          </a:p>
          <a:p>
            <a:r>
              <a:rPr lang="en-US" dirty="0"/>
              <a:t>An item has a </a:t>
            </a:r>
            <a:r>
              <a:rPr lang="en-US" b="1" dirty="0"/>
              <a:t>key</a:t>
            </a:r>
            <a:r>
              <a:rPr lang="en-US" dirty="0"/>
              <a:t> and a corresponding </a:t>
            </a:r>
            <a:r>
              <a:rPr lang="en-US" b="1" dirty="0"/>
              <a:t>value</a:t>
            </a:r>
            <a:r>
              <a:rPr lang="en-US" dirty="0"/>
              <a:t> that is expressed as a pair (</a:t>
            </a:r>
            <a:r>
              <a:rPr lang="en-US" b="1" dirty="0"/>
              <a:t>key: value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/>
              <a:t>While the values can be of any data type and can repeat, keys must be of immutable type (</a:t>
            </a:r>
            <a:r>
              <a:rPr lang="en-US" b="1" dirty="0"/>
              <a:t>string</a:t>
            </a:r>
            <a:r>
              <a:rPr lang="en-US" dirty="0"/>
              <a:t>, </a:t>
            </a:r>
            <a:r>
              <a:rPr lang="en-US" b="1" dirty="0"/>
              <a:t>number</a:t>
            </a:r>
            <a:r>
              <a:rPr lang="en-US" dirty="0"/>
              <a:t> or </a:t>
            </a:r>
            <a:r>
              <a:rPr lang="en-US" b="1" dirty="0"/>
              <a:t>tuple</a:t>
            </a:r>
            <a:r>
              <a:rPr lang="en-US" dirty="0"/>
              <a:t> with immutable elements) and must be unique.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87065-591E-F645-AB29-CB169D415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144C-C84A-B94A-8630-F84309454C15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ED9A9-6CF4-894D-9725-74CCC4343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F0B3C-79A8-A14C-B820-5F7DF795A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6DD94-764B-E24B-A214-0F4F9AF2773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743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01376-57E2-B244-B175-7F9C3990D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Create Python Dictionary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986963E-874E-8F42-914E-5CFCB8D7C4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6504" y="1595190"/>
            <a:ext cx="7518991" cy="476116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87065-591E-F645-AB29-CB169D415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144C-C84A-B94A-8630-F84309454C15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ED9A9-6CF4-894D-9725-74CCC4343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F0B3C-79A8-A14C-B820-5F7DF795A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6DD94-764B-E24B-A214-0F4F9AF2773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237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01376-57E2-B244-B175-7F9C3990D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Accessing Elements from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38480-D64C-A142-AB94-C61542634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indexing is used with other data types to access values, a dictionary uses </a:t>
            </a:r>
            <a:r>
              <a:rPr lang="en-US" b="1" dirty="0"/>
              <a:t>keys</a:t>
            </a:r>
            <a:r>
              <a:rPr lang="en-US" dirty="0"/>
              <a:t>.</a:t>
            </a:r>
          </a:p>
          <a:p>
            <a:r>
              <a:rPr lang="en-US" dirty="0"/>
              <a:t>Keys can be used either inside square brackets </a:t>
            </a:r>
            <a:r>
              <a:rPr lang="en-US" b="1" dirty="0"/>
              <a:t>[ ]</a:t>
            </a:r>
            <a:r>
              <a:rPr lang="en-US" dirty="0"/>
              <a:t> or with the </a:t>
            </a:r>
            <a:r>
              <a:rPr lang="en-US" b="1" dirty="0"/>
              <a:t>get()</a:t>
            </a:r>
            <a:r>
              <a:rPr lang="en-US" dirty="0"/>
              <a:t> method.</a:t>
            </a:r>
          </a:p>
          <a:p>
            <a:r>
              <a:rPr lang="en-US" dirty="0"/>
              <a:t>If we use the square brackets </a:t>
            </a:r>
            <a:r>
              <a:rPr lang="en-US" b="1" dirty="0"/>
              <a:t>[]</a:t>
            </a:r>
            <a:r>
              <a:rPr lang="en-US" dirty="0"/>
              <a:t>, </a:t>
            </a:r>
            <a:r>
              <a:rPr lang="en-US" b="1" dirty="0"/>
              <a:t>KeyError</a:t>
            </a:r>
            <a:r>
              <a:rPr lang="en-US" dirty="0"/>
              <a:t> is raised in case a key is not found in the dictionary. Whereas the get() method returns </a:t>
            </a:r>
            <a:r>
              <a:rPr lang="en-US" b="1" dirty="0"/>
              <a:t>None</a:t>
            </a:r>
            <a:r>
              <a:rPr lang="en-US" dirty="0"/>
              <a:t> if the key is not found.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87065-591E-F645-AB29-CB169D415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144C-C84A-B94A-8630-F84309454C15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ED9A9-6CF4-894D-9725-74CCC4343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F0B3C-79A8-A14C-B820-5F7DF795A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6DD94-764B-E24B-A214-0F4F9AF2773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939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01376-57E2-B244-B175-7F9C3990D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Accessing Elements from Dictionary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8A69A9F-35C0-7F42-95B1-1DCA384F4F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194" y="1754259"/>
            <a:ext cx="7795350" cy="402962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87065-591E-F645-AB29-CB169D415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144C-C84A-B94A-8630-F84309454C15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ED9A9-6CF4-894D-9725-74CCC4343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9744" y="6310312"/>
            <a:ext cx="4114800" cy="365125"/>
          </a:xfrm>
        </p:spPr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F0B3C-79A8-A14C-B820-5F7DF795A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6DD94-764B-E24B-A214-0F4F9AF27732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61B7C7-63B4-344D-A29E-EFD98238E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601" y="2224695"/>
            <a:ext cx="5370771" cy="17988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70A1F2-0822-7C42-9A28-6A641204AE11}"/>
              </a:ext>
            </a:extLst>
          </p:cNvPr>
          <p:cNvSpPr txBox="1"/>
          <p:nvPr/>
        </p:nvSpPr>
        <p:spPr>
          <a:xfrm>
            <a:off x="6096000" y="1675109"/>
            <a:ext cx="1544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959169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38C9F-4C3A-434B-9A30-8A9610DA2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Changing and Adding Dictionary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5339D-550E-DC46-A2DD-591D71F90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43599"/>
          </a:xfrm>
        </p:spPr>
        <p:txBody>
          <a:bodyPr/>
          <a:lstStyle/>
          <a:p>
            <a:r>
              <a:rPr lang="en-US" dirty="0"/>
              <a:t>Dictionaries are mutable. </a:t>
            </a:r>
          </a:p>
          <a:p>
            <a:r>
              <a:rPr lang="en-US" dirty="0"/>
              <a:t>We can add new items or change the value of existing items using an assignment operator.</a:t>
            </a:r>
          </a:p>
          <a:p>
            <a:r>
              <a:rPr lang="en-US" dirty="0"/>
              <a:t>If the key is already present, then the existing value gets updated. </a:t>
            </a:r>
          </a:p>
          <a:p>
            <a:r>
              <a:rPr lang="en-US" dirty="0"/>
              <a:t>In case, the key is not present, a new (</a:t>
            </a:r>
            <a:r>
              <a:rPr lang="en-US" b="1" dirty="0"/>
              <a:t>key:value</a:t>
            </a:r>
            <a:r>
              <a:rPr lang="en-US" dirty="0"/>
              <a:t>) pair is added to the dictionary.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E7A97-CC9B-6C46-B28A-396AEB4CC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144C-C84A-B94A-8630-F84309454C15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68F53-29D6-D946-8591-615FD9DCE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55894-4B4E-EF48-8892-E4A87690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6DD94-764B-E24B-A214-0F4F9AF2773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818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38C9F-4C3A-434B-9A30-8A9610DA2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Changing and Adding Dictionary elements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F60D3C9-E79C-6440-B674-1339CB62E1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19911"/>
            <a:ext cx="8718871" cy="370198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E7A97-CC9B-6C46-B28A-396AEB4CC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144C-C84A-B94A-8630-F84309454C15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68F53-29D6-D946-8591-615FD9DCE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55894-4B4E-EF48-8892-E4A87690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6DD94-764B-E24B-A214-0F4F9AF27732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B68083-806D-CB4F-BDDE-589E2E131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199" y="5499926"/>
            <a:ext cx="7603191" cy="5783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B7018F-D400-7A44-B4A2-11E55087745A}"/>
              </a:ext>
            </a:extLst>
          </p:cNvPr>
          <p:cNvSpPr txBox="1"/>
          <p:nvPr/>
        </p:nvSpPr>
        <p:spPr>
          <a:xfrm>
            <a:off x="4267199" y="5070022"/>
            <a:ext cx="1544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213317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592EF-7BB0-B649-978E-5069B3366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Removing elements from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4AA82-BC18-8C41-A1C2-F5BA4D48D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16587"/>
          </a:xfrm>
        </p:spPr>
        <p:txBody>
          <a:bodyPr/>
          <a:lstStyle/>
          <a:p>
            <a:r>
              <a:rPr lang="en-US" dirty="0"/>
              <a:t>We can remove a particular item in a dictionary by using the </a:t>
            </a:r>
            <a:r>
              <a:rPr lang="en-US" b="1" dirty="0"/>
              <a:t>pop()</a:t>
            </a:r>
            <a:r>
              <a:rPr lang="en-US" dirty="0"/>
              <a:t> method. </a:t>
            </a:r>
          </a:p>
          <a:p>
            <a:r>
              <a:rPr lang="en-US" dirty="0"/>
              <a:t>This method removes an item with the provided </a:t>
            </a:r>
            <a:r>
              <a:rPr lang="en-US" b="1" dirty="0"/>
              <a:t>key</a:t>
            </a:r>
            <a:r>
              <a:rPr lang="en-US" dirty="0"/>
              <a:t> and returns the </a:t>
            </a:r>
            <a:r>
              <a:rPr lang="en-US" b="1" dirty="0"/>
              <a:t>value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popitem()</a:t>
            </a:r>
            <a:r>
              <a:rPr lang="en-US" dirty="0"/>
              <a:t> method can be used to remove and return an arbitrary </a:t>
            </a:r>
            <a:r>
              <a:rPr lang="en-US" b="1" dirty="0"/>
              <a:t>(key, value)</a:t>
            </a:r>
            <a:r>
              <a:rPr lang="en-US" dirty="0"/>
              <a:t> item pair from the dictionary. </a:t>
            </a:r>
          </a:p>
          <a:p>
            <a:r>
              <a:rPr lang="en-US" dirty="0"/>
              <a:t>All the items can be removed at once, using the </a:t>
            </a:r>
            <a:r>
              <a:rPr lang="en-US" b="1" dirty="0"/>
              <a:t>clear()</a:t>
            </a:r>
            <a:r>
              <a:rPr lang="en-US" dirty="0"/>
              <a:t> method.</a:t>
            </a:r>
          </a:p>
          <a:p>
            <a:r>
              <a:rPr lang="en-US" dirty="0"/>
              <a:t>We can also use the </a:t>
            </a:r>
            <a:r>
              <a:rPr lang="en-US" b="1" dirty="0"/>
              <a:t>del</a:t>
            </a:r>
            <a:r>
              <a:rPr lang="en-US" dirty="0"/>
              <a:t> keyword to remove individual items or the entire dictionary itself.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DBE31-64BA-1B41-BD7D-31F6B8796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144C-C84A-B94A-8630-F84309454C15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33BCC-DC3C-9341-9C3B-E03E16B67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FFE4D-2E11-2F41-95AA-59B7AFB6F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6DD94-764B-E24B-A214-0F4F9AF2773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82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592EF-7BB0-B649-978E-5069B3366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Removing elements from Dictionary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0D50225-EFB8-3147-BE98-A76EC74587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38754"/>
            <a:ext cx="5257800" cy="475943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DBE31-64BA-1B41-BD7D-31F6B8796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144C-C84A-B94A-8630-F84309454C15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33BCC-DC3C-9341-9C3B-E03E16B67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FFE4D-2E11-2F41-95AA-59B7AFB6F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6DD94-764B-E24B-A214-0F4F9AF27732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B9FCF4-E6AE-6D41-8BD2-455FAF2C3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450" y="4174742"/>
            <a:ext cx="6126256" cy="21234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3C7C35-72EB-E649-993B-3756D72B00AC}"/>
              </a:ext>
            </a:extLst>
          </p:cNvPr>
          <p:cNvSpPr txBox="1"/>
          <p:nvPr/>
        </p:nvSpPr>
        <p:spPr>
          <a:xfrm>
            <a:off x="5737412" y="3713077"/>
            <a:ext cx="1544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236253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693-2F60-8445-BBB3-BE458ACAB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Dictionary Methods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B32BCDD1-A169-F846-AB38-D344AB2C8C53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1177738" y="1690688"/>
          <a:ext cx="9836524" cy="408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3497">
                  <a:extLst>
                    <a:ext uri="{9D8B030D-6E8A-4147-A177-3AD203B41FA5}">
                      <a16:colId xmlns:a16="http://schemas.microsoft.com/office/drawing/2014/main" val="3941933441"/>
                    </a:ext>
                  </a:extLst>
                </a:gridCol>
                <a:gridCol w="7783027">
                  <a:extLst>
                    <a:ext uri="{9D8B030D-6E8A-4147-A177-3AD203B41FA5}">
                      <a16:colId xmlns:a16="http://schemas.microsoft.com/office/drawing/2014/main" val="3474316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6281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clear()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Removes all items from the dictionary.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743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copy()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Returns a shallow copy of the dictionary.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177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fromkeys(seq[, v])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Returns a new dictionary with keys from </a:t>
                      </a:r>
                      <a:r>
                        <a:rPr lang="en-US" sz="2000" b="1" dirty="0"/>
                        <a:t>seq</a:t>
                      </a:r>
                      <a:r>
                        <a:rPr lang="en-US" sz="2000" dirty="0"/>
                        <a:t> and value equal to </a:t>
                      </a:r>
                      <a:r>
                        <a:rPr lang="en-US" sz="2000" b="1" dirty="0"/>
                        <a:t>v</a:t>
                      </a:r>
                      <a:r>
                        <a:rPr lang="en-US" sz="2000" dirty="0"/>
                        <a:t> (defaults to </a:t>
                      </a:r>
                      <a:r>
                        <a:rPr lang="en-US" sz="2000" b="1" dirty="0"/>
                        <a:t>None</a:t>
                      </a:r>
                      <a:r>
                        <a:rPr lang="en-US" sz="2000" dirty="0"/>
                        <a:t>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29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get(key[, d])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Returns the value of the </a:t>
                      </a:r>
                      <a:r>
                        <a:rPr lang="en-US" sz="2000" b="1" dirty="0"/>
                        <a:t>key</a:t>
                      </a:r>
                      <a:r>
                        <a:rPr lang="en-US" sz="2000" b="0" dirty="0"/>
                        <a:t>. If the </a:t>
                      </a:r>
                      <a:r>
                        <a:rPr lang="en-US" sz="2000" b="1" dirty="0"/>
                        <a:t>key</a:t>
                      </a:r>
                      <a:r>
                        <a:rPr lang="en-US" sz="2000" dirty="0"/>
                        <a:t> does not exist, returns </a:t>
                      </a:r>
                      <a:r>
                        <a:rPr lang="en-US" sz="2000" b="1" dirty="0"/>
                        <a:t>d</a:t>
                      </a:r>
                      <a:r>
                        <a:rPr lang="en-US" sz="2000" dirty="0"/>
                        <a:t> (defaults to </a:t>
                      </a:r>
                      <a:r>
                        <a:rPr lang="en-US" sz="2000" b="1" dirty="0"/>
                        <a:t>None</a:t>
                      </a:r>
                      <a:r>
                        <a:rPr lang="en-US" sz="2000" dirty="0"/>
                        <a:t>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02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items()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Returns a new object of the dictionary’s items in (key, value) format.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289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keys()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Returns a new object of the dictionary’s keys.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875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pop(key[, d])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Removes the item with the </a:t>
                      </a:r>
                      <a:r>
                        <a:rPr lang="en-US" sz="2000" b="1" dirty="0"/>
                        <a:t>key</a:t>
                      </a:r>
                      <a:r>
                        <a:rPr lang="en-US" sz="2000" b="0" dirty="0"/>
                        <a:t> and returns its value or </a:t>
                      </a:r>
                      <a:r>
                        <a:rPr lang="en-US" sz="2000" b="1" dirty="0"/>
                        <a:t>d</a:t>
                      </a:r>
                      <a:r>
                        <a:rPr lang="en-US" sz="2000" b="0" dirty="0"/>
                        <a:t>, if </a:t>
                      </a:r>
                      <a:r>
                        <a:rPr lang="en-US" sz="2000" b="1" dirty="0"/>
                        <a:t>key</a:t>
                      </a:r>
                      <a:r>
                        <a:rPr lang="en-US" sz="2000" b="0" dirty="0"/>
                        <a:t> is not found. If </a:t>
                      </a:r>
                      <a:r>
                        <a:rPr lang="en-US" sz="2000" b="1" dirty="0"/>
                        <a:t>d</a:t>
                      </a:r>
                      <a:r>
                        <a:rPr lang="en-US" sz="2000" b="0" dirty="0"/>
                        <a:t> is not provided and the </a:t>
                      </a:r>
                      <a:r>
                        <a:rPr lang="en-US" sz="2000" b="1" dirty="0"/>
                        <a:t>key</a:t>
                      </a:r>
                      <a:r>
                        <a:rPr lang="en-US" sz="2000" b="0" dirty="0"/>
                        <a:t> is not found, it raises </a:t>
                      </a:r>
                      <a:r>
                        <a:rPr lang="en-US" sz="2000" b="1" dirty="0"/>
                        <a:t>KeyError</a:t>
                      </a:r>
                      <a:r>
                        <a:rPr lang="en-US" sz="2000" b="0" dirty="0"/>
                        <a:t>.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48253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59260-99BC-4741-9983-5083AA487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144C-C84A-B94A-8630-F84309454C15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D9DA5-9E64-F246-B714-A4BCC24C8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108CE-9581-AE4F-B767-89493A36E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6DD94-764B-E24B-A214-0F4F9AF2773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511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693-2F60-8445-BBB3-BE458ACAB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Dictionary Methods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B32BCDD1-A169-F846-AB38-D344AB2C8C53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1172135" y="1696011"/>
          <a:ext cx="10051677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3065">
                  <a:extLst>
                    <a:ext uri="{9D8B030D-6E8A-4147-A177-3AD203B41FA5}">
                      <a16:colId xmlns:a16="http://schemas.microsoft.com/office/drawing/2014/main" val="3941933441"/>
                    </a:ext>
                  </a:extLst>
                </a:gridCol>
                <a:gridCol w="7718612">
                  <a:extLst>
                    <a:ext uri="{9D8B030D-6E8A-4147-A177-3AD203B41FA5}">
                      <a16:colId xmlns:a16="http://schemas.microsoft.com/office/drawing/2014/main" val="3474316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6281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popitem()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Removes and returns an arbitrary item (</a:t>
                      </a:r>
                      <a:r>
                        <a:rPr lang="en-US" sz="2000" b="1" dirty="0"/>
                        <a:t>key, value</a:t>
                      </a:r>
                      <a:r>
                        <a:rPr lang="en-US" sz="2000" dirty="0"/>
                        <a:t>). Raises </a:t>
                      </a:r>
                      <a:r>
                        <a:rPr lang="en-US" sz="2000" b="1" dirty="0"/>
                        <a:t>KeyError</a:t>
                      </a:r>
                      <a:r>
                        <a:rPr lang="en-US" sz="2000" dirty="0"/>
                        <a:t> if the dictionary is empty.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498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setdefault(key[, d])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Returns the corresponding value if the </a:t>
                      </a:r>
                      <a:r>
                        <a:rPr lang="en-US" sz="2000" b="1" dirty="0"/>
                        <a:t>key</a:t>
                      </a:r>
                      <a:r>
                        <a:rPr lang="en-US" sz="2000" dirty="0"/>
                        <a:t> is in the dictionary. If not, inserts the </a:t>
                      </a:r>
                      <a:r>
                        <a:rPr lang="en-US" sz="2000" b="1" dirty="0"/>
                        <a:t>key</a:t>
                      </a:r>
                      <a:r>
                        <a:rPr lang="en-US" sz="2000" dirty="0"/>
                        <a:t> with a value of </a:t>
                      </a:r>
                      <a:r>
                        <a:rPr lang="en-US" sz="2000" b="1" dirty="0"/>
                        <a:t>d</a:t>
                      </a:r>
                      <a:r>
                        <a:rPr lang="en-US" sz="2000" dirty="0"/>
                        <a:t> and returns </a:t>
                      </a:r>
                      <a:r>
                        <a:rPr lang="en-US" sz="2000" b="1" dirty="0"/>
                        <a:t>d</a:t>
                      </a:r>
                      <a:r>
                        <a:rPr lang="en-US" sz="2000" dirty="0"/>
                        <a:t> (defaults to </a:t>
                      </a:r>
                      <a:r>
                        <a:rPr lang="en-US" sz="2000" b="1" dirty="0"/>
                        <a:t>None</a:t>
                      </a:r>
                      <a:r>
                        <a:rPr lang="en-US" sz="2000" dirty="0"/>
                        <a:t>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836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update([other])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Updates the dictionary with key/value pairs from other overwriting keys.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699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values()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Returns a new object of the dictionary’s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27259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59260-99BC-4741-9983-5083AA487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144C-C84A-B94A-8630-F84309454C15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D9DA5-9E64-F246-B714-A4BCC24C8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108CE-9581-AE4F-B767-89493A36E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6DD94-764B-E24B-A214-0F4F9AF2773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693-2F60-8445-BBB3-BE458ACAB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Dictionary Methods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59260-99BC-4741-9983-5083AA487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144C-C84A-B94A-8630-F84309454C15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D9DA5-9E64-F246-B714-A4BCC24C8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108CE-9581-AE4F-B767-89493A36E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6DD94-764B-E24B-A214-0F4F9AF27732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86C9C73-D01A-7B45-A28A-D860B29ACB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00200"/>
            <a:ext cx="8915400" cy="34053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414C64-CA3D-F34D-856F-09519A269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497" y="5076150"/>
            <a:ext cx="5216338" cy="1280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29F61C9-5014-FD43-852D-6E3046A9EEC3}"/>
              </a:ext>
            </a:extLst>
          </p:cNvPr>
          <p:cNvSpPr txBox="1"/>
          <p:nvPr/>
        </p:nvSpPr>
        <p:spPr>
          <a:xfrm>
            <a:off x="5295900" y="5450118"/>
            <a:ext cx="1544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262777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57496"/>
            <a:ext cx="12192000" cy="1333509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IN" sz="72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7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AC757-DDD3-264F-B77D-C44FF96F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41082-5BF6-C940-A663-D871A1B9CDC1}" type="datetime1">
              <a:rPr lang="en-IN" smtClean="0"/>
              <a:pPr/>
              <a:t>28-01-2025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46BFF-1913-2942-A686-B7A2F8172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BCCB6-5866-B84A-B6CB-0D0953C8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FD74-5DBD-DC4F-A114-E2C9B32FA9B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873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657</Words>
  <Application>Microsoft Office PowerPoint</Application>
  <PresentationFormat>Widescreen</PresentationFormat>
  <Paragraphs>110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Branch - CSE Python Programming</vt:lpstr>
      <vt:lpstr>Python Dictionary</vt:lpstr>
      <vt:lpstr>Create Python Dictionary</vt:lpstr>
      <vt:lpstr>Create Python Dictionary</vt:lpstr>
      <vt:lpstr>Accessing Elements from Dictionary</vt:lpstr>
      <vt:lpstr>Accessing Elements from Dictionary</vt:lpstr>
      <vt:lpstr>Changing and Adding Dictionary elements</vt:lpstr>
      <vt:lpstr>Changing and Adding Dictionary elements</vt:lpstr>
      <vt:lpstr>Removing elements from Dictionary</vt:lpstr>
      <vt:lpstr>Removing elements from Dictionary</vt:lpstr>
      <vt:lpstr>Python Dictionary Methods</vt:lpstr>
      <vt:lpstr>Python Dictionary Methods</vt:lpstr>
      <vt:lpstr>Python Dictionary Methods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 - CSE Python Programming</dc:title>
  <dc:creator>Shobhit Tyagi</dc:creator>
  <cp:lastModifiedBy>Smita Tiwari</cp:lastModifiedBy>
  <cp:revision>16</cp:revision>
  <dcterms:created xsi:type="dcterms:W3CDTF">2021-12-21T18:25:55Z</dcterms:created>
  <dcterms:modified xsi:type="dcterms:W3CDTF">2025-01-28T16:42:42Z</dcterms:modified>
</cp:coreProperties>
</file>