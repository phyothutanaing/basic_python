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88" r:id="rId2"/>
    <p:sldId id="364" r:id="rId3"/>
    <p:sldId id="382" r:id="rId4"/>
    <p:sldId id="383" r:id="rId5"/>
    <p:sldId id="369" r:id="rId6"/>
    <p:sldId id="384" r:id="rId7"/>
    <p:sldId id="385" r:id="rId8"/>
    <p:sldId id="386" r:id="rId9"/>
    <p:sldId id="387" r:id="rId10"/>
    <p:sldId id="368" r:id="rId11"/>
    <p:sldId id="3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78"/>
    <p:restoredTop sz="96327"/>
  </p:normalViewPr>
  <p:slideViewPr>
    <p:cSldViewPr snapToGrid="0" snapToObjects="1">
      <p:cViewPr varScale="1">
        <p:scale>
          <a:sx n="83" d="100"/>
          <a:sy n="83" d="100"/>
        </p:scale>
        <p:origin x="91" y="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add example to</a:t>
            </a:r>
            <a:r>
              <a:rPr lang="en-US" baseline="0" dirty="0"/>
              <a:t> show the effect of order of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6653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0385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66949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65650" y="3429000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7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Execution – Part 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A53AC-81AC-EE4D-9A7C-75452035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Nested conditionals (Contd.)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6F5B-9B59-3C45-8714-BD141396C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817520"/>
          </a:xfrm>
        </p:spPr>
        <p:txBody>
          <a:bodyPr>
            <a:normAutofit/>
          </a:bodyPr>
          <a:lstStyle/>
          <a:p>
            <a:r>
              <a:rPr lang="en-US" sz="2200" dirty="0"/>
              <a:t>One conditional can also be nested within another. We could have written the three-branch example like this:</a:t>
            </a:r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A74ABD2F-7E26-EE4B-B04A-C7B1D6DCB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99" y="2780327"/>
            <a:ext cx="4843868" cy="1960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F5E11C-2D8B-D943-8260-2720AB527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967" y="3841876"/>
            <a:ext cx="5782659" cy="267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3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63" y="17720"/>
            <a:ext cx="4038600" cy="896679"/>
          </a:xfrm>
        </p:spPr>
        <p:txBody>
          <a:bodyPr>
            <a:noAutofit/>
          </a:bodyPr>
          <a:lstStyle/>
          <a:p>
            <a:r>
              <a:rPr lang="en-US" sz="5400" dirty="0"/>
              <a:t>Class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762000"/>
            <a:ext cx="7772400" cy="5943600"/>
          </a:xfrm>
        </p:spPr>
        <p:txBody>
          <a:bodyPr/>
          <a:lstStyle/>
          <a:p>
            <a:r>
              <a:rPr lang="en-US" dirty="0"/>
              <a:t>What is the value of expression: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Run time crash/error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I don’t know / I don’t care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False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True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3681400" y="1371601"/>
            <a:ext cx="5310200" cy="62685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3600" dirty="0">
                <a:latin typeface="Verdana" pitchFamily="34" charset="0"/>
              </a:rPr>
              <a:t>(5&lt;2) and (3/0 &gt; 1)</a:t>
            </a:r>
          </a:p>
        </p:txBody>
      </p:sp>
      <p:pic>
        <p:nvPicPr>
          <p:cNvPr id="4099" name="Picture 3" descr="C:\Users\karkare\AppData\Local\Microsoft\Windows\INetCache\IE\V9IY8K29\MC90010474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943" y="2071257"/>
            <a:ext cx="1042514" cy="109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karkare\AppData\Local\Microsoft\Windows\INetCache\IE\EC01WMOS\MC90005662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176" y="2071257"/>
            <a:ext cx="1501152" cy="119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karkare\AppData\Local\Microsoft\Windows\INetCache\IE\V9IY8K29\MP900426461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3505200"/>
            <a:ext cx="1828800" cy="121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:\Users\karkare\AppData\Local\Microsoft\Windows\INetCache\IE\45LGD9AS\MC900089048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1" y="4721066"/>
            <a:ext cx="1031443" cy="181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Callout 7"/>
          <p:cNvSpPr/>
          <p:nvPr/>
        </p:nvSpPr>
        <p:spPr bwMode="auto">
          <a:xfrm>
            <a:off x="6324600" y="4721066"/>
            <a:ext cx="4267200" cy="907999"/>
          </a:xfrm>
          <a:prstGeom prst="wedgeEllipseCallout">
            <a:avLst>
              <a:gd name="adj1" fmla="val -59407"/>
              <a:gd name="adj2" fmla="val 56349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000" dirty="0">
                <a:latin typeface="Verdana" pitchFamily="34" charset="0"/>
              </a:rPr>
              <a:t>The correct answer is</a:t>
            </a: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000" b="1" dirty="0">
                <a:latin typeface="Verdana" pitchFamily="34" charset="0"/>
              </a:rPr>
              <a:t>False</a:t>
            </a:r>
            <a:r>
              <a:rPr lang="en-US" sz="2000" dirty="0"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137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3048000" y="5029200"/>
            <a:ext cx="4267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048000" y="5017532"/>
            <a:ext cx="4267200" cy="6212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Short-circuit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78625"/>
            <a:ext cx="10515599" cy="4387628"/>
          </a:xfrm>
        </p:spPr>
        <p:txBody>
          <a:bodyPr>
            <a:normAutofit/>
          </a:bodyPr>
          <a:lstStyle/>
          <a:p>
            <a:r>
              <a:rPr lang="en-US" dirty="0"/>
              <a:t>Do not evaluate the second operand of binary short-circuit logical operator if the result can be deduced from the first operand</a:t>
            </a:r>
          </a:p>
          <a:p>
            <a:pPr lvl="1"/>
            <a:r>
              <a:rPr lang="en-US" dirty="0"/>
              <a:t>Also applies to nested logical operators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657600" y="4648200"/>
            <a:ext cx="1480552" cy="609600"/>
            <a:chOff x="2958105" y="4572000"/>
            <a:chExt cx="1202621" cy="609600"/>
          </a:xfrm>
        </p:grpSpPr>
        <p:cxnSp>
          <p:nvCxnSpPr>
            <p:cNvPr id="10" name="Straight Arrow Connector 9"/>
            <p:cNvCxnSpPr/>
            <p:nvPr/>
          </p:nvCxnSpPr>
          <p:spPr bwMode="auto">
            <a:xfrm flipV="1">
              <a:off x="2958105" y="4724400"/>
              <a:ext cx="699495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3657600" y="4572000"/>
              <a:ext cx="503126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false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05400" y="4648200"/>
            <a:ext cx="1533800" cy="609600"/>
            <a:chOff x="2743200" y="4572000"/>
            <a:chExt cx="1533800" cy="609600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 flipV="1">
              <a:off x="2743200" y="4724400"/>
              <a:ext cx="914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3657600" y="4572000"/>
              <a:ext cx="619400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false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490742" y="4019355"/>
            <a:ext cx="1028009" cy="1238445"/>
            <a:chOff x="3327258" y="4484132"/>
            <a:chExt cx="1028009" cy="1238445"/>
          </a:xfrm>
        </p:grpSpPr>
        <p:cxnSp>
          <p:nvCxnSpPr>
            <p:cNvPr id="18" name="Straight Arrow Connector 17"/>
            <p:cNvCxnSpPr>
              <a:cxnSpLocks/>
            </p:cNvCxnSpPr>
            <p:nvPr/>
          </p:nvCxnSpPr>
          <p:spPr bwMode="auto">
            <a:xfrm flipV="1">
              <a:off x="3327258" y="4724400"/>
              <a:ext cx="330342" cy="998177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3657600" y="4484132"/>
              <a:ext cx="697667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true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405859" y="4528066"/>
            <a:ext cx="1877611" cy="609600"/>
            <a:chOff x="2362200" y="4572000"/>
            <a:chExt cx="1877611" cy="609600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 flipV="1">
              <a:off x="2362200" y="4724400"/>
              <a:ext cx="1295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3657600" y="4572000"/>
              <a:ext cx="58221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true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CBE79E-7FF6-AD4E-AD1A-2C9D7820F250}"/>
              </a:ext>
            </a:extLst>
          </p:cNvPr>
          <p:cNvSpPr txBox="1"/>
          <p:nvPr/>
        </p:nvSpPr>
        <p:spPr>
          <a:xfrm>
            <a:off x="2610960" y="5087650"/>
            <a:ext cx="7085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not( (2&gt;5) and  (3/0 &gt; 1) ) or (4/0 &lt; 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1BE769-76E9-7944-B38F-7238E437A400}"/>
              </a:ext>
            </a:extLst>
          </p:cNvPr>
          <p:cNvSpPr txBox="1"/>
          <p:nvPr/>
        </p:nvSpPr>
        <p:spPr>
          <a:xfrm>
            <a:off x="3557905" y="5882428"/>
            <a:ext cx="40093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Evaluates to true</a:t>
            </a:r>
          </a:p>
        </p:txBody>
      </p:sp>
    </p:spTree>
    <p:extLst>
      <p:ext uri="{BB962C8B-B14F-4D97-AF65-F5344CB8AC3E}">
        <p14:creationId xmlns:p14="http://schemas.microsoft.com/office/powerpoint/2010/main" val="284175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3" grpId="0" build="p"/>
      <p:bldP spid="4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A53AC-81AC-EE4D-9A7C-75452035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Short circuit Evaluation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D2B41F-1152-5045-A563-3D931722B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103" y="1873220"/>
            <a:ext cx="8198147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2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553" y="200406"/>
            <a:ext cx="8991600" cy="970947"/>
          </a:xfrm>
        </p:spPr>
        <p:txBody>
          <a:bodyPr>
            <a:normAutofit/>
          </a:bodyPr>
          <a:lstStyle/>
          <a:p>
            <a:r>
              <a:rPr lang="en-US" sz="5400" dirty="0"/>
              <a:t>3 Factors for Expr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53" y="1171354"/>
            <a:ext cx="10955079" cy="4974265"/>
          </a:xfrm>
        </p:spPr>
        <p:txBody>
          <a:bodyPr>
            <a:normAutofit/>
          </a:bodyPr>
          <a:lstStyle/>
          <a:p>
            <a:r>
              <a:rPr lang="en-US" b="1" dirty="0"/>
              <a:t>Precedence</a:t>
            </a:r>
          </a:p>
          <a:p>
            <a:pPr lvl="1"/>
            <a:r>
              <a:rPr lang="en-US" dirty="0"/>
              <a:t>Applied to two different class of operators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,  …</a:t>
            </a:r>
          </a:p>
          <a:p>
            <a:r>
              <a:rPr lang="en-US" b="1" dirty="0"/>
              <a:t>Associativity</a:t>
            </a:r>
          </a:p>
          <a:p>
            <a:pPr lvl="1"/>
            <a:r>
              <a:rPr lang="en-US" dirty="0"/>
              <a:t>Applied to operators of same class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/>
              <a:t>, …</a:t>
            </a:r>
          </a:p>
          <a:p>
            <a:r>
              <a:rPr lang="en-US" b="1" dirty="0"/>
              <a:t>Order</a:t>
            </a:r>
            <a:endParaRPr lang="en-US" dirty="0"/>
          </a:p>
          <a:p>
            <a:pPr lvl="1"/>
            <a:r>
              <a:rPr lang="en-US" dirty="0"/>
              <a:t>Precedence and associativity </a:t>
            </a:r>
            <a:r>
              <a:rPr lang="en-US" b="1" dirty="0"/>
              <a:t>identify the operands</a:t>
            </a:r>
            <a:r>
              <a:rPr lang="en-US" dirty="0"/>
              <a:t> for each operator</a:t>
            </a:r>
          </a:p>
          <a:p>
            <a:pPr lvl="1"/>
            <a:r>
              <a:rPr lang="en-US" b="1" dirty="0"/>
              <a:t>Not which operand is evaluated first</a:t>
            </a:r>
          </a:p>
          <a:p>
            <a:pPr lvl="1"/>
            <a:r>
              <a:rPr lang="en-US" dirty="0"/>
              <a:t>Python evaluates expressions from left to right</a:t>
            </a:r>
          </a:p>
          <a:p>
            <a:pPr lvl="1"/>
            <a:r>
              <a:rPr lang="en-US" dirty="0"/>
              <a:t>While evaluating an assignment, the right-hand side is evaluated before the left-hand side.</a:t>
            </a:r>
          </a:p>
        </p:txBody>
      </p:sp>
    </p:spTree>
    <p:extLst>
      <p:ext uri="{BB962C8B-B14F-4D97-AF65-F5344CB8AC3E}">
        <p14:creationId xmlns:p14="http://schemas.microsoft.com/office/powerpoint/2010/main" val="8378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424763"/>
            <a:ext cx="10515600" cy="4752200"/>
          </a:xfrm>
        </p:spPr>
        <p:txBody>
          <a:bodyPr/>
          <a:lstStyle/>
          <a:p>
            <a:r>
              <a:rPr lang="en-US" dirty="0"/>
              <a:t>What is the output of the following program:</a:t>
            </a:r>
          </a:p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886048" y="358804"/>
            <a:ext cx="4038600" cy="876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/>
              <a:t>Class Quiz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2514601" y="2286000"/>
            <a:ext cx="5325753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/>
              <a:t>y = 0.1*3  </a:t>
            </a:r>
          </a:p>
          <a:p>
            <a:r>
              <a:rPr lang="en-US" sz="3600" dirty="0"/>
              <a:t>if y != 0.3:</a:t>
            </a:r>
          </a:p>
          <a:p>
            <a:r>
              <a:rPr lang="en-US" sz="3600" dirty="0"/>
              <a:t>    print ('Launch a Missile')</a:t>
            </a:r>
          </a:p>
          <a:p>
            <a:r>
              <a:rPr lang="en-US" sz="3600" dirty="0"/>
              <a:t>else:</a:t>
            </a:r>
          </a:p>
          <a:p>
            <a:r>
              <a:rPr lang="en-US" sz="3600" dirty="0"/>
              <a:t>    print ("Let's have peace")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7239001" y="5181601"/>
            <a:ext cx="325441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Launch a Missile</a:t>
            </a:r>
          </a:p>
        </p:txBody>
      </p:sp>
    </p:spTree>
    <p:extLst>
      <p:ext uri="{BB962C8B-B14F-4D97-AF65-F5344CB8AC3E}">
        <p14:creationId xmlns:p14="http://schemas.microsoft.com/office/powerpoint/2010/main" val="225480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Caution about Using Floats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2487381"/>
          </a:xfrm>
        </p:spPr>
        <p:txBody>
          <a:bodyPr>
            <a:normAutofit/>
          </a:bodyPr>
          <a:lstStyle/>
          <a:p>
            <a:r>
              <a:rPr lang="en-US" sz="2200" dirty="0"/>
              <a:t>Representation of </a:t>
            </a:r>
            <a:r>
              <a:rPr lang="en-US" sz="2200" i="1" dirty="0"/>
              <a:t>real numbers </a:t>
            </a:r>
            <a:r>
              <a:rPr lang="en-US" sz="2200" dirty="0"/>
              <a:t>in a computer can not be exact</a:t>
            </a:r>
          </a:p>
          <a:p>
            <a:pPr lvl="1"/>
            <a:r>
              <a:rPr lang="en-US" sz="2200" dirty="0"/>
              <a:t>Computers have limited memory to store data</a:t>
            </a:r>
          </a:p>
          <a:p>
            <a:pPr lvl="1"/>
            <a:r>
              <a:rPr lang="en-US" sz="2200" i="1" dirty="0"/>
              <a:t>Between any two distinct real numbers, there are infinitely many real numbers.</a:t>
            </a:r>
          </a:p>
          <a:p>
            <a:pPr lvl="0"/>
            <a:r>
              <a:rPr lang="en-US" sz="2200" dirty="0"/>
              <a:t>On a typical machine running Python, there are 53 bits of precision available for a Python float</a:t>
            </a:r>
          </a:p>
        </p:txBody>
      </p:sp>
    </p:spTree>
    <p:extLst>
      <p:ext uri="{BB962C8B-B14F-4D97-AF65-F5344CB8AC3E}">
        <p14:creationId xmlns:p14="http://schemas.microsoft.com/office/powerpoint/2010/main" val="144108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1" y="1863533"/>
            <a:ext cx="10515599" cy="419419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The value stored internally for the decimal number 0.1 is the binary fraction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Equivalent to decimal value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Approximation is similar to decimal approximation </a:t>
            </a:r>
            <a:r>
              <a:rPr lang="en-US" dirty="0">
                <a:solidFill>
                  <a:srgbClr val="FF0000"/>
                </a:solidFill>
              </a:rPr>
              <a:t>1/3 = 0.333333333...</a:t>
            </a:r>
          </a:p>
          <a:p>
            <a:pPr lvl="0"/>
            <a:r>
              <a:rPr lang="en-US" dirty="0"/>
              <a:t>No matter how many digits you use, you have an approximation</a:t>
            </a:r>
          </a:p>
          <a:p>
            <a:pPr lvl="0"/>
            <a:endParaRPr lang="en-US" dirty="0"/>
          </a:p>
          <a:p>
            <a:pPr lvl="0"/>
            <a:endParaRPr lang="en-US" i="1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Caution about Using Floats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003758" y="2764744"/>
            <a:ext cx="765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0.00011001100110011001100110011001100110011001100110011010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003758" y="3760573"/>
            <a:ext cx="7524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0.1000000000000000055511151231257827021181583404541015625</a:t>
            </a:r>
          </a:p>
        </p:txBody>
      </p:sp>
    </p:spTree>
    <p:extLst>
      <p:ext uri="{BB962C8B-B14F-4D97-AF65-F5344CB8AC3E}">
        <p14:creationId xmlns:p14="http://schemas.microsoft.com/office/powerpoint/2010/main" val="46476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1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A53AC-81AC-EE4D-9A7C-75452035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Debugging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6F5B-9B59-3C45-8714-BD141396C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798828"/>
            <a:ext cx="10515600" cy="4928617"/>
          </a:xfrm>
        </p:spPr>
        <p:txBody>
          <a:bodyPr>
            <a:normAutofit/>
          </a:bodyPr>
          <a:lstStyle/>
          <a:p>
            <a:r>
              <a:rPr lang="en-US" sz="2200" dirty="0"/>
              <a:t>Python displays the </a:t>
            </a:r>
            <a:r>
              <a:rPr lang="en-US" sz="2200" b="1" dirty="0"/>
              <a:t>traceback </a:t>
            </a:r>
            <a:r>
              <a:rPr lang="en-US" sz="2200" dirty="0"/>
              <a:t>when an error occurs and contains a lot of information, but it can be overwhelming. The useful parts are usually:</a:t>
            </a:r>
          </a:p>
          <a:p>
            <a:pPr lvl="1"/>
            <a:r>
              <a:rPr lang="en-US" sz="1800" dirty="0"/>
              <a:t>What kind of error it was, and</a:t>
            </a:r>
          </a:p>
          <a:p>
            <a:pPr lvl="1"/>
            <a:r>
              <a:rPr lang="en-US" sz="1800" dirty="0"/>
              <a:t>Where it occurred.</a:t>
            </a:r>
          </a:p>
          <a:p>
            <a:r>
              <a:rPr lang="en-US" sz="2200" dirty="0"/>
              <a:t>Syntax errors are usually easy to find, but there are a few “catches”. Whitespace errors can be tricky because spaces and tabs are invisible, and we ignore them.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Here, the 2</a:t>
            </a:r>
            <a:r>
              <a:rPr lang="en-US" sz="2200" baseline="30000" dirty="0"/>
              <a:t>nd</a:t>
            </a:r>
            <a:r>
              <a:rPr lang="en-US" sz="2200" dirty="0"/>
              <a:t> line is idented by one space. But the error message points to </a:t>
            </a:r>
            <a:r>
              <a:rPr lang="en-US" sz="2200" b="1" dirty="0"/>
              <a:t>y</a:t>
            </a:r>
            <a:r>
              <a:rPr lang="en-US" sz="2200" dirty="0"/>
              <a:t>, which is misleading. </a:t>
            </a:r>
            <a:r>
              <a:rPr lang="en-US" sz="2200" b="1" dirty="0"/>
              <a:t>Python IDLE 3.10.1 points to the exact error spot now.</a:t>
            </a:r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6F363A8-C99A-3D47-8FBE-09BE9DD46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37" y="3896832"/>
            <a:ext cx="5235568" cy="1852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71B39C-5E60-3547-9AD4-53D97E8B1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604" y="3896832"/>
            <a:ext cx="4071974" cy="9087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BA5F15-7A80-FE44-A6B6-E2935E7BF387}"/>
              </a:ext>
            </a:extLst>
          </p:cNvPr>
          <p:cNvSpPr txBox="1"/>
          <p:nvPr/>
        </p:nvSpPr>
        <p:spPr>
          <a:xfrm>
            <a:off x="7204271" y="5050481"/>
            <a:ext cx="4488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from Python IDLE 3.10.1</a:t>
            </a:r>
          </a:p>
          <a:p>
            <a:endParaRPr lang="en-US" dirty="0"/>
          </a:p>
          <a:p>
            <a:r>
              <a:rPr lang="en-US" dirty="0"/>
              <a:t>Output from Python 3.8 (Jupyter Notebook)</a:t>
            </a:r>
          </a:p>
        </p:txBody>
      </p:sp>
      <p:sp>
        <p:nvSpPr>
          <p:cNvPr id="12" name="Up Arrow 11">
            <a:extLst>
              <a:ext uri="{FF2B5EF4-FFF2-40B4-BE49-F238E27FC236}">
                <a16:creationId xmlns:a16="http://schemas.microsoft.com/office/drawing/2014/main" id="{3AFF5C44-9D20-094C-B295-EC20BC6417DD}"/>
              </a:ext>
            </a:extLst>
          </p:cNvPr>
          <p:cNvSpPr/>
          <p:nvPr/>
        </p:nvSpPr>
        <p:spPr>
          <a:xfrm>
            <a:off x="6987449" y="4857759"/>
            <a:ext cx="186232" cy="454383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A7F3C86D-AD6A-B040-8F9F-2A3B812F4D4D}"/>
              </a:ext>
            </a:extLst>
          </p:cNvPr>
          <p:cNvSpPr/>
          <p:nvPr/>
        </p:nvSpPr>
        <p:spPr>
          <a:xfrm rot="1337583">
            <a:off x="6056215" y="5538046"/>
            <a:ext cx="1163313" cy="156765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8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C203-4011-CD44-9533-DBBDC467558C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497</Words>
  <Application>Microsoft Office PowerPoint</Application>
  <PresentationFormat>Widescreen</PresentationFormat>
  <Paragraphs>89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Verdana</vt:lpstr>
      <vt:lpstr>Wingdings</vt:lpstr>
      <vt:lpstr>Office Theme</vt:lpstr>
      <vt:lpstr>Branch - CSE Python Programming</vt:lpstr>
      <vt:lpstr>Nested conditionals (Contd.)</vt:lpstr>
      <vt:lpstr>Class Quiz</vt:lpstr>
      <vt:lpstr>Short-circuit Evaluation</vt:lpstr>
      <vt:lpstr>Short circuit Evaluation</vt:lpstr>
      <vt:lpstr>3 Factors for Expr Evaluation</vt:lpstr>
      <vt:lpstr>PowerPoint Presentation</vt:lpstr>
      <vt:lpstr>Caution about Using Floats</vt:lpstr>
      <vt:lpstr>Caution about Using Floats</vt:lpstr>
      <vt:lpstr>Debugging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9</cp:revision>
  <dcterms:created xsi:type="dcterms:W3CDTF">2021-12-21T18:25:55Z</dcterms:created>
  <dcterms:modified xsi:type="dcterms:W3CDTF">2025-01-15T10:53:32Z</dcterms:modified>
</cp:coreProperties>
</file>