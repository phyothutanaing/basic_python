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388" r:id="rId2"/>
    <p:sldId id="403" r:id="rId3"/>
    <p:sldId id="418" r:id="rId4"/>
    <p:sldId id="404" r:id="rId5"/>
    <p:sldId id="405" r:id="rId6"/>
    <p:sldId id="406" r:id="rId7"/>
    <p:sldId id="407" r:id="rId8"/>
    <p:sldId id="408" r:id="rId9"/>
    <p:sldId id="419" r:id="rId10"/>
    <p:sldId id="420" r:id="rId11"/>
    <p:sldId id="409" r:id="rId12"/>
    <p:sldId id="410" r:id="rId13"/>
    <p:sldId id="421" r:id="rId14"/>
    <p:sldId id="422" r:id="rId15"/>
    <p:sldId id="423" r:id="rId16"/>
    <p:sldId id="424" r:id="rId17"/>
    <p:sldId id="425" r:id="rId18"/>
    <p:sldId id="426" r:id="rId19"/>
    <p:sldId id="427" r:id="rId20"/>
    <p:sldId id="428" r:id="rId21"/>
    <p:sldId id="429" r:id="rId22"/>
    <p:sldId id="430" r:id="rId23"/>
    <p:sldId id="431" r:id="rId24"/>
    <p:sldId id="41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BD54C3-8144-9E4F-9A23-5A08D92DAE2B}" v="81" dt="2021-12-21T18:59:26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26" autoAdjust="0"/>
    <p:restoredTop sz="96327"/>
  </p:normalViewPr>
  <p:slideViewPr>
    <p:cSldViewPr snapToGrid="0" snapToObjects="1">
      <p:cViewPr varScale="1">
        <p:scale>
          <a:sx n="87" d="100"/>
          <a:sy n="87" d="100"/>
        </p:scale>
        <p:origin x="494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4D34EA-CA4A-9D4F-95C2-7EB2B0B7D27B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DAFC3-C917-6040-A2DA-0C796181EC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92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78171-C08E-454E-8A66-8B8B7F47110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944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A552-EA9C-C941-87DC-58297CE8A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016A1-FD9A-9C4A-AC35-41710872D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5654D-CC5D-144B-B54D-F6BC4B8E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FF0C2-4DD7-C64B-A470-1F3C60A31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A1E6-FB29-BA43-9F2B-B0173468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34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8779-AFC5-DB42-AE0F-679B91E0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3BAF9-67F4-AB41-A579-8977753EF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9C95E-0878-AF47-B06C-90A72F7E6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E1957-891E-4C45-A08A-B7B98977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B8727-3497-644C-8C10-91AB042B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9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D3BCC-98AB-7045-893F-764BBF629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677DF-0759-A447-9F0B-754630EEC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4DD7B-6F33-E340-B978-CFB9A4034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0D106-FB97-AC41-8E99-56304B1C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5340A-86E7-1B4F-A056-39E354444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6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29E9-5402-854B-88F1-BDD1AB8D0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70C0-032D-C443-BC5F-350E9480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2FB81-8A07-A34A-A41B-755775B19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2ECC6-D50A-6441-BBDC-E96AF773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E6376-9594-554D-AC3B-E43C3AA9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7E0A6-3B00-1B41-ABA3-071463B6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8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67136-C463-6642-A1B7-42BF71E74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1D655-56A7-DB4D-B8D4-070253172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98C97-E107-324C-83A2-2B1236F72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342E0-F53A-D147-A8D7-E893C9061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247A1-E5BC-9045-AB0C-67FCCA0E9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CD4BE4-A76F-DB46-AA4A-5CC97291D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288870-3814-B44A-ADC0-78E9E7957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F95C93-10B7-F646-BA68-6446B6C86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35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588E3-1ECE-734D-9814-FF1FF59CC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BC052-4B4A-F147-8F15-D00D2D267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404723-2403-AB4A-BDF1-C16DCB42E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93540-D1A5-1F43-8257-9DA84CE1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1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49E168-26C7-FB41-99A4-8CA7734E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83F4B2-C17A-754F-9C54-D36AAE378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A3279-7DB4-F04B-A197-568C659C3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6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4BCB-4159-2443-BFA3-411610C23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F2039-7E5D-2445-8550-DD05E9B74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93630-872C-0A4F-9549-5F6904C0D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5F66B-7FA2-134A-A615-FF114DB8C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92AF-1A3D-CE40-8858-616EC31FB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D18B2-8D7A-8542-9521-8456FE56A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34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B9EA-EA8B-2445-893C-2FB7C0C08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0143D-9506-AA40-9972-C8C940B3A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0B2B3-6C24-CA45-8713-CBCF7DAF1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C6409-4C3E-7E4B-AAA3-FC2A348E3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7C8E1-D706-6247-BF0C-929BA655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F7D07-8F12-C84D-8CE6-065CBE4AC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39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6F6F-0B3A-174D-ADA0-AA05CF88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2734E-35DB-1644-8FDA-CEDBCBE27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3D087-7CF0-934D-A4AA-4CBCEFC71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C0A09-7A27-AF45-A2EB-D6337537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6B7BC-FF12-B54A-A805-9393D271E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23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C0799B-65F2-2A46-AF03-89F928FF1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D9EC8-BF3F-DA43-BA8B-B195C8744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1DB90-97E6-1F49-9582-D2FC6D337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F9479-51FA-3343-B8F5-9B32069F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617A9-349A-F842-BBA6-BC26CCFA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66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B1DB27-F513-8845-8AB1-50232FC06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266DB-195D-C048-8694-0DA449658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D879E-907A-B34B-B383-845215B55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1AE23-D494-414B-9534-C815686CF39A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B59EA-96EA-C04B-8183-A467A71EC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0BD1E-3D55-9A46-A611-D2149273B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9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97C85F-4E22-424E-8ABA-7692FB4188A4}"/>
              </a:ext>
            </a:extLst>
          </p:cNvPr>
          <p:cNvSpPr/>
          <p:nvPr/>
        </p:nvSpPr>
        <p:spPr>
          <a:xfrm>
            <a:off x="5881685" y="4445348"/>
            <a:ext cx="4286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IN" sz="1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E17F5E-7BEC-2A4A-802D-803E2C0108CC}"/>
              </a:ext>
            </a:extLst>
          </p:cNvPr>
          <p:cNvSpPr/>
          <p:nvPr/>
        </p:nvSpPr>
        <p:spPr>
          <a:xfrm>
            <a:off x="3400615" y="5193303"/>
            <a:ext cx="537285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err="1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3200" b="1" dirty="0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Smita Tiwari</a:t>
            </a:r>
            <a:endParaRPr lang="en-IN" sz="3200" b="1" dirty="0" smtClean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 &amp; Technology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0A6791E-EF9A-A04B-A2E4-F233C901C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921" y="2478207"/>
            <a:ext cx="5453798" cy="714380"/>
          </a:xfrm>
        </p:spPr>
        <p:txBody>
          <a:bodyPr>
            <a:no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- CSE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</a:t>
            </a:r>
            <a:endParaRPr lang="en-US" sz="3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ownload Sharda University Logo PNG and Vector (PDF, SVG, Ai, EPS) F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155" y="93018"/>
            <a:ext cx="4353059" cy="2385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A0BEB44-0E1D-AA4B-8233-0A526118C7CE}"/>
              </a:ext>
            </a:extLst>
          </p:cNvPr>
          <p:cNvSpPr/>
          <p:nvPr/>
        </p:nvSpPr>
        <p:spPr>
          <a:xfrm>
            <a:off x="2208871" y="3455733"/>
            <a:ext cx="77563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– 12</a:t>
            </a:r>
            <a: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62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3D20-115E-D14B-B0F6-BB41603A3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</a:t>
            </a:r>
            <a:r>
              <a:rPr lang="en-US" b="1" dirty="0" smtClean="0"/>
              <a:t>List</a:t>
            </a:r>
            <a:r>
              <a:rPr lang="en-US" b="1" dirty="0" smtClean="0"/>
              <a:t> </a:t>
            </a:r>
            <a:r>
              <a:rPr lang="en-US" b="1" dirty="0"/>
              <a:t>in Python?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DDA18-B11F-9448-B748-B4E2BD89E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3889"/>
            <a:ext cx="10515600" cy="484246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Lists are </a:t>
            </a:r>
            <a:r>
              <a:rPr lang="en-US" dirty="0" smtClean="0"/>
              <a:t>a </a:t>
            </a:r>
            <a:r>
              <a:rPr lang="en-US" dirty="0"/>
              <a:t>type of built-in data structure in Python, which is a specified way of storing and formatting data.</a:t>
            </a:r>
            <a:endParaRPr lang="en-US" dirty="0" smtClean="0"/>
          </a:p>
          <a:p>
            <a:pPr algn="just"/>
            <a:r>
              <a:rPr lang="en-US" dirty="0" smtClean="0"/>
              <a:t>Python</a:t>
            </a:r>
            <a:r>
              <a:rPr lang="en-US" dirty="0"/>
              <a:t> lists can store an ordered collection of items, or elements, of varying types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 </a:t>
            </a:r>
            <a:r>
              <a:rPr lang="en-US" dirty="0"/>
              <a:t>They are often used to compile multiple items into a single, mutable variable, which is helpful for retrieving items, specifying outputs or performing calculations quickly. </a:t>
            </a:r>
            <a:endParaRPr lang="en-US" dirty="0" smtClean="0"/>
          </a:p>
          <a:p>
            <a:pPr algn="just"/>
            <a:r>
              <a:rPr lang="en-US" dirty="0"/>
              <a:t>A Python list is a dynamic, mutable, ordered collection of elements enclosed within square brackets </a:t>
            </a:r>
            <a:r>
              <a:rPr lang="en-US" dirty="0" smtClean="0"/>
              <a:t>[].</a:t>
            </a:r>
          </a:p>
          <a:p>
            <a:pPr algn="just"/>
            <a:r>
              <a:rPr lang="en-US" dirty="0" smtClean="0"/>
              <a:t>The elements of the list, </a:t>
            </a:r>
            <a:r>
              <a:rPr lang="en-US" dirty="0"/>
              <a:t>called items or values, can be of different data types – numbers, strings, </a:t>
            </a:r>
            <a:r>
              <a:rPr lang="en-US" dirty="0" err="1"/>
              <a:t>booleans</a:t>
            </a:r>
            <a:r>
              <a:rPr lang="en-US" dirty="0"/>
              <a:t>, and even other lists (creating nested structures).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936BB-ABFE-E040-B099-818049090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7A3D4-F5D9-0D4D-95BD-C3A9396EADDE}" type="datetime1">
              <a:rPr lang="en-IN" smtClean="0"/>
              <a:pPr/>
              <a:t>23-01-2025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B6619-C655-D945-AE2E-2CEE90C25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6DC0D-A2FB-884A-A2D3-9CFDA86AF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99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3D20-115E-D14B-B0F6-BB41603A3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 of Lists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DDA18-B11F-9448-B748-B4E2BD89E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3889"/>
            <a:ext cx="10515600" cy="4842461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All Python lists include the following features or characteristics</a:t>
            </a:r>
            <a:r>
              <a:rPr lang="en-US" dirty="0" smtClean="0"/>
              <a:t>:</a:t>
            </a:r>
            <a:endParaRPr lang="en-US" dirty="0"/>
          </a:p>
          <a:p>
            <a:pPr algn="just"/>
            <a:r>
              <a:rPr lang="en-US" dirty="0"/>
              <a:t>Lists can contain items of different types at the same time (including strings, integers, floating point numbers and </a:t>
            </a:r>
            <a:r>
              <a:rPr lang="en-US" dirty="0" err="1"/>
              <a:t>boolean</a:t>
            </a:r>
            <a:r>
              <a:rPr lang="en-US" dirty="0"/>
              <a:t> values).</a:t>
            </a:r>
          </a:p>
          <a:p>
            <a:pPr algn="just"/>
            <a:r>
              <a:rPr lang="en-US" dirty="0"/>
              <a:t>Lists are mutable and dynamic; list items can be added, removed or changed after the list is defined.</a:t>
            </a:r>
          </a:p>
          <a:p>
            <a:pPr algn="just"/>
            <a:r>
              <a:rPr lang="en-US" dirty="0"/>
              <a:t>Lists are ordered; newly added items will be placed at the end of the list.</a:t>
            </a:r>
          </a:p>
          <a:p>
            <a:pPr algn="just"/>
            <a:r>
              <a:rPr lang="en-US" dirty="0"/>
              <a:t>Lists use zero-based indexing; every list item has an associated index, and the first item’s index is 0.</a:t>
            </a:r>
          </a:p>
          <a:p>
            <a:pPr algn="just"/>
            <a:r>
              <a:rPr lang="en-US" dirty="0"/>
              <a:t>Duplicated list items are allowed.</a:t>
            </a:r>
          </a:p>
          <a:p>
            <a:pPr algn="just"/>
            <a:r>
              <a:rPr lang="en-US" dirty="0"/>
              <a:t>Lists can be nested within other lists indefinitely.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936BB-ABFE-E040-B099-818049090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7A3D4-F5D9-0D4D-95BD-C3A9396EADDE}" type="datetime1">
              <a:rPr lang="en-IN" smtClean="0"/>
              <a:pPr/>
              <a:t>23-01-2025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B6619-C655-D945-AE2E-2CEE90C25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6DC0D-A2FB-884A-A2D3-9CFDA86AF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09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3D20-115E-D14B-B0F6-BB41603A3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create a </a:t>
            </a:r>
            <a:r>
              <a:rPr lang="en-US" b="1" dirty="0" smtClean="0"/>
              <a:t>list</a:t>
            </a:r>
            <a:r>
              <a:rPr lang="en-US" b="1" dirty="0" smtClean="0"/>
              <a:t> </a:t>
            </a:r>
            <a:r>
              <a:rPr lang="en-US" b="1" dirty="0"/>
              <a:t>in Python?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DDA18-B11F-9448-B748-B4E2BD89E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130" y="1513889"/>
            <a:ext cx="10870223" cy="4842461"/>
          </a:xfrm>
          <a:ln w="3175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dirty="0"/>
              <a:t>To create a list in Python, write a set of items within square brackets ([]) and separate each item with a comma. </a:t>
            </a:r>
            <a:endParaRPr lang="en-US" dirty="0" smtClean="0"/>
          </a:p>
          <a:p>
            <a:r>
              <a:rPr lang="en-US" dirty="0" smtClean="0"/>
              <a:t>Items </a:t>
            </a:r>
            <a:r>
              <a:rPr lang="en-US" dirty="0"/>
              <a:t>in a list can be any basic object type found in Python, including </a:t>
            </a:r>
            <a:r>
              <a:rPr lang="en-US" dirty="0" smtClean="0"/>
              <a:t>integers</a:t>
            </a:r>
            <a:r>
              <a:rPr lang="en-US" dirty="0"/>
              <a:t>, strings, floating point values or </a:t>
            </a:r>
            <a:r>
              <a:rPr lang="en-US" dirty="0" err="1"/>
              <a:t>boolean</a:t>
            </a:r>
            <a:r>
              <a:rPr lang="en-US" dirty="0"/>
              <a:t> values</a:t>
            </a:r>
            <a:r>
              <a:rPr lang="en-US" dirty="0" smtClean="0"/>
              <a:t>.</a:t>
            </a:r>
            <a:endParaRPr lang="en-US" i="1" dirty="0" smtClean="0"/>
          </a:p>
          <a:p>
            <a:pPr marL="0" indent="0">
              <a:buNone/>
            </a:pPr>
            <a:r>
              <a:rPr lang="en-IN" sz="2500" b="1" i="1" dirty="0" smtClean="0">
                <a:solidFill>
                  <a:srgbClr val="C00000"/>
                </a:solidFill>
              </a:rPr>
              <a:t>Single </a:t>
            </a:r>
            <a:r>
              <a:rPr lang="en-IN" sz="2500" b="1" i="1" dirty="0">
                <a:solidFill>
                  <a:srgbClr val="C00000"/>
                </a:solidFill>
              </a:rPr>
              <a:t>line </a:t>
            </a:r>
            <a:r>
              <a:rPr lang="en-IN" sz="2500" b="1" i="1" dirty="0" smtClean="0">
                <a:solidFill>
                  <a:srgbClr val="C00000"/>
                </a:solidFill>
              </a:rPr>
              <a:t>list</a:t>
            </a:r>
          </a:p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endParaRPr lang="en-IN" sz="2500" b="1" i="1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IN" sz="2500" b="1" i="1" dirty="0" smtClean="0">
                <a:solidFill>
                  <a:srgbClr val="C00000"/>
                </a:solidFill>
              </a:rPr>
              <a:t>Mixed </a:t>
            </a:r>
            <a:r>
              <a:rPr lang="en-IN" sz="2500" b="1" i="1" dirty="0">
                <a:solidFill>
                  <a:srgbClr val="C00000"/>
                </a:solidFill>
              </a:rPr>
              <a:t>data type list</a:t>
            </a:r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F72F8-7AC5-D140-833E-A3B1FCBCE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5F8E-B0A8-7647-AF4D-ED72B82E4720}" type="datetime1">
              <a:rPr lang="en-IN" smtClean="0"/>
              <a:pPr/>
              <a:t>23-01-2025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14F39-6194-AA47-ABC7-116E6DD16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611F8-6B95-2542-8CD0-763020F2D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934915" y="3742758"/>
            <a:ext cx="5020408" cy="384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fruits </a:t>
            </a: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rgbClr val="9A6E3A"/>
                </a:solidFill>
                <a:effectLst/>
              </a:rPr>
              <a:t>=</a:t>
            </a: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</a:t>
            </a: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</a:rPr>
              <a:t>["apple", "banana", "cherry"] 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82152" y="3310098"/>
            <a:ext cx="4671647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500" b="1" i="1" dirty="0">
                <a:solidFill>
                  <a:srgbClr val="C00000"/>
                </a:solidFill>
              </a:rPr>
              <a:t>Multi-line list for </a:t>
            </a:r>
            <a:r>
              <a:rPr lang="en-IN" sz="2500" b="1" i="1" dirty="0" smtClean="0">
                <a:solidFill>
                  <a:srgbClr val="C00000"/>
                </a:solidFill>
              </a:rPr>
              <a:t>readability</a:t>
            </a:r>
            <a:endParaRPr lang="en-US" sz="2500" i="1" dirty="0" smtClean="0">
              <a:solidFill>
                <a:srgbClr val="C00000"/>
              </a:solidFill>
            </a:endParaRPr>
          </a:p>
          <a:p>
            <a:r>
              <a:rPr lang="en-US" sz="2400" dirty="0" smtClean="0">
                <a:solidFill>
                  <a:srgbClr val="002060"/>
                </a:solidFill>
              </a:rPr>
              <a:t>numbers </a:t>
            </a:r>
            <a:r>
              <a:rPr lang="en-US" sz="2400" dirty="0">
                <a:solidFill>
                  <a:srgbClr val="002060"/>
                </a:solidFill>
              </a:rPr>
              <a:t>= [</a:t>
            </a:r>
          </a:p>
          <a:p>
            <a:r>
              <a:rPr lang="en-US" sz="2400" dirty="0">
                <a:solidFill>
                  <a:srgbClr val="002060"/>
                </a:solidFill>
              </a:rPr>
              <a:t>    1,</a:t>
            </a:r>
          </a:p>
          <a:p>
            <a:r>
              <a:rPr lang="en-US" sz="2400" dirty="0">
                <a:solidFill>
                  <a:srgbClr val="002060"/>
                </a:solidFill>
              </a:rPr>
              <a:t>    2,</a:t>
            </a:r>
          </a:p>
          <a:p>
            <a:r>
              <a:rPr lang="en-US" sz="2400" dirty="0">
                <a:solidFill>
                  <a:srgbClr val="002060"/>
                </a:solidFill>
              </a:rPr>
              <a:t>    3,</a:t>
            </a:r>
          </a:p>
          <a:p>
            <a:r>
              <a:rPr lang="en-US" sz="2400" dirty="0">
                <a:solidFill>
                  <a:srgbClr val="002060"/>
                </a:solidFill>
              </a:rPr>
              <a:t>    4,</a:t>
            </a:r>
          </a:p>
          <a:p>
            <a:r>
              <a:rPr lang="en-US" sz="2400" dirty="0">
                <a:solidFill>
                  <a:srgbClr val="002060"/>
                </a:solidFill>
              </a:rPr>
              <a:t>    5,</a:t>
            </a:r>
          </a:p>
          <a:p>
            <a:r>
              <a:rPr lang="en-US" sz="2400" dirty="0">
                <a:solidFill>
                  <a:srgbClr val="002060"/>
                </a:solidFill>
              </a:rPr>
              <a:t>]</a:t>
            </a:r>
            <a:endParaRPr lang="en-IN" sz="2400" dirty="0">
              <a:solidFill>
                <a:srgbClr val="002060"/>
              </a:solidFill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934915" y="5276243"/>
            <a:ext cx="43844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 (Body)"/>
              </a:rPr>
              <a:t>mixed_list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Body)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9A6E3A"/>
                </a:solidFill>
                <a:effectLst/>
                <a:latin typeface="Calibri (Body)"/>
              </a:rPr>
              <a:t>=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(Body)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alibri (Body)"/>
              </a:rPr>
              <a:t>["hello", 3.14, True] </a:t>
            </a:r>
          </a:p>
        </p:txBody>
      </p:sp>
    </p:spTree>
    <p:extLst>
      <p:ext uri="{BB962C8B-B14F-4D97-AF65-F5344CB8AC3E}">
        <p14:creationId xmlns:p14="http://schemas.microsoft.com/office/powerpoint/2010/main" val="227717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3D20-115E-D14B-B0F6-BB41603A3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</a:t>
            </a:r>
            <a:r>
              <a:rPr lang="en-US" b="1" dirty="0"/>
              <a:t>A</a:t>
            </a:r>
            <a:r>
              <a:rPr lang="en-US" b="1" dirty="0" smtClean="0"/>
              <a:t>ccess </a:t>
            </a:r>
            <a:r>
              <a:rPr lang="en-US" b="1" dirty="0" smtClean="0"/>
              <a:t>Elements </a:t>
            </a:r>
            <a:r>
              <a:rPr lang="en-US" b="1" dirty="0"/>
              <a:t>in a List in Python?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DDA18-B11F-9448-B748-B4E2BD89E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970265"/>
          </a:xfrm>
        </p:spPr>
        <p:txBody>
          <a:bodyPr>
            <a:normAutofit/>
          </a:bodyPr>
          <a:lstStyle/>
          <a:p>
            <a:r>
              <a:rPr lang="en-US" dirty="0"/>
              <a:t>Each item in a list has an assigned index value</a:t>
            </a:r>
            <a:r>
              <a:rPr lang="en-US" dirty="0" smtClean="0"/>
              <a:t>.</a:t>
            </a:r>
          </a:p>
          <a:p>
            <a:r>
              <a:rPr lang="en-US" dirty="0" smtClean="0"/>
              <a:t>Python </a:t>
            </a:r>
            <a:r>
              <a:rPr lang="en-US" dirty="0"/>
              <a:t>is a zero-indexed based language. T</a:t>
            </a:r>
            <a:r>
              <a:rPr lang="en-US" dirty="0" smtClean="0"/>
              <a:t>his </a:t>
            </a:r>
            <a:r>
              <a:rPr lang="en-US" dirty="0"/>
              <a:t>means is that the first item in the list starts at index 0 and ascends accordingly.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the example list, “z,” the indices of each list item would look like this</a:t>
            </a:r>
            <a:r>
              <a:rPr lang="en-US" dirty="0" smtClean="0"/>
              <a:t>:</a:t>
            </a:r>
          </a:p>
          <a:p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F72F8-7AC5-D140-833E-A3B1FCBCE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5F8E-B0A8-7647-AF4D-ED72B82E4720}" type="datetime1">
              <a:rPr lang="en-IN" smtClean="0"/>
              <a:pPr/>
              <a:t>23-01-2025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14F39-6194-AA47-ABC7-116E6DD16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611F8-6B95-2542-8CD0-763020F2D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315" y="4384332"/>
            <a:ext cx="7353937" cy="169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036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3D20-115E-D14B-B0F6-BB41603A3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Access Elements in a List in Python?</a:t>
            </a:r>
            <a:endParaRPr lang="en-US" b="1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F72F8-7AC5-D140-833E-A3B1FCBCE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5F8E-B0A8-7647-AF4D-ED72B82E4720}" type="datetime1">
              <a:rPr lang="en-IN" smtClean="0"/>
              <a:pPr/>
              <a:t>23-01-2025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14F39-6194-AA47-ABC7-116E6DD16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611F8-6B95-2542-8CD0-763020F2D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031415" cy="4351338"/>
          </a:xfrm>
        </p:spPr>
        <p:txBody>
          <a:bodyPr/>
          <a:lstStyle/>
          <a:p>
            <a:r>
              <a:rPr lang="en-US" dirty="0"/>
              <a:t>To access an item value, print the index of the associated item in the list. </a:t>
            </a:r>
            <a:endParaRPr lang="en-US" dirty="0" smtClean="0"/>
          </a:p>
          <a:p>
            <a:r>
              <a:rPr lang="en-US" dirty="0" smtClean="0"/>
              <a:t>As </a:t>
            </a:r>
            <a:r>
              <a:rPr lang="en-US" dirty="0"/>
              <a:t>an example, </a:t>
            </a:r>
            <a:r>
              <a:rPr lang="en-US" dirty="0" smtClean="0"/>
              <a:t>to </a:t>
            </a:r>
            <a:r>
              <a:rPr lang="en-US" dirty="0"/>
              <a:t>access the first item from the list “z,” shown in blue below:</a:t>
            </a:r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992" y="2985713"/>
            <a:ext cx="7445385" cy="173751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37492" y="4761132"/>
            <a:ext cx="247943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>
                <a:solidFill>
                  <a:srgbClr val="3A3B41"/>
                </a:solidFill>
                <a:latin typeface="Calibri body"/>
              </a:rPr>
              <a:t>To </a:t>
            </a:r>
            <a:r>
              <a:rPr lang="en-US" sz="2500" dirty="0" smtClean="0">
                <a:solidFill>
                  <a:srgbClr val="3A3B41"/>
                </a:solidFill>
                <a:latin typeface="Calibri body"/>
              </a:rPr>
              <a:t>access item 3, use </a:t>
            </a:r>
            <a:r>
              <a:rPr lang="en-US" sz="2500" dirty="0">
                <a:solidFill>
                  <a:srgbClr val="3A3B41"/>
                </a:solidFill>
                <a:latin typeface="Calibri body"/>
              </a:rPr>
              <a:t>the item’s index, 0, and write:</a:t>
            </a:r>
            <a:endParaRPr lang="en-IN" sz="2500" dirty="0">
              <a:latin typeface="Calibri body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4761132"/>
            <a:ext cx="5439508" cy="168032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908" y="4840392"/>
            <a:ext cx="2898529" cy="152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728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3D20-115E-D14B-B0F6-BB41603A3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Access Elements in a List in Python?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DDA18-B11F-9448-B748-B4E2BD89E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5840"/>
            <a:ext cx="10890738" cy="179680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Python also supports negative indexing. </a:t>
            </a:r>
            <a:endParaRPr lang="en-US" dirty="0" smtClean="0"/>
          </a:p>
          <a:p>
            <a:r>
              <a:rPr lang="en-US" dirty="0" smtClean="0"/>
              <a:t>Negative </a:t>
            </a:r>
            <a:r>
              <a:rPr lang="en-US" dirty="0"/>
              <a:t>indexing starts at the end.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can be more convenient at times to use negative indexing to get the last item in the list because </a:t>
            </a:r>
            <a:r>
              <a:rPr lang="en-US" dirty="0" smtClean="0"/>
              <a:t>we </a:t>
            </a:r>
            <a:r>
              <a:rPr lang="en-US" dirty="0"/>
              <a:t>don’t have to know the length of the list to access the last item.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F72F8-7AC5-D140-833E-A3B1FCBCE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5F8E-B0A8-7647-AF4D-ED72B82E4720}" type="datetime1">
              <a:rPr lang="en-IN" smtClean="0"/>
              <a:pPr/>
              <a:t>23-01-2025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14F39-6194-AA47-ABC7-116E6DD16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611F8-6B95-2542-8CD0-763020F2D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712" y="3176793"/>
            <a:ext cx="6679724" cy="157186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711" y="4821422"/>
            <a:ext cx="4736696" cy="153492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846" y="4821423"/>
            <a:ext cx="2655277" cy="134885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2122" y="5023538"/>
            <a:ext cx="2956816" cy="112023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947535" y="3942733"/>
            <a:ext cx="31828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Calibri "/>
              </a:rPr>
              <a:t>We can also </a:t>
            </a:r>
            <a:r>
              <a:rPr lang="en-US" sz="2000" dirty="0">
                <a:solidFill>
                  <a:srgbClr val="C00000"/>
                </a:solidFill>
                <a:latin typeface="Calibri "/>
              </a:rPr>
              <a:t>access the same item using positive indexes, as </a:t>
            </a:r>
            <a:r>
              <a:rPr lang="en-US" sz="2000" dirty="0" smtClean="0">
                <a:solidFill>
                  <a:srgbClr val="C00000"/>
                </a:solidFill>
                <a:latin typeface="Calibri "/>
              </a:rPr>
              <a:t>below</a:t>
            </a:r>
            <a:r>
              <a:rPr lang="en-US" sz="2000" dirty="0">
                <a:solidFill>
                  <a:srgbClr val="C00000"/>
                </a:solidFill>
                <a:latin typeface="Calibri "/>
              </a:rPr>
              <a:t>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8094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553EF-546B-384B-BF65-DA578FF27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Slice a Python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08D06-CC03-3A4A-A99A-847C4F1CC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4451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Slices are good for getting a subset of values in </a:t>
            </a:r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dirty="0"/>
              <a:t>list. </a:t>
            </a:r>
            <a:endParaRPr lang="en-US" dirty="0" smtClean="0"/>
          </a:p>
          <a:p>
            <a:r>
              <a:rPr lang="en-IN" dirty="0"/>
              <a:t>If we want to access a range, we need the index that will slice the portion from the string</a:t>
            </a:r>
            <a:r>
              <a:rPr lang="en-IN" dirty="0" smtClean="0"/>
              <a:t>.</a:t>
            </a:r>
            <a:endParaRPr lang="en-US" dirty="0" smtClean="0"/>
          </a:p>
          <a:p>
            <a:r>
              <a:rPr lang="en-US" dirty="0" smtClean="0"/>
              <a:t>For an example, below code will </a:t>
            </a:r>
            <a:r>
              <a:rPr lang="en-US" dirty="0"/>
              <a:t>return a list with the items from index 0 up to and not including index 2</a:t>
            </a:r>
            <a:r>
              <a:rPr lang="en-US" dirty="0" smtClean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9D8C2-8C8E-5B41-BE08-FE74AC9C0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51C6-2ADB-6841-BB3E-301450021EF4}" type="datetime1">
              <a:rPr lang="en-IN" smtClean="0"/>
              <a:pPr/>
              <a:t>23-01-2025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37D04-D627-6B47-AFF1-7FD6665B6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7B788-5918-9D48-9BEA-B63B8A0BD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738790"/>
            <a:ext cx="6210249" cy="13871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062" y="3738790"/>
            <a:ext cx="2835607" cy="17334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6178" y="3815284"/>
            <a:ext cx="2233246" cy="122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685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553EF-546B-384B-BF65-DA578FF27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Slice a Python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9D8C2-8C8E-5B41-BE08-FE74AC9C0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51C6-2ADB-6841-BB3E-301450021EF4}" type="datetime1">
              <a:rPr lang="en-IN" smtClean="0"/>
              <a:pPr/>
              <a:t>23-01-2025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37D04-D627-6B47-AFF1-7FD6665B6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7B788-5918-9D48-9BEA-B63B8A0BD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96431"/>
            <a:ext cx="7483488" cy="186706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17" y="3428999"/>
            <a:ext cx="5895714" cy="153375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9802" y="3635120"/>
            <a:ext cx="2568163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23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553EF-546B-384B-BF65-DA578FF27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Slice a Python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9D8C2-8C8E-5B41-BE08-FE74AC9C0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51C6-2ADB-6841-BB3E-301450021EF4}" type="datetime1">
              <a:rPr lang="en-IN" smtClean="0"/>
              <a:pPr/>
              <a:t>23-01-2025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37D04-D627-6B47-AFF1-7FD6665B6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7B788-5918-9D48-9BEA-B63B8A0BD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927117" y="1671416"/>
            <a:ext cx="84103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A3B41"/>
                </a:solidFill>
                <a:latin typeface="Georgia" panose="02040502050405020303" pitchFamily="18" charset="0"/>
              </a:rPr>
              <a:t>R</a:t>
            </a:r>
            <a:r>
              <a:rPr lang="en-US" dirty="0" smtClean="0">
                <a:solidFill>
                  <a:srgbClr val="3A3B41"/>
                </a:solidFill>
                <a:latin typeface="Georgia" panose="02040502050405020303" pitchFamily="18" charset="0"/>
              </a:rPr>
              <a:t>eturns </a:t>
            </a:r>
            <a:r>
              <a:rPr lang="en-US" dirty="0">
                <a:solidFill>
                  <a:srgbClr val="3A3B41"/>
                </a:solidFill>
                <a:latin typeface="Georgia" panose="02040502050405020303" pitchFamily="18" charset="0"/>
              </a:rPr>
              <a:t>a list with items from index 1 to the end of the list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17" y="3852511"/>
            <a:ext cx="5416083" cy="197678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17" y="2112965"/>
            <a:ext cx="7277731" cy="171464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659" y="3899830"/>
            <a:ext cx="4413010" cy="191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873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A41D0-7C53-4C46-B394-89C7566C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Update an Item in a Python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C7B9C-FF71-094B-9879-EF65ECEA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51C6-2ADB-6841-BB3E-301450021EF4}" type="datetime1">
              <a:rPr lang="en-IN" smtClean="0"/>
              <a:pPr/>
              <a:t>23-01-2025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06F05-36DA-7E47-B33C-1224A0485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5E3B-3E30-B046-A397-2A3D2E60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99" y="1444376"/>
            <a:ext cx="10084685" cy="13514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16976" y="2959531"/>
            <a:ext cx="1068558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>
                <a:latin typeface="Calibri body"/>
              </a:rPr>
              <a:t>Lists in Python are mutable. </a:t>
            </a:r>
            <a:r>
              <a:rPr lang="en-US" sz="2500" dirty="0" smtClean="0">
                <a:latin typeface="Calibri body"/>
              </a:rPr>
              <a:t>After </a:t>
            </a:r>
            <a:r>
              <a:rPr lang="en-US" sz="2500" dirty="0">
                <a:latin typeface="Calibri body"/>
              </a:rPr>
              <a:t>defining a list, it’s possible to update the individual items in a list.</a:t>
            </a:r>
            <a:endParaRPr lang="en-IN" sz="2500" dirty="0">
              <a:latin typeface="Calibri body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96" y="3733362"/>
            <a:ext cx="6201541" cy="262298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4537" y="3478643"/>
            <a:ext cx="3559991" cy="291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72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A41D0-7C53-4C46-B394-89C7566C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Python List Modification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C9DE4-3096-174B-A91A-96EBF3D29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608" y="1825626"/>
            <a:ext cx="8842130" cy="422348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600" b="1" dirty="0" smtClean="0">
                <a:solidFill>
                  <a:srgbClr val="C00000"/>
                </a:solidFill>
              </a:rPr>
              <a:t>Eight </a:t>
            </a:r>
            <a:r>
              <a:rPr lang="en-US" sz="3600" b="1" dirty="0">
                <a:solidFill>
                  <a:srgbClr val="C00000"/>
                </a:solidFill>
              </a:rPr>
              <a:t>Ways to Modify a Python List</a:t>
            </a:r>
          </a:p>
          <a:p>
            <a:r>
              <a:rPr lang="en-US" sz="3600" dirty="0"/>
              <a:t>Index method</a:t>
            </a:r>
          </a:p>
          <a:p>
            <a:r>
              <a:rPr lang="en-US" sz="3600" dirty="0"/>
              <a:t>Count method</a:t>
            </a:r>
          </a:p>
          <a:p>
            <a:r>
              <a:rPr lang="en-US" sz="3600" dirty="0"/>
              <a:t>Sort method</a:t>
            </a:r>
          </a:p>
          <a:p>
            <a:r>
              <a:rPr lang="en-US" sz="3600" dirty="0"/>
              <a:t>Append method</a:t>
            </a:r>
          </a:p>
          <a:p>
            <a:r>
              <a:rPr lang="en-US" sz="3600" dirty="0"/>
              <a:t>Remove method</a:t>
            </a:r>
          </a:p>
          <a:p>
            <a:r>
              <a:rPr lang="en-US" sz="3600" dirty="0"/>
              <a:t>Pop method</a:t>
            </a:r>
          </a:p>
          <a:p>
            <a:r>
              <a:rPr lang="en-US" sz="3600" dirty="0"/>
              <a:t>Extend method</a:t>
            </a:r>
          </a:p>
          <a:p>
            <a:r>
              <a:rPr lang="en-US" sz="3600" dirty="0"/>
              <a:t>Insert method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C7B9C-FF71-094B-9879-EF65ECEA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51C6-2ADB-6841-BB3E-301450021EF4}" type="datetime1">
              <a:rPr lang="en-IN" smtClean="0"/>
              <a:pPr/>
              <a:t>23-01-2025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06F05-36DA-7E47-B33C-1224A0485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5E3B-3E30-B046-A397-2A3D2E60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645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45344"/>
            <a:ext cx="5797602" cy="19774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396" y="3545344"/>
            <a:ext cx="7022442" cy="18179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5A41D0-7C53-4C46-B394-89C7566C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Python List Modification Methods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C7B9C-FF71-094B-9879-EF65ECEA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51C6-2ADB-6841-BB3E-301450021EF4}" type="datetime1">
              <a:rPr lang="en-IN" smtClean="0"/>
              <a:pPr/>
              <a:t>23-01-2025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06F05-36DA-7E47-B33C-1224A0485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5E3B-3E30-B046-A397-2A3D2E60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561855"/>
            <a:ext cx="1123363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Python lists have different methods that help </a:t>
            </a:r>
            <a:r>
              <a:rPr lang="en-US" dirty="0" smtClean="0"/>
              <a:t>us to </a:t>
            </a:r>
            <a:r>
              <a:rPr lang="en-US" dirty="0"/>
              <a:t>modify a list. </a:t>
            </a:r>
            <a:endParaRPr lang="en-US" dirty="0" smtClean="0"/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1. Index Method</a:t>
            </a:r>
          </a:p>
          <a:p>
            <a:pPr marL="0" indent="0">
              <a:buNone/>
            </a:pPr>
            <a:r>
              <a:rPr lang="en-US" dirty="0"/>
              <a:t>The index method returns the first index at which a value occurs. </a:t>
            </a:r>
            <a:endParaRPr lang="en-US" dirty="0"/>
          </a:p>
          <a:p>
            <a:pPr marL="0" indent="0">
              <a:buNone/>
            </a:pPr>
            <a:r>
              <a:rPr lang="en-US" b="1" dirty="0" smtClean="0">
                <a:solidFill>
                  <a:srgbClr val="0070C0"/>
                </a:solidFill>
              </a:rPr>
              <a:t>Example: </a:t>
            </a:r>
            <a:r>
              <a:rPr lang="en-US" dirty="0">
                <a:solidFill>
                  <a:srgbClr val="C00000"/>
                </a:solidFill>
              </a:rPr>
              <a:t>T</a:t>
            </a:r>
            <a:r>
              <a:rPr lang="en-US" dirty="0" smtClean="0">
                <a:solidFill>
                  <a:srgbClr val="C00000"/>
                </a:solidFill>
              </a:rPr>
              <a:t>o </a:t>
            </a:r>
            <a:r>
              <a:rPr lang="en-US" dirty="0">
                <a:solidFill>
                  <a:srgbClr val="C00000"/>
                </a:solidFill>
              </a:rPr>
              <a:t>get the index of the first occurrence of “4” in </a:t>
            </a:r>
            <a:r>
              <a:rPr lang="en-US" dirty="0" smtClean="0">
                <a:solidFill>
                  <a:srgbClr val="C00000"/>
                </a:solidFill>
              </a:rPr>
              <a:t>following </a:t>
            </a:r>
            <a:r>
              <a:rPr lang="en-US" dirty="0">
                <a:solidFill>
                  <a:srgbClr val="C00000"/>
                </a:solidFill>
              </a:rPr>
              <a:t>list: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52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A41D0-7C53-4C46-B394-89C7566C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Python List Modification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C9DE4-3096-174B-A91A-96EBF3D29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607" y="1825626"/>
            <a:ext cx="10618177" cy="42234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C00000"/>
                </a:solidFill>
              </a:rPr>
              <a:t>1. Index Method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Example: </a:t>
            </a:r>
            <a:r>
              <a:rPr lang="en-US" dirty="0">
                <a:solidFill>
                  <a:srgbClr val="C00000"/>
                </a:solidFill>
              </a:rPr>
              <a:t>To get the index of the first occurrence of “4” in following list: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C7B9C-FF71-094B-9879-EF65ECEA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51C6-2ADB-6841-BB3E-301450021EF4}" type="datetime1">
              <a:rPr lang="en-IN" smtClean="0"/>
              <a:pPr/>
              <a:t>23-01-2025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06F05-36DA-7E47-B33C-1224A0485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5E3B-3E30-B046-A397-2A3D2E60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731" y="2883817"/>
            <a:ext cx="7254869" cy="137171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374590" y="4293818"/>
            <a:ext cx="53280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A3B41"/>
                </a:solidFill>
                <a:latin typeface="Georgia" panose="02040502050405020303" pitchFamily="18" charset="0"/>
              </a:rPr>
              <a:t>In the code below, using index() will return 0.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731" y="4609518"/>
            <a:ext cx="4898722" cy="17468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872" y="4663151"/>
            <a:ext cx="4086719" cy="147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221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6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A41D0-7C53-4C46-B394-89C7566C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Python List Modification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C9DE4-3096-174B-A91A-96EBF3D29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7465" cy="42234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1. Index Method</a:t>
            </a:r>
          </a:p>
          <a:p>
            <a:pPr marL="0" indent="0">
              <a:buNone/>
            </a:pPr>
            <a:r>
              <a:rPr lang="en-US" dirty="0" smtClean="0"/>
              <a:t>We can </a:t>
            </a:r>
            <a:r>
              <a:rPr lang="en-US" dirty="0"/>
              <a:t>also specify where </a:t>
            </a:r>
            <a:r>
              <a:rPr lang="en-US" dirty="0" smtClean="0"/>
              <a:t>we </a:t>
            </a:r>
            <a:r>
              <a:rPr lang="en-US" dirty="0"/>
              <a:t>want to start </a:t>
            </a:r>
            <a:r>
              <a:rPr lang="en-US" dirty="0" smtClean="0"/>
              <a:t>our </a:t>
            </a:r>
            <a:r>
              <a:rPr lang="en-US" dirty="0"/>
              <a:t>search if there are multiple of the same list item.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C7B9C-FF71-094B-9879-EF65ECEA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51C6-2ADB-6841-BB3E-301450021EF4}" type="datetime1">
              <a:rPr lang="en-IN" smtClean="0"/>
              <a:pPr/>
              <a:t>23-01-2025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06F05-36DA-7E47-B33C-1224A0485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5E3B-3E30-B046-A397-2A3D2E60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198" y="3109678"/>
            <a:ext cx="8469604" cy="158587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741" y="4695550"/>
            <a:ext cx="4505244" cy="155820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4603" y="4748097"/>
            <a:ext cx="5125688" cy="153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405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A41D0-7C53-4C46-B394-89C7566C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Python List Modification Methods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C7B9C-FF71-094B-9879-EF65ECEA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51C6-2ADB-6841-BB3E-301450021EF4}" type="datetime1">
              <a:rPr lang="en-IN" smtClean="0"/>
              <a:pPr/>
              <a:t>24-01-2025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06F05-36DA-7E47-B33C-1224A0485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5E3B-3E30-B046-A397-2A3D2E60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56185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2. Count Method</a:t>
            </a:r>
          </a:p>
          <a:p>
            <a:pPr marL="0" indent="0">
              <a:buNone/>
            </a:pP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count method counts the number of times a value occurs in a </a:t>
            </a:r>
            <a:r>
              <a:rPr lang="en-US" dirty="0" smtClean="0"/>
              <a:t>list.</a:t>
            </a:r>
            <a:endParaRPr lang="en-US" dirty="0"/>
          </a:p>
          <a:p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577" y="2887418"/>
            <a:ext cx="6452932" cy="191318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516" y="4928764"/>
            <a:ext cx="5978768" cy="141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165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A41D0-7C53-4C46-B394-89C7566C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Python List Modification Methods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C7B9C-FF71-094B-9879-EF65ECEA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51C6-2ADB-6841-BB3E-301450021EF4}" type="datetime1">
              <a:rPr lang="en-IN" smtClean="0"/>
              <a:pPr/>
              <a:t>24-01-2025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06F05-36DA-7E47-B33C-1224A0485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5E3B-3E30-B046-A397-2A3D2E60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911145" y="149659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3. Sort Method</a:t>
            </a:r>
          </a:p>
          <a:p>
            <a:pPr marL="0" indent="0">
              <a:buNone/>
            </a:pPr>
            <a:r>
              <a:rPr lang="en-US" dirty="0"/>
              <a:t>The sort method sorts and alters the original list in place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75" y="2561515"/>
            <a:ext cx="9068125" cy="14620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075" y="4023517"/>
            <a:ext cx="4713002" cy="238079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945" y="4023517"/>
            <a:ext cx="3824773" cy="233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063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A41D0-7C53-4C46-B394-89C7566C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Python List Modification Methods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C7B9C-FF71-094B-9879-EF65ECEA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51C6-2ADB-6841-BB3E-301450021EF4}" type="datetime1">
              <a:rPr lang="en-IN" smtClean="0"/>
              <a:pPr/>
              <a:t>24-01-2025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06F05-36DA-7E47-B33C-1224A0485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5E3B-3E30-B046-A397-2A3D2E60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44755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3. Sort </a:t>
            </a:r>
            <a:r>
              <a:rPr lang="en-IN" b="1" dirty="0" smtClean="0"/>
              <a:t>Method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code </a:t>
            </a:r>
            <a:r>
              <a:rPr lang="en-US" dirty="0" smtClean="0"/>
              <a:t>in previous slide </a:t>
            </a:r>
            <a:r>
              <a:rPr lang="en-US" dirty="0"/>
              <a:t>sorts a list from low to high.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code below shows that you can also sort a list from high to low.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107" y="2861460"/>
            <a:ext cx="7855070" cy="11655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634" y="4026999"/>
            <a:ext cx="5361412" cy="241776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480" y="4103428"/>
            <a:ext cx="5325464" cy="205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96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A41D0-7C53-4C46-B394-89C7566C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Python List Modification Methods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C7B9C-FF71-094B-9879-EF65ECEA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51C6-2ADB-6841-BB3E-301450021EF4}" type="datetime1">
              <a:rPr lang="en-IN" smtClean="0"/>
              <a:pPr/>
              <a:t>24-01-2025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06F05-36DA-7E47-B33C-1224A0485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5E3B-3E30-B046-A397-2A3D2E60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934915" y="139609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4. Append Method</a:t>
            </a:r>
          </a:p>
          <a:p>
            <a:pPr marL="0" indent="0">
              <a:buNone/>
            </a:pPr>
            <a:r>
              <a:rPr lang="en-US" dirty="0"/>
              <a:t>The append method adds an element to the end of a list. This happens in place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572" y="2694452"/>
            <a:ext cx="8392856" cy="126848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617" y="3947746"/>
            <a:ext cx="3828005" cy="243600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384" y="3909486"/>
            <a:ext cx="5095293" cy="243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249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A41D0-7C53-4C46-B394-89C7566C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Python List Modification Methods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C7B9C-FF71-094B-9879-EF65ECEA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51C6-2ADB-6841-BB3E-301450021EF4}" type="datetime1">
              <a:rPr lang="en-IN" smtClean="0"/>
              <a:pPr/>
              <a:t>24-01-2025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06F05-36DA-7E47-B33C-1224A0485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5E3B-3E30-B046-A397-2A3D2E60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5. Remove Method</a:t>
            </a:r>
          </a:p>
          <a:p>
            <a:pPr marL="0" indent="0">
              <a:buNone/>
            </a:pPr>
            <a:r>
              <a:rPr lang="en-US" dirty="0"/>
              <a:t>The remove method removes the first occurrence of a value in a list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087" y="2884123"/>
            <a:ext cx="8976144" cy="132739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1745" y="4273856"/>
            <a:ext cx="3259309" cy="202257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829" y="4259939"/>
            <a:ext cx="3454012" cy="193316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790841" y="4669848"/>
            <a:ext cx="22786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C00000"/>
                </a:solidFill>
                <a:latin typeface="Georgia" panose="02040502050405020303" pitchFamily="18" charset="0"/>
              </a:rPr>
              <a:t>Code removes the first occurrence of the value 2 from the list z.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66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A41D0-7C53-4C46-B394-89C7566C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Python List Modification Methods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C7B9C-FF71-094B-9879-EF65ECEA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51C6-2ADB-6841-BB3E-301450021EF4}" type="datetime1">
              <a:rPr lang="en-IN" smtClean="0"/>
              <a:pPr/>
              <a:t>24-01-2025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06F05-36DA-7E47-B33C-1224A0485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5E3B-3E30-B046-A397-2A3D2E60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908538" y="157064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6. Pop </a:t>
            </a:r>
            <a:r>
              <a:rPr lang="en-IN" b="1" dirty="0" smtClean="0"/>
              <a:t>Method</a:t>
            </a:r>
          </a:p>
          <a:p>
            <a:pPr algn="just"/>
            <a:r>
              <a:rPr lang="en-US" dirty="0"/>
              <a:t>The pop method removes an item at the index </a:t>
            </a:r>
            <a:r>
              <a:rPr lang="en-US" dirty="0" smtClean="0"/>
              <a:t>we </a:t>
            </a:r>
            <a:r>
              <a:rPr lang="en-US" dirty="0"/>
              <a:t>provide. </a:t>
            </a:r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/>
              <a:t>method will also return the item </a:t>
            </a:r>
            <a:r>
              <a:rPr lang="en-US" dirty="0" smtClean="0"/>
              <a:t>removed </a:t>
            </a:r>
            <a:r>
              <a:rPr lang="en-US" dirty="0"/>
              <a:t>from the list. </a:t>
            </a:r>
            <a:endParaRPr lang="en-US" dirty="0" smtClean="0"/>
          </a:p>
          <a:p>
            <a:pPr algn="just"/>
            <a:r>
              <a:rPr lang="en-US" dirty="0" smtClean="0"/>
              <a:t>If an index is not provided, </a:t>
            </a:r>
            <a:r>
              <a:rPr lang="en-US" dirty="0"/>
              <a:t>it will default to removing the item at the last index.</a:t>
            </a: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619" y="3483033"/>
            <a:ext cx="6965581" cy="10023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067" y="4485432"/>
            <a:ext cx="3099662" cy="187091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602" y="4485432"/>
            <a:ext cx="2455658" cy="218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904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A41D0-7C53-4C46-B394-89C7566C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Python List Modification Methods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C7B9C-FF71-094B-9879-EF65ECEA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51C6-2ADB-6841-BB3E-301450021EF4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06F05-36DA-7E47-B33C-1224A0485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5E3B-3E30-B046-A397-2A3D2E60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46514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7. Extend </a:t>
            </a:r>
            <a:r>
              <a:rPr lang="en-IN" b="1" dirty="0" smtClean="0"/>
              <a:t>Method</a:t>
            </a:r>
          </a:p>
          <a:p>
            <a:pPr marL="0" indent="0">
              <a:buNone/>
            </a:pPr>
            <a:r>
              <a:rPr lang="en-US" dirty="0" smtClean="0"/>
              <a:t>Extend </a:t>
            </a:r>
            <a:r>
              <a:rPr lang="en-US" dirty="0"/>
              <a:t>method extends a list by appending items.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benefit of this </a:t>
            </a:r>
            <a:r>
              <a:rPr lang="en-US" dirty="0" smtClean="0"/>
              <a:t>method is that we </a:t>
            </a:r>
            <a:r>
              <a:rPr lang="en-US" dirty="0"/>
              <a:t>can add lists together.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497" y="2970535"/>
            <a:ext cx="7315834" cy="106689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06" y="3973891"/>
            <a:ext cx="3367263" cy="240306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577" y="4056366"/>
            <a:ext cx="4032738" cy="223811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352139" y="2970535"/>
            <a:ext cx="3552092" cy="3447098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2300" b="1" dirty="0">
                <a:solidFill>
                  <a:srgbClr val="0070C0"/>
                </a:solidFill>
              </a:rPr>
              <a:t>Alternatively, </a:t>
            </a:r>
            <a:r>
              <a:rPr lang="en-US" sz="2300" dirty="0"/>
              <a:t>the same thing could be accomplished by using the + operator</a:t>
            </a:r>
            <a:r>
              <a:rPr lang="en-US" sz="2300" dirty="0" smtClean="0"/>
              <a:t>.</a:t>
            </a:r>
          </a:p>
          <a:p>
            <a:endParaRPr lang="en-US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676" y="4442226"/>
            <a:ext cx="3363134" cy="79293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230" y="5306718"/>
            <a:ext cx="3300027" cy="95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14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A41D0-7C53-4C46-B394-89C7566C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Python List Modification Methods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C7B9C-FF71-094B-9879-EF65ECEA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51C6-2ADB-6841-BB3E-301450021EF4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06F05-36DA-7E47-B33C-1224A0485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5E3B-3E30-B046-A397-2A3D2E60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42997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8. Insert Method</a:t>
            </a:r>
          </a:p>
          <a:p>
            <a:pPr marL="0" indent="0">
              <a:buNone/>
            </a:pPr>
            <a:r>
              <a:rPr lang="en-US" dirty="0"/>
              <a:t>The insert method inserts an item before the index </a:t>
            </a:r>
            <a:r>
              <a:rPr lang="en-US" dirty="0" smtClean="0"/>
              <a:t>we </a:t>
            </a:r>
            <a:r>
              <a:rPr lang="en-US" dirty="0"/>
              <a:t>provide.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18" y="2399232"/>
            <a:ext cx="9315257" cy="13367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17" y="3735998"/>
            <a:ext cx="4468569" cy="262035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403" y="3817770"/>
            <a:ext cx="5946215" cy="233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751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57496"/>
            <a:ext cx="12192000" cy="1333509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IN" sz="72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7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AC757-DDD3-264F-B77D-C44FF96F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A20-1081-484C-B9BA-507F75B77E7E}" type="datetime1">
              <a:rPr lang="en-IN" smtClean="0"/>
              <a:pPr/>
              <a:t>23-01-2025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46BFF-1913-2942-A686-B7A2F8172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BCCB6-5866-B84A-B6CB-0D0953C8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FD74-5DBD-DC4F-A114-E2C9B32FA9B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951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9292</TotalTime>
  <Words>1046</Words>
  <Application>Microsoft Office PowerPoint</Application>
  <PresentationFormat>Widescreen</PresentationFormat>
  <Paragraphs>192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Calibri</vt:lpstr>
      <vt:lpstr>Calibri </vt:lpstr>
      <vt:lpstr>Calibri (Body)</vt:lpstr>
      <vt:lpstr>Calibri body</vt:lpstr>
      <vt:lpstr>Calibri Light</vt:lpstr>
      <vt:lpstr>Georgia</vt:lpstr>
      <vt:lpstr>Times New Roman</vt:lpstr>
      <vt:lpstr>Office Theme</vt:lpstr>
      <vt:lpstr>Branch - CSE Python Programming</vt:lpstr>
      <vt:lpstr>What is a List in Python?</vt:lpstr>
      <vt:lpstr>Features of Lists in Python</vt:lpstr>
      <vt:lpstr>How to create a list in Python?</vt:lpstr>
      <vt:lpstr>How to Access Elements in a List in Python?</vt:lpstr>
      <vt:lpstr>How to Access Elements in a List in Python?</vt:lpstr>
      <vt:lpstr>How to Access Elements in a List in Python?</vt:lpstr>
      <vt:lpstr>How to Slice a Python List</vt:lpstr>
      <vt:lpstr>How to Slice a Python List</vt:lpstr>
      <vt:lpstr>How to Slice a Python List</vt:lpstr>
      <vt:lpstr>How to Update an Item in a Python List</vt:lpstr>
      <vt:lpstr>Python List Modification Methods</vt:lpstr>
      <vt:lpstr>Python List Modification Methods</vt:lpstr>
      <vt:lpstr>Python List Modification Methods</vt:lpstr>
      <vt:lpstr>Python List Modification Methods</vt:lpstr>
      <vt:lpstr>Python List Modification Methods</vt:lpstr>
      <vt:lpstr>Python List Modification Methods</vt:lpstr>
      <vt:lpstr>Python List Modification Methods</vt:lpstr>
      <vt:lpstr>Python List Modification Methods</vt:lpstr>
      <vt:lpstr>Python List Modification Methods</vt:lpstr>
      <vt:lpstr>Python List Modification Methods</vt:lpstr>
      <vt:lpstr>Python List Modification Methods</vt:lpstr>
      <vt:lpstr>Python List Modification Methods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 - CSE Python Programming</dc:title>
  <dc:creator>Shobhit Tyagi</dc:creator>
  <cp:lastModifiedBy>Smita Tiwari</cp:lastModifiedBy>
  <cp:revision>31</cp:revision>
  <dcterms:created xsi:type="dcterms:W3CDTF">2021-12-21T18:25:55Z</dcterms:created>
  <dcterms:modified xsi:type="dcterms:W3CDTF">2025-01-29T14:13:04Z</dcterms:modified>
</cp:coreProperties>
</file>