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9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19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– Part 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B562-3ABD-DF4B-8516-93764F43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Aliasing and Copying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B0AD-8BA2-AB41-9D34-9C56C3CD2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84329"/>
          </a:xfrm>
        </p:spPr>
        <p:txBody>
          <a:bodyPr/>
          <a:lstStyle/>
          <a:p>
            <a:r>
              <a:rPr lang="en-US" dirty="0"/>
              <a:t>Since, dictionaries are mutable, you need to be aware of aliasing. </a:t>
            </a:r>
          </a:p>
          <a:p>
            <a:r>
              <a:rPr lang="en-US" dirty="0"/>
              <a:t>Whenever two variables refer to the same object, changes to one affect the other.</a:t>
            </a:r>
          </a:p>
          <a:p>
            <a:r>
              <a:rPr lang="en-US" dirty="0"/>
              <a:t>If you want to modify a dictionary and keep a copy of the original, use the copy method. </a:t>
            </a:r>
          </a:p>
          <a:p>
            <a:r>
              <a:rPr lang="en-US" dirty="0"/>
              <a:t>For example, opposites is a dictionary that contains pairs of opposites. (next slide)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4A9C-1A88-9644-A5FF-21E1725B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1B1-8ACC-FE43-9CC1-9028024F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9550-1DF3-B549-8718-5491EFE1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5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B562-3ABD-DF4B-8516-93764F43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Aliasing and Copying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B0AD-8BA2-AB41-9D34-9C56C3CD2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84329"/>
          </a:xfrm>
        </p:spPr>
        <p:txBody>
          <a:bodyPr/>
          <a:lstStyle/>
          <a:p>
            <a:r>
              <a:rPr lang="en-US" dirty="0"/>
              <a:t>Since, dictionaries are mutable, you need to be aware of aliasing. </a:t>
            </a:r>
          </a:p>
          <a:p>
            <a:r>
              <a:rPr lang="en-US" dirty="0"/>
              <a:t>Whenever two variables refer to the same object, changes to one affect the other.</a:t>
            </a:r>
          </a:p>
          <a:p>
            <a:r>
              <a:rPr lang="en-US" dirty="0"/>
              <a:t>If you want to modify a dictionary and keep a copy of the original, use the </a:t>
            </a:r>
            <a:r>
              <a:rPr lang="en-US" b="1" dirty="0"/>
              <a:t>copy</a:t>
            </a:r>
            <a:r>
              <a:rPr lang="en-US" dirty="0"/>
              <a:t> method. </a:t>
            </a:r>
          </a:p>
          <a:p>
            <a:r>
              <a:rPr lang="en-US" dirty="0"/>
              <a:t>For example, </a:t>
            </a:r>
            <a:r>
              <a:rPr lang="en-US" b="1" dirty="0"/>
              <a:t>opposites</a:t>
            </a:r>
            <a:r>
              <a:rPr lang="en-US" dirty="0"/>
              <a:t> is a dictionary that contains pairs of opposites. (next slide)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4A9C-1A88-9644-A5FF-21E1725B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1B1-8ACC-FE43-9CC1-9028024F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9550-1DF3-B549-8718-5491EFE1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3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B562-3ABD-DF4B-8516-93764F43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Aliasing and Copying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B0AD-8BA2-AB41-9D34-9C56C3CD2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4004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an_alias</a:t>
            </a:r>
            <a:r>
              <a:rPr lang="en-US" dirty="0"/>
              <a:t> and opposites refer to the same object; </a:t>
            </a:r>
            <a:r>
              <a:rPr lang="en-US" b="1" dirty="0"/>
              <a:t>a_copy</a:t>
            </a:r>
            <a:r>
              <a:rPr lang="en-US" dirty="0"/>
              <a:t> refers to a fresh copy of the same dictionary. </a:t>
            </a:r>
          </a:p>
          <a:p>
            <a:r>
              <a:rPr lang="en-US" dirty="0"/>
              <a:t>If we modify </a:t>
            </a:r>
            <a:r>
              <a:rPr lang="en-US" b="1" dirty="0"/>
              <a:t>alias</a:t>
            </a:r>
            <a:r>
              <a:rPr lang="en-US" dirty="0"/>
              <a:t>, </a:t>
            </a:r>
            <a:r>
              <a:rPr lang="en-US" b="1" dirty="0"/>
              <a:t>opposites</a:t>
            </a:r>
            <a:r>
              <a:rPr lang="en-US" dirty="0"/>
              <a:t> is also changed.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4A9C-1A88-9644-A5FF-21E1725B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1B1-8ACC-FE43-9CC1-9028024F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9550-1DF3-B549-8718-5491EFE1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BD11DF-28CC-474E-A319-D637D148A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8047"/>
            <a:ext cx="11188700" cy="10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C7C47C-43BF-0A44-85D3-09C7CBE6B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2112"/>
            <a:ext cx="8534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8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0696-F5E3-BD47-B251-AD9EBECC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48FB-2378-CB43-9968-D1EC812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770"/>
          </a:xfrm>
        </p:spPr>
        <p:txBody>
          <a:bodyPr/>
          <a:lstStyle/>
          <a:p>
            <a:r>
              <a:rPr lang="en-US" dirty="0"/>
              <a:t>Dictionary comprehension is an elegant and concise way to create a new dictionary from an iterable in Python.</a:t>
            </a:r>
          </a:p>
          <a:p>
            <a:r>
              <a:rPr lang="en-US" dirty="0"/>
              <a:t>Dictionary comprehension consists of an expression pair (</a:t>
            </a:r>
            <a:r>
              <a:rPr lang="en-US" b="1" dirty="0"/>
              <a:t>key:value</a:t>
            </a:r>
            <a:r>
              <a:rPr lang="en-US" dirty="0"/>
              <a:t>) followed by a for statement inside curly braces {}.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FC41A-1D81-D64A-BDF2-6DF1FEF1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43" y="3856332"/>
            <a:ext cx="10026913" cy="14174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82CF3-C9F7-7544-9B19-F4765A4A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3CDB5-5F00-4042-A9D2-50DF9C179902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5D807-7A08-224E-90F9-EEC04024C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A55C8-078B-4E41-98B5-179F5E09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48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0696-F5E3-BD47-B251-AD9EBECC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48FB-2378-CB43-9968-D1EC812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03070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code is equivalent to: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FC41A-1D81-D64A-BDF2-6DF1FEF1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026913" cy="141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FEBE62-59B3-A345-93E1-FB0B332F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57" y="3991267"/>
            <a:ext cx="7763142" cy="250160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ED2192-50DA-364A-848E-B709A14D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C28A0-463E-384B-B8BE-94A81B01508E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8E3DC1-1871-5C4A-8D53-04B23A30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B1F212-EDE7-9644-AC53-121172A0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0696-F5E3-BD47-B251-AD9EBECC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48FB-2378-CB43-9968-D1EC812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770"/>
          </a:xfrm>
        </p:spPr>
        <p:txBody>
          <a:bodyPr/>
          <a:lstStyle/>
          <a:p>
            <a:r>
              <a:rPr lang="en-US" dirty="0"/>
              <a:t>A dictionary comprehension can optionally contain more </a:t>
            </a:r>
            <a:r>
              <a:rPr lang="en-US" b="1" dirty="0"/>
              <a:t>for</a:t>
            </a:r>
            <a:r>
              <a:rPr lang="en-US" dirty="0"/>
              <a:t> or </a:t>
            </a:r>
            <a:r>
              <a:rPr lang="en-US" b="1" dirty="0"/>
              <a:t>if</a:t>
            </a:r>
            <a:r>
              <a:rPr lang="en-US" dirty="0"/>
              <a:t> statements.</a:t>
            </a:r>
          </a:p>
          <a:p>
            <a:r>
              <a:rPr lang="en-US" dirty="0"/>
              <a:t>An optional </a:t>
            </a:r>
            <a:r>
              <a:rPr lang="en-US" b="1" dirty="0"/>
              <a:t>if</a:t>
            </a:r>
            <a:r>
              <a:rPr lang="en-US" dirty="0"/>
              <a:t> statement can filter out items to form the new dictionary.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28E40-EC1F-CF40-8B08-27270B4F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56331"/>
            <a:ext cx="10813718" cy="107717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1EB814-427F-2342-955A-298B1199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E97F-07D4-2240-9802-874F1C35CE63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222CC1-5FEC-8A46-A0E1-7A305422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27D061-8837-E542-8145-77353B8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1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7489-30F9-C344-9D1E-EC9CE613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Membership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E8371-D013-EF47-8282-350EC3947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6"/>
            <a:ext cx="10515600" cy="1603375"/>
          </a:xfrm>
        </p:spPr>
        <p:txBody>
          <a:bodyPr/>
          <a:lstStyle/>
          <a:p>
            <a:r>
              <a:rPr lang="en-US" dirty="0"/>
              <a:t>We can test if a </a:t>
            </a:r>
            <a:r>
              <a:rPr lang="en-US" b="1" dirty="0"/>
              <a:t>key</a:t>
            </a:r>
            <a:r>
              <a:rPr lang="en-US" dirty="0"/>
              <a:t> is in a dictionary or not using the keyword </a:t>
            </a:r>
            <a:r>
              <a:rPr lang="en-US" b="1" dirty="0"/>
              <a:t>in</a:t>
            </a:r>
            <a:r>
              <a:rPr lang="en-US" dirty="0"/>
              <a:t>. </a:t>
            </a:r>
          </a:p>
          <a:p>
            <a:r>
              <a:rPr lang="en-US" dirty="0"/>
              <a:t>Notice that the membership test is only for the </a:t>
            </a:r>
            <a:r>
              <a:rPr lang="en-US" b="1" dirty="0"/>
              <a:t>keys</a:t>
            </a:r>
            <a:r>
              <a:rPr lang="en-US" dirty="0"/>
              <a:t> and not for the </a:t>
            </a:r>
            <a:r>
              <a:rPr lang="en-US" b="1" dirty="0"/>
              <a:t>values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C732C3-4555-6A41-A7E9-CE1DC65E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12" y="2967623"/>
            <a:ext cx="6558369" cy="350590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0D7AE-50B4-7542-890E-73F9E9F0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356-7F95-5847-979E-D40367A6A8B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954EE-0B7E-5E41-BE8D-EDD154FA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E25D6-240B-EE4F-9A23-E51A6B72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36ACD0-A743-0248-9DE4-9024B94F3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973" y="4252708"/>
            <a:ext cx="1360525" cy="1451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DAE74A-3AF4-5946-8893-1A5242B5FDCA}"/>
              </a:ext>
            </a:extLst>
          </p:cNvPr>
          <p:cNvSpPr txBox="1"/>
          <p:nvPr/>
        </p:nvSpPr>
        <p:spPr>
          <a:xfrm>
            <a:off x="9186973" y="3636335"/>
            <a:ext cx="1764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0642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B562-3ABD-DF4B-8516-93764F43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Through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B0AD-8BA2-AB41-9D34-9C56C3CD2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6189"/>
          </a:xfrm>
        </p:spPr>
        <p:txBody>
          <a:bodyPr/>
          <a:lstStyle/>
          <a:p>
            <a:r>
              <a:rPr lang="en-US" dirty="0"/>
              <a:t>We can iterate through each key in a dictionary using a </a:t>
            </a:r>
            <a:r>
              <a:rPr lang="en-US" b="1" dirty="0"/>
              <a:t>for</a:t>
            </a:r>
            <a:r>
              <a:rPr lang="en-US" dirty="0"/>
              <a:t> loop.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4A9C-1A88-9644-A5FF-21E1725B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1B1-8ACC-FE43-9CC1-9028024F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9550-1DF3-B549-8718-5491EFE1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1C7AE7-C75F-E141-AE79-1D5532AA5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76" y="2450805"/>
            <a:ext cx="81153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8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EE92-0538-CB4F-A6A7-7566BA40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Built-in Functions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480DFE-91E2-F941-8065-2ACEC618B8D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722697"/>
          <a:ext cx="9815623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833">
                  <a:extLst>
                    <a:ext uri="{9D8B030D-6E8A-4147-A177-3AD203B41FA5}">
                      <a16:colId xmlns:a16="http://schemas.microsoft.com/office/drawing/2014/main" val="284947300"/>
                    </a:ext>
                  </a:extLst>
                </a:gridCol>
                <a:gridCol w="7442790">
                  <a:extLst>
                    <a:ext uri="{9D8B030D-6E8A-4147-A177-3AD203B41FA5}">
                      <a16:colId xmlns:a16="http://schemas.microsoft.com/office/drawing/2014/main" val="1602160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3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all()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Return </a:t>
                      </a:r>
                      <a:r>
                        <a:rPr lang="en-US" sz="2800" b="1" dirty="0"/>
                        <a:t>True</a:t>
                      </a:r>
                      <a:r>
                        <a:rPr lang="en-US" sz="2800" dirty="0"/>
                        <a:t> if all keys of the dictionary are True (or if the dictionary is empty)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416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any()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Return </a:t>
                      </a:r>
                      <a:r>
                        <a:rPr lang="en-US" sz="2800" b="1" dirty="0"/>
                        <a:t>True</a:t>
                      </a:r>
                      <a:r>
                        <a:rPr lang="en-US" sz="2800" dirty="0"/>
                        <a:t> if any key of the dictionary is True. If the dictionary is empty, return </a:t>
                      </a:r>
                      <a:r>
                        <a:rPr lang="en-US" sz="2800" b="1" dirty="0"/>
                        <a:t>False</a:t>
                      </a:r>
                      <a:r>
                        <a:rPr lang="en-US" sz="28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74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len()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Return the length (the no. of items)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70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sorted()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Return a new sorted list of keys in the dictionary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58512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7A3C-116A-0545-B4FA-61F10B19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F215-4912-7243-A309-C6612DDE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4E81-0A78-4547-A976-F8E8F115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EE92-0538-CB4F-A6A7-7566BA40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Built-in 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7A3C-116A-0545-B4FA-61F10B19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F215-4912-7243-A309-C6612DDE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4E81-0A78-4547-A976-F8E8F115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21FF71-D8C2-2945-954F-D22766429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856" y="1527914"/>
            <a:ext cx="7891210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7A6403-B2A9-9D4F-B57E-9D371FAA2119}"/>
              </a:ext>
            </a:extLst>
          </p:cNvPr>
          <p:cNvSpPr txBox="1"/>
          <p:nvPr/>
        </p:nvSpPr>
        <p:spPr>
          <a:xfrm>
            <a:off x="7037504" y="2853477"/>
            <a:ext cx="1764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92416C-88D9-AC4E-B34A-E7154B6D8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504" y="3481304"/>
            <a:ext cx="3162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15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84B-7AC8-3F4C-8FA2-8142B6A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5C7F-6660-2349-A99C-C76FCFFE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3659"/>
          </a:xfrm>
        </p:spPr>
        <p:txBody>
          <a:bodyPr/>
          <a:lstStyle/>
          <a:p>
            <a:r>
              <a:rPr lang="en-US" dirty="0"/>
              <a:t>Generate dictionary of numbers and their squares (i, i*i) from 1 to 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2312E-D1F8-6D43-9DB9-104B1C29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47AE-9E77-DC4C-B027-EBF366EC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A43AD-9943-6647-A2CE-F2DBE8C5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0B66C-D950-724C-AC3F-72EA0F7FB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78" y="2509283"/>
            <a:ext cx="4480562" cy="3854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568F1F-14BE-7141-931D-129D24C3E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61" y="3357695"/>
            <a:ext cx="5240137" cy="623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BBC81A-E5E6-E449-BED4-F4E415C2C777}"/>
              </a:ext>
            </a:extLst>
          </p:cNvPr>
          <p:cNvSpPr txBox="1"/>
          <p:nvPr/>
        </p:nvSpPr>
        <p:spPr>
          <a:xfrm>
            <a:off x="6566461" y="2827198"/>
            <a:ext cx="1764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49852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84B-7AC8-3F4C-8FA2-8142B6A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5C7F-6660-2349-A99C-C76FCFFE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3659"/>
          </a:xfrm>
        </p:spPr>
        <p:txBody>
          <a:bodyPr/>
          <a:lstStyle/>
          <a:p>
            <a:r>
              <a:rPr lang="en-IN" dirty="0"/>
              <a:t>Python program for accessing elements from a dictionary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2312E-D1F8-6D43-9DB9-104B1C29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47AE-9E77-DC4C-B027-EBF366EC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A43AD-9943-6647-A2CE-F2DBE8C5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BC81A-E5E6-E449-BED4-F4E415C2C777}"/>
              </a:ext>
            </a:extLst>
          </p:cNvPr>
          <p:cNvSpPr txBox="1"/>
          <p:nvPr/>
        </p:nvSpPr>
        <p:spPr>
          <a:xfrm>
            <a:off x="5024223" y="5393488"/>
            <a:ext cx="1764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AD7E9B-E659-384F-9D6B-3EECDAB33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54" y="2404333"/>
            <a:ext cx="974090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F780D5-94B9-DB4A-BCE4-4D93E74A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42" y="5000892"/>
            <a:ext cx="53848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5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84B-7AC8-3F4C-8FA2-8142B6A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#3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2312E-D1F8-6D43-9DB9-104B1C29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4D68E-E420-6240-9DE9-2A22612803F7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47AE-9E77-DC4C-B027-EBF366EC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A43AD-9943-6647-A2CE-F2DBE8C5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BB-0F75-5742-81CA-32DAE25CECD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EDB00B-81FB-634A-9352-5018F977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690688"/>
            <a:ext cx="114935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97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19BF2-AF61-EA4A-AC90-5C5AC1DB6F49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5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508</Words>
  <Application>Microsoft Office PowerPoint</Application>
  <PresentationFormat>Widescreen</PresentationFormat>
  <Paragraphs>103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Aliasing and Copying</vt:lpstr>
      <vt:lpstr>Aliasing and Copying</vt:lpstr>
      <vt:lpstr>Aliasing and Copying</vt:lpstr>
      <vt:lpstr>Python Dictionary Comprehension</vt:lpstr>
      <vt:lpstr>Python Dictionary Comprehension</vt:lpstr>
      <vt:lpstr>Python Dictionary Comprehension</vt:lpstr>
      <vt:lpstr>Dictionary Membership Test</vt:lpstr>
      <vt:lpstr>Iterating Through a Dictionary</vt:lpstr>
      <vt:lpstr>Dictionary Built-in Functions</vt:lpstr>
      <vt:lpstr>Dictionary Built-in Functions</vt:lpstr>
      <vt:lpstr>Example #1</vt:lpstr>
      <vt:lpstr>Example #2</vt:lpstr>
      <vt:lpstr>Example #3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2025-01-28T16:43:53Z</dcterms:modified>
</cp:coreProperties>
</file>