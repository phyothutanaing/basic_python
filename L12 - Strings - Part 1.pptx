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revisionInfo.xml" ContentType="application/vnd.ms-powerpoint.revisioninfo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8"/>
  </p:notesMasterIdLst>
  <p:sldIdLst>
    <p:sldId id="388" r:id="rId2"/>
    <p:sldId id="389" r:id="rId3"/>
    <p:sldId id="390" r:id="rId4"/>
    <p:sldId id="391" r:id="rId5"/>
    <p:sldId id="392" r:id="rId6"/>
    <p:sldId id="393" r:id="rId7"/>
    <p:sldId id="394" r:id="rId8"/>
    <p:sldId id="395" r:id="rId9"/>
    <p:sldId id="396" r:id="rId10"/>
    <p:sldId id="397" r:id="rId11"/>
    <p:sldId id="398" r:id="rId12"/>
    <p:sldId id="399" r:id="rId13"/>
    <p:sldId id="400" r:id="rId14"/>
    <p:sldId id="401" r:id="rId15"/>
    <p:sldId id="402" r:id="rId16"/>
    <p:sldId id="403" r:id="rId1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DABD54C3-8144-9E4F-9A23-5A08D92DAE2B}" v="81" dt="2021-12-21T18:59:26.882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20272" autoAdjust="0"/>
    <p:restoredTop sz="96327"/>
  </p:normalViewPr>
  <p:slideViewPr>
    <p:cSldViewPr snapToGrid="0" snapToObjects="1">
      <p:cViewPr varScale="1">
        <p:scale>
          <a:sx n="87" d="100"/>
          <a:sy n="87" d="100"/>
        </p:scale>
        <p:origin x="283" y="58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microsoft.com/office/2015/10/relationships/revisionInfo" Target="revisionInfo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24D34EA-CA4A-9D4F-95C2-7EB2B0B7D27B}" type="datetimeFigureOut">
              <a:rPr lang="en-US" smtClean="0"/>
              <a:pPr/>
              <a:t>1/28/2025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8DDAFC3-C917-6040-A2DA-0C796181EC84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0369287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0778171-C08E-454E-8A66-8B8B7F47110F}" type="slidenum">
              <a:rPr lang="en-US" smtClean="0"/>
              <a:pPr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9951319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DBA552-EA9C-C941-87DC-58297CE8AA0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0D016A1-FD9A-9C4A-AC35-41710872D78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6B5654D-CC5D-144B-B54D-F6BC4B8E0E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71AE23-D494-414B-9534-C815686CF39A}" type="datetimeFigureOut">
              <a:rPr lang="en-US" smtClean="0"/>
              <a:pPr/>
              <a:t>1/28/2025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5DFF0C2-4DD7-C64B-A470-1F3C60A313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042A1E6-FB29-BA43-9F2B-B0173468F5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3E4204-2E76-1641-8D5C-FEECC0082542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7513460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1C8779-AFC5-DB42-AE0F-679B91E08C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863BAF9-67F4-AB41-A579-8977753EF47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929C95E-0878-AF47-B06C-90A72F7E66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71AE23-D494-414B-9534-C815686CF39A}" type="datetimeFigureOut">
              <a:rPr lang="en-US" smtClean="0"/>
              <a:pPr/>
              <a:t>1/28/2025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F5E1957-891E-4C45-A08A-B7B989773B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43B8727-3497-644C-8C10-91AB042B38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3E4204-2E76-1641-8D5C-FEECC0082542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6794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6D3BCC-98AB-7045-893F-764BBF629E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18677DF-0759-A447-9F0B-754630EEC15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484DD7B-6F33-E340-B978-CFB9A40345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71AE23-D494-414B-9534-C815686CF39A}" type="datetimeFigureOut">
              <a:rPr lang="en-US" smtClean="0"/>
              <a:pPr/>
              <a:t>1/28/2025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820D106-FB97-AC41-8E99-56304B1CE1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605340A-86E7-1B4F-A056-39E3544448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3E4204-2E76-1641-8D5C-FEECC0082542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4686541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BB29E9-5402-854B-88F1-BDD1AB8D06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91470C0-032D-C443-BC5F-350E94807D8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952FB81-8A07-A34A-A41B-755775B197E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212ECC6-D50A-6441-BBDC-E96AF77372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71AE23-D494-414B-9534-C815686CF39A}" type="datetimeFigureOut">
              <a:rPr lang="en-US" smtClean="0"/>
              <a:pPr/>
              <a:t>1/28/2025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C9E6376-9594-554D-AC3B-E43C3AA933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F67E0A6-3B00-1B41-ABA3-071463B6D1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3E4204-2E76-1641-8D5C-FEECC0082542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8068990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467136-C463-6642-A1B7-42BF71E747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011D655-56A7-DB4D-B8D4-07025317228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3E98C97-E107-324C-83A2-2B1236F7273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B1342E0-F53A-D147-A8D7-E893C9061D2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6A247A1-E5BC-9045-AB0C-67FCCA0E9A6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3CD4BE4-A76F-DB46-AA4A-5CC97291D3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71AE23-D494-414B-9534-C815686CF39A}" type="datetimeFigureOut">
              <a:rPr lang="en-US" smtClean="0"/>
              <a:pPr/>
              <a:t>1/28/2025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4288870-3814-B44A-ADC0-78E9E79578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9F95C93-10B7-F646-BA68-6446B6C86F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3E4204-2E76-1641-8D5C-FEECC0082542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1583535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6588E3-1ECE-734D-9814-FF1FF59CC9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A9BC052-4B4A-F147-8F15-D00D2D2677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71AE23-D494-414B-9534-C815686CF39A}" type="datetimeFigureOut">
              <a:rPr lang="en-US" smtClean="0"/>
              <a:pPr/>
              <a:t>1/28/2025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6404723-2403-AB4A-BDF1-C16DCB42EA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CD93540-D1A5-1F43-8257-9DA84CE18B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3E4204-2E76-1641-8D5C-FEECC0082542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7701657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949E168-26C7-FB41-99A4-8CA7734EE1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71AE23-D494-414B-9534-C815686CF39A}" type="datetimeFigureOut">
              <a:rPr lang="en-US" smtClean="0"/>
              <a:pPr/>
              <a:t>1/28/2025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683F4B2-C17A-754F-9C54-D36AAE3784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51A3279-7DB4-F04B-A197-568C659C37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3E4204-2E76-1641-8D5C-FEECC0082542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528620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C94BCB-4159-2443-BFA3-411610C2332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56F2039-7E5D-2445-8550-DD05E9B7457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9293630-872C-0A4F-9549-5F6904C0DB3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095F66B-7FA2-134A-A615-FF114DB8C1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71AE23-D494-414B-9534-C815686CF39A}" type="datetimeFigureOut">
              <a:rPr lang="en-US" smtClean="0"/>
              <a:pPr/>
              <a:t>1/28/2025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91A92AF-1A3D-CE40-8858-616EC31FBA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8DD18B2-8D7A-8542-9521-8456FE56AE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3E4204-2E76-1641-8D5C-FEECC0082542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7123443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75B9EA-EA8B-2445-893C-2FB7C0C080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4660143D-9506-AA40-9972-C8C940B3A36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7E0B2B3-6C24-CA45-8713-CBCF7DAF19B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86C6409-4C3E-7E4B-AAA3-FC2A348E35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71AE23-D494-414B-9534-C815686CF39A}" type="datetimeFigureOut">
              <a:rPr lang="en-US" smtClean="0"/>
              <a:pPr/>
              <a:t>1/28/2025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FD7C8E1-D706-6247-BF0C-929BA655E2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88F7D07-8F12-C84D-8CE6-065CBE4ACD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3E4204-2E76-1641-8D5C-FEECC0082542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4753963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BF6F6F-0B3A-174D-ADA0-AA05CF886D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A12734E-35DB-1644-8FDA-CEDBCBE27BF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B83D087-7CF0-934D-A4AA-4CBCEFC71A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71AE23-D494-414B-9534-C815686CF39A}" type="datetimeFigureOut">
              <a:rPr lang="en-US" smtClean="0"/>
              <a:pPr/>
              <a:t>1/28/2025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E1C0A09-7A27-AF45-A2EB-D633753753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CB6B7BC-FF12-B54A-A805-9393D271EC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3E4204-2E76-1641-8D5C-FEECC0082542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7212304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14C0799B-65F2-2A46-AF03-89F928FF17F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98D9EC8-BF3F-DA43-BA8B-B195C874472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B11DB90-97E6-1F49-9582-D2FC6D3371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71AE23-D494-414B-9534-C815686CF39A}" type="datetimeFigureOut">
              <a:rPr lang="en-US" smtClean="0"/>
              <a:pPr/>
              <a:t>1/28/2025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0DF9479-51FA-3343-B8F5-9B32069FF0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F7617A9-349A-F842-BBA6-BC26CCFA2D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3E4204-2E76-1641-8D5C-FEECC0082542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8596604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6B1DB27-F513-8845-8AB1-50232FC066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57266DB-195D-C048-8694-0DA44965844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F3D879E-907A-B34B-B383-845215B5530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A71AE23-D494-414B-9534-C815686CF39A}" type="datetimeFigureOut">
              <a:rPr lang="en-US" smtClean="0"/>
              <a:pPr/>
              <a:t>1/28/2025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B7B59EA-96EA-C04B-8183-A467A71ECFF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F00BD1E-3D55-9A46-A611-D2149273B8D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E3E4204-2E76-1641-8D5C-FEECC0082542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809928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E897C85F-4E22-424E-8ABA-7692FB4188A4}"/>
              </a:ext>
            </a:extLst>
          </p:cNvPr>
          <p:cNvSpPr/>
          <p:nvPr/>
        </p:nvSpPr>
        <p:spPr>
          <a:xfrm>
            <a:off x="5881685" y="4445348"/>
            <a:ext cx="428628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IN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By</a:t>
            </a:r>
            <a:r>
              <a:rPr lang="en-IN" sz="1600" b="1" dirty="0">
                <a:solidFill>
                  <a:srgbClr val="A2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17E17F5E-7BEC-2A4A-802D-803E2C0108CC}"/>
              </a:ext>
            </a:extLst>
          </p:cNvPr>
          <p:cNvSpPr/>
          <p:nvPr/>
        </p:nvSpPr>
        <p:spPr>
          <a:xfrm>
            <a:off x="3400615" y="5193303"/>
            <a:ext cx="5372852" cy="132343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IN" sz="3200" b="1" dirty="0" err="1" smtClean="0">
                <a:solidFill>
                  <a:srgbClr val="A2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Dr.</a:t>
            </a:r>
            <a:r>
              <a:rPr lang="en-IN" sz="3200" b="1" dirty="0" smtClean="0">
                <a:solidFill>
                  <a:srgbClr val="A2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Smita Tiwari</a:t>
            </a:r>
            <a:endParaRPr lang="en-IN" sz="3200" b="1" dirty="0" smtClean="0">
              <a:solidFill>
                <a:srgbClr val="A2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en-IN" sz="16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Assistant </a:t>
            </a:r>
            <a:r>
              <a:rPr lang="en-IN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Professor</a:t>
            </a:r>
          </a:p>
          <a:p>
            <a:pPr algn="ctr"/>
            <a:r>
              <a:rPr lang="en-IN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Department of Computer Science and </a:t>
            </a:r>
            <a:r>
              <a:rPr lang="en-IN" sz="16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Engineering</a:t>
            </a:r>
          </a:p>
          <a:p>
            <a:pPr algn="ctr"/>
            <a:r>
              <a:rPr lang="en-IN" sz="16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School of Engineering &amp; Technology</a:t>
            </a:r>
            <a:endParaRPr lang="en-IN" sz="1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20A6791E-EF9A-A04B-A2E4-F233C901C6D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416921" y="2478207"/>
            <a:ext cx="5453798" cy="714380"/>
          </a:xfrm>
        </p:spPr>
        <p:txBody>
          <a:bodyPr>
            <a:noAutofit/>
          </a:bodyPr>
          <a:lstStyle/>
          <a:p>
            <a:r>
              <a:rPr lang="en-IN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Branch - CSE</a:t>
            </a: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/>
            </a:r>
            <a:b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Python Programming</a:t>
            </a:r>
            <a:endParaRPr lang="en-US" sz="3200" b="1" dirty="0">
              <a:solidFill>
                <a:srgbClr val="A2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026" name="Picture 2" descr="Download Sharda University Logo PNG and Vector (PDF, SVG, Ai, EPS) Free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05155" y="93018"/>
            <a:ext cx="4353059" cy="238518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1" name="Rectangle 10">
            <a:extLst>
              <a:ext uri="{FF2B5EF4-FFF2-40B4-BE49-F238E27FC236}">
                <a16:creationId xmlns:a16="http://schemas.microsoft.com/office/drawing/2014/main" id="{FA0BEB44-0E1D-AA4B-8233-0A526118C7CE}"/>
              </a:ext>
            </a:extLst>
          </p:cNvPr>
          <p:cNvSpPr/>
          <p:nvPr/>
        </p:nvSpPr>
        <p:spPr>
          <a:xfrm>
            <a:off x="2208871" y="3455733"/>
            <a:ext cx="7756340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Lecture – 12</a:t>
            </a:r>
            <a:r>
              <a:rPr lang="en-IN" b="1" dirty="0">
                <a:solidFill>
                  <a:srgbClr val="A2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/>
            </a:r>
            <a:br>
              <a:rPr lang="en-IN" b="1" dirty="0">
                <a:solidFill>
                  <a:srgbClr val="A2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3600" b="1" dirty="0">
                <a:solidFill>
                  <a:srgbClr val="A2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Strings – Part 1</a:t>
            </a:r>
            <a:endParaRPr lang="en-US" sz="3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736288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7A3D20-115E-D14B-B0F6-BB41603A38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What is a String in Python?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04DDA18-B11F-9448-B748-B4E2BD89E05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4"/>
            <a:ext cx="10515600" cy="4842461"/>
          </a:xfrm>
        </p:spPr>
        <p:txBody>
          <a:bodyPr>
            <a:normAutofit/>
          </a:bodyPr>
          <a:lstStyle/>
          <a:p>
            <a:r>
              <a:rPr lang="en-US" dirty="0"/>
              <a:t>A string is a sequence of characters.</a:t>
            </a:r>
          </a:p>
          <a:p>
            <a:r>
              <a:rPr lang="en-US" dirty="0"/>
              <a:t>A character is simply a symbol. For example, the English language has 26 characters.</a:t>
            </a:r>
          </a:p>
          <a:p>
            <a:r>
              <a:rPr lang="en-IN" dirty="0"/>
              <a:t>Computers do not deal with characters. </a:t>
            </a:r>
          </a:p>
          <a:p>
            <a:r>
              <a:rPr lang="en-IN" dirty="0"/>
              <a:t>This conversion of character to a number is called encoding, and the reverse process is decoding. ASCII and Unicode are some of the popular encodings used.</a:t>
            </a:r>
          </a:p>
          <a:p>
            <a:r>
              <a:rPr lang="en-IN" dirty="0"/>
              <a:t>In Python, a string is a sequence of Unicode characters. Unicode was introduced to include every character in all languages and bring uniformity in encoding.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6E936BB-ABFE-E040-B099-818049090F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97A3D4-F5D9-0D4D-95BD-C3A9396EADDE}" type="datetime1">
              <a:rPr lang="en-IN" smtClean="0"/>
              <a:pPr/>
              <a:t>28-01-2025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53B6619-C655-D945-AE2E-2CEE90C251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Python Programming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906DC0D-A2FB-884A-A2D3-9CFDA86AF0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20B37A-3690-8C4F-9B95-F8C590F9B82E}" type="slidenum">
              <a:rPr lang="en-US" smtClean="0"/>
              <a:pPr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1112886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7A3D20-115E-D14B-B0F6-BB41603A38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How to create a string in Python?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04DDA18-B11F-9448-B748-B4E2BD89E05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4"/>
            <a:ext cx="3494649" cy="4842461"/>
          </a:xfrm>
        </p:spPr>
        <p:txBody>
          <a:bodyPr>
            <a:normAutofit/>
          </a:bodyPr>
          <a:lstStyle/>
          <a:p>
            <a:r>
              <a:rPr lang="en-IN" dirty="0"/>
              <a:t>Strings can be created by enclosing characters inside a single quote or double-quotes. </a:t>
            </a:r>
          </a:p>
          <a:p>
            <a:r>
              <a:rPr lang="en-IN" dirty="0"/>
              <a:t>Even triple quotes can be used in Python but generally used to represent multiline strings and docstrings.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70A0BA3E-4CB0-674F-ADA5-3E4877528F8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11307" y="1690688"/>
            <a:ext cx="5742493" cy="4557534"/>
          </a:xfrm>
          <a:prstGeom prst="rect">
            <a:avLst/>
          </a:prstGeom>
        </p:spPr>
      </p:pic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76F72F8-7AC5-D140-833E-A3B1FCBCE4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F55F8E-B0A8-7647-AF4D-ED72B82E4720}" type="datetime1">
              <a:rPr lang="en-IN" smtClean="0"/>
              <a:pPr/>
              <a:t>28-01-2025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7214F39-6194-AA47-ABC7-116E6DD165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Python Programming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DC611F8-6B95-2542-8CD0-763020F2D3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20B37A-3690-8C4F-9B95-F8C590F9B82E}" type="slidenum">
              <a:rPr lang="en-US" smtClean="0"/>
              <a:pPr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9641422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7A3D20-115E-D14B-B0F6-BB41603A38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How to access characters in a string?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04DDA18-B11F-9448-B748-B4E2BD89E05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4"/>
            <a:ext cx="10515600" cy="3970265"/>
          </a:xfrm>
        </p:spPr>
        <p:txBody>
          <a:bodyPr>
            <a:normAutofit/>
          </a:bodyPr>
          <a:lstStyle/>
          <a:p>
            <a:r>
              <a:rPr lang="en-IN" dirty="0"/>
              <a:t>We can access individual characters using indexing and a range of characters using slicing. Index starts from 0. Trying to access a character out of index range will raise an IndexError. The index must be an integer. We can't use floats or other types, this will result into TypeError.</a:t>
            </a:r>
          </a:p>
          <a:p>
            <a:r>
              <a:rPr lang="en-IN" dirty="0"/>
              <a:t>Python allows negative indexing for its sequences.</a:t>
            </a:r>
          </a:p>
          <a:p>
            <a:r>
              <a:rPr lang="en-IN" dirty="0"/>
              <a:t>The index of -1 refers to the last item, -2 to the second last item and so on. We can access a range of items in a string by using the slicing operator :(colon).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76F72F8-7AC5-D140-833E-A3B1FCBCE4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F55F8E-B0A8-7647-AF4D-ED72B82E4720}" type="datetime1">
              <a:rPr lang="en-IN" smtClean="0"/>
              <a:pPr/>
              <a:t>28-01-2025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7214F39-6194-AA47-ABC7-116E6DD165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Python Programming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DC611F8-6B95-2542-8CD0-763020F2D3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20B37A-3690-8C4F-9B95-F8C590F9B82E}" type="slidenum">
              <a:rPr lang="en-US" smtClean="0"/>
              <a:pPr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7420088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7A3D20-115E-D14B-B0F6-BB41603A38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How to access characters in a string?</a:t>
            </a:r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336EE0FF-CB02-D143-B738-CF799866CCC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282736" y="1443831"/>
            <a:ext cx="6049899" cy="4912519"/>
          </a:xfrm>
          <a:prstGeom prst="rect">
            <a:avLst/>
          </a:prstGeom>
        </p:spPr>
      </p:pic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76F72F8-7AC5-D140-833E-A3B1FCBCE4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F55F8E-B0A8-7647-AF4D-ED72B82E4720}" type="datetime1">
              <a:rPr lang="en-IN" smtClean="0"/>
              <a:pPr/>
              <a:t>28-01-2025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7214F39-6194-AA47-ABC7-116E6DD165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Python Programming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DC611F8-6B95-2542-8CD0-763020F2D3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20B37A-3690-8C4F-9B95-F8C590F9B82E}" type="slidenum">
              <a:rPr lang="en-US" smtClean="0"/>
              <a:pPr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2808312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7A3D20-115E-D14B-B0F6-BB41603A38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How to access characters in a string?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04DDA18-B11F-9448-B748-B4E2BD89E05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3058551" cy="2633833"/>
          </a:xfrm>
        </p:spPr>
        <p:txBody>
          <a:bodyPr>
            <a:normAutofit/>
          </a:bodyPr>
          <a:lstStyle/>
          <a:p>
            <a:r>
              <a:rPr lang="en-IN" dirty="0"/>
              <a:t>If we try to access an index out of the range or use numbers other than an integer, we will get errors.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76F72F8-7AC5-D140-833E-A3B1FCBCE4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F55F8E-B0A8-7647-AF4D-ED72B82E4720}" type="datetime1">
              <a:rPr lang="en-IN" smtClean="0"/>
              <a:pPr/>
              <a:t>28-01-2025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7214F39-6194-AA47-ABC7-116E6DD165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Python Programming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DC611F8-6B95-2542-8CD0-763020F2D3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20B37A-3690-8C4F-9B95-F8C590F9B82E}" type="slidenum">
              <a:rPr lang="en-US" smtClean="0"/>
              <a:pPr/>
              <a:t>6</a:t>
            </a:fld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0F996CD4-B72B-9149-8158-6F6BB65D7B8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38600" y="1432340"/>
            <a:ext cx="7723784" cy="51065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8880126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C553EF-546B-384B-BF65-DA578FF270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Slicing in Strings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2308D06-CC03-3A4A-A99A-847C4F1CC8E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1944517"/>
          </a:xfrm>
        </p:spPr>
        <p:txBody>
          <a:bodyPr/>
          <a:lstStyle/>
          <a:p>
            <a:r>
              <a:rPr lang="en-IN" dirty="0"/>
              <a:t>Slicing can be best visualized by considering the index to be between the elements as shown below.</a:t>
            </a:r>
          </a:p>
          <a:p>
            <a:r>
              <a:rPr lang="en-IN" dirty="0"/>
              <a:t>If we want to access a range, we need the index that will slice the portion from the string.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AB9D8C2-8C8E-5B41-BE08-FE74AC9C0D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3B51C6-2ADB-6841-BB3E-301450021EF4}" type="datetime1">
              <a:rPr lang="en-IN" smtClean="0"/>
              <a:pPr/>
              <a:t>28-01-2025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E137D04-D627-6B47-AFF1-7FD6665B66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Python Programming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237B788-5918-9D48-9BEA-B63B8A0BDC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20B37A-3690-8C4F-9B95-F8C590F9B82E}" type="slidenum">
              <a:rPr lang="en-US" smtClean="0"/>
              <a:pPr/>
              <a:t>7</a:t>
            </a:fld>
            <a:endParaRPr lang="en-US"/>
          </a:p>
        </p:txBody>
      </p:sp>
      <p:graphicFrame>
        <p:nvGraphicFramePr>
          <p:cNvPr id="7" name="Table 7">
            <a:extLst>
              <a:ext uri="{FF2B5EF4-FFF2-40B4-BE49-F238E27FC236}">
                <a16:creationId xmlns:a16="http://schemas.microsoft.com/office/drawing/2014/main" id="{4914F4B9-6B35-114A-A900-295A3A9525E5}"/>
              </a:ext>
            </a:extLst>
          </p:cNvPr>
          <p:cNvGraphicFramePr>
            <a:graphicFrameLocks noGrp="1"/>
          </p:cNvGraphicFramePr>
          <p:nvPr>
            <p:extLst/>
          </p:nvPr>
        </p:nvGraphicFramePr>
        <p:xfrm>
          <a:off x="4199988" y="3770142"/>
          <a:ext cx="3792024" cy="2119304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632004">
                  <a:extLst>
                    <a:ext uri="{9D8B030D-6E8A-4147-A177-3AD203B41FA5}">
                      <a16:colId xmlns:a16="http://schemas.microsoft.com/office/drawing/2014/main" val="764849987"/>
                    </a:ext>
                  </a:extLst>
                </a:gridCol>
                <a:gridCol w="632004">
                  <a:extLst>
                    <a:ext uri="{9D8B030D-6E8A-4147-A177-3AD203B41FA5}">
                      <a16:colId xmlns:a16="http://schemas.microsoft.com/office/drawing/2014/main" val="3883342964"/>
                    </a:ext>
                  </a:extLst>
                </a:gridCol>
                <a:gridCol w="632004">
                  <a:extLst>
                    <a:ext uri="{9D8B030D-6E8A-4147-A177-3AD203B41FA5}">
                      <a16:colId xmlns:a16="http://schemas.microsoft.com/office/drawing/2014/main" val="2651969437"/>
                    </a:ext>
                  </a:extLst>
                </a:gridCol>
                <a:gridCol w="632004">
                  <a:extLst>
                    <a:ext uri="{9D8B030D-6E8A-4147-A177-3AD203B41FA5}">
                      <a16:colId xmlns:a16="http://schemas.microsoft.com/office/drawing/2014/main" val="3455326662"/>
                    </a:ext>
                  </a:extLst>
                </a:gridCol>
                <a:gridCol w="632004">
                  <a:extLst>
                    <a:ext uri="{9D8B030D-6E8A-4147-A177-3AD203B41FA5}">
                      <a16:colId xmlns:a16="http://schemas.microsoft.com/office/drawing/2014/main" val="3592704002"/>
                    </a:ext>
                  </a:extLst>
                </a:gridCol>
                <a:gridCol w="632004">
                  <a:extLst>
                    <a:ext uri="{9D8B030D-6E8A-4147-A177-3AD203B41FA5}">
                      <a16:colId xmlns:a16="http://schemas.microsoft.com/office/drawing/2014/main" val="1020903984"/>
                    </a:ext>
                  </a:extLst>
                </a:gridCol>
              </a:tblGrid>
              <a:tr h="648172">
                <a:tc>
                  <a:txBody>
                    <a:bodyPr/>
                    <a:lstStyle/>
                    <a:p>
                      <a:pPr algn="ctr"/>
                      <a:r>
                        <a:rPr lang="en-US" sz="4800" b="1" dirty="0"/>
                        <a:t>A</a:t>
                      </a:r>
                    </a:p>
                  </a:txBody>
                  <a:tcPr anchor="ctr"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4800" b="1" dirty="0"/>
                        <a:t>D</a:t>
                      </a:r>
                    </a:p>
                  </a:txBody>
                  <a:tcPr anchor="ctr"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4800" b="1" dirty="0"/>
                        <a:t>I</a:t>
                      </a:r>
                    </a:p>
                  </a:txBody>
                  <a:tcPr anchor="ctr"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4800" b="1" dirty="0"/>
                        <a:t>T</a:t>
                      </a:r>
                    </a:p>
                  </a:txBody>
                  <a:tcPr anchor="ctr"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4800" b="1" dirty="0"/>
                        <a:t>Y</a:t>
                      </a:r>
                    </a:p>
                  </a:txBody>
                  <a:tcPr anchor="ctr"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4800" b="1" dirty="0"/>
                        <a:t>A</a:t>
                      </a:r>
                    </a:p>
                  </a:txBody>
                  <a:tcPr anchor="ctr">
                    <a:solidFill>
                      <a:srgbClr val="92D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04068695"/>
                  </a:ext>
                </a:extLst>
              </a:tr>
              <a:tr h="648172">
                <a:tc>
                  <a:txBody>
                    <a:bodyPr/>
                    <a:lstStyle/>
                    <a:p>
                      <a:pPr algn="ctr"/>
                      <a:r>
                        <a:rPr lang="en-US" sz="3200" dirty="0"/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200" dirty="0"/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200" dirty="0"/>
                        <a:t>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200" dirty="0"/>
                        <a:t>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200" dirty="0"/>
                        <a:t>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200" dirty="0"/>
                        <a:t>5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83225202"/>
                  </a:ext>
                </a:extLst>
              </a:tr>
              <a:tr h="648172">
                <a:tc>
                  <a:txBody>
                    <a:bodyPr/>
                    <a:lstStyle/>
                    <a:p>
                      <a:pPr algn="ctr"/>
                      <a:r>
                        <a:rPr lang="en-US" sz="3200" dirty="0"/>
                        <a:t>-6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200" dirty="0"/>
                        <a:t>-5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200" dirty="0"/>
                        <a:t>-4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200" dirty="0"/>
                        <a:t>-3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200" dirty="0"/>
                        <a:t>-2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200" dirty="0"/>
                        <a:t>-1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765657214"/>
                  </a:ext>
                </a:extLst>
              </a:tr>
            </a:tbl>
          </a:graphicData>
        </a:graphic>
      </p:graphicFrame>
      <p:sp>
        <p:nvSpPr>
          <p:cNvPr id="8" name="TextBox 7">
            <a:extLst>
              <a:ext uri="{FF2B5EF4-FFF2-40B4-BE49-F238E27FC236}">
                <a16:creationId xmlns:a16="http://schemas.microsoft.com/office/drawing/2014/main" id="{33263AFC-839C-894C-AA12-16136DD06B5B}"/>
              </a:ext>
            </a:extLst>
          </p:cNvPr>
          <p:cNvSpPr txBox="1"/>
          <p:nvPr/>
        </p:nvSpPr>
        <p:spPr>
          <a:xfrm>
            <a:off x="2391508" y="4663136"/>
            <a:ext cx="180848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/>
              <a:t>Positive Indices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E93DDA7B-F3DD-2C46-897C-86384889C72D}"/>
              </a:ext>
            </a:extLst>
          </p:cNvPr>
          <p:cNvSpPr txBox="1"/>
          <p:nvPr/>
        </p:nvSpPr>
        <p:spPr>
          <a:xfrm>
            <a:off x="2319215" y="5330095"/>
            <a:ext cx="195306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/>
              <a:t>Negative Indices</a:t>
            </a:r>
          </a:p>
        </p:txBody>
      </p:sp>
    </p:spTree>
    <p:extLst>
      <p:ext uri="{BB962C8B-B14F-4D97-AF65-F5344CB8AC3E}">
        <p14:creationId xmlns:p14="http://schemas.microsoft.com/office/powerpoint/2010/main" val="362975236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5A41D0-7C53-4C46-B394-89C7566C93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Change or Delete a string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C4C9DE4-3096-174B-A91A-96EBF3D2973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1761637"/>
          </a:xfrm>
        </p:spPr>
        <p:txBody>
          <a:bodyPr/>
          <a:lstStyle/>
          <a:p>
            <a:r>
              <a:rPr lang="en-US" dirty="0"/>
              <a:t>Strings are immutable.</a:t>
            </a:r>
          </a:p>
          <a:p>
            <a:pPr lvl="1"/>
            <a:r>
              <a:rPr lang="en-US" dirty="0"/>
              <a:t>This means that elements of a string cannot be changed once they have been assigned.</a:t>
            </a:r>
          </a:p>
          <a:p>
            <a:r>
              <a:rPr lang="en-US" dirty="0"/>
              <a:t>We can simply reassign different strings to the same name.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49C7B9C-FF71-094B-9879-EF65ECEA49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3B51C6-2ADB-6841-BB3E-301450021EF4}" type="datetime1">
              <a:rPr lang="en-IN" smtClean="0"/>
              <a:pPr/>
              <a:t>28-01-2025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3106F05-36DA-7E47-B33C-1224A04854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Python Programming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1535E3B-3E30-B046-A397-2A3D2E601D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20B37A-3690-8C4F-9B95-F8C590F9B82E}" type="slidenum">
              <a:rPr lang="en-US" smtClean="0"/>
              <a:pPr/>
              <a:t>8</a:t>
            </a:fld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1578E9FC-F4B7-1E4E-9B52-769A3CC95D3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5367" y="3587262"/>
            <a:ext cx="9141265" cy="25974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480215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5A41D0-7C53-4C46-B394-89C7566C93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Change or Delete a string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C4C9DE4-3096-174B-A91A-96EBF3D2973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6"/>
            <a:ext cx="10515600" cy="1044184"/>
          </a:xfrm>
        </p:spPr>
        <p:txBody>
          <a:bodyPr/>
          <a:lstStyle/>
          <a:p>
            <a:r>
              <a:rPr lang="en-US" dirty="0"/>
              <a:t>We cannot delete or remove characters from a string. But deleting the string entirely is possible using the “del” keyword.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49C7B9C-FF71-094B-9879-EF65ECEA49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3B51C6-2ADB-6841-BB3E-301450021EF4}" type="datetime1">
              <a:rPr lang="en-IN" smtClean="0"/>
              <a:pPr/>
              <a:t>28-01-2025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3106F05-36DA-7E47-B33C-1224A04854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Python Programming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1535E3B-3E30-B046-A397-2A3D2E601D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20B37A-3690-8C4F-9B95-F8C590F9B82E}" type="slidenum">
              <a:rPr lang="en-US" smtClean="0"/>
              <a:pPr/>
              <a:t>9</a:t>
            </a:fld>
            <a:endParaRPr lang="en-US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63B7BF6B-2CB1-414B-B137-844585E77F6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54174" y="2869810"/>
            <a:ext cx="9409137" cy="34709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4305527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DF3969-1B3E-6F44-B666-F7E8A206A6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Python String Operations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12D7A0C-3F41-1846-85FC-E1487AC521E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There are many operations that can be performed with strings which makes it one of the most used data types in Python.</a:t>
            </a:r>
          </a:p>
          <a:p>
            <a:r>
              <a:rPr lang="en-IN" b="1" dirty="0"/>
              <a:t>Concatenation of Two or More Strings</a:t>
            </a:r>
          </a:p>
          <a:p>
            <a:pPr lvl="1"/>
            <a:r>
              <a:rPr lang="en-IN" dirty="0"/>
              <a:t>Joining of two or more strings into a single one is called concatenation.</a:t>
            </a:r>
          </a:p>
          <a:p>
            <a:r>
              <a:rPr lang="en-IN" dirty="0"/>
              <a:t>The </a:t>
            </a:r>
            <a:r>
              <a:rPr lang="en-IN" b="1" dirty="0"/>
              <a:t>+</a:t>
            </a:r>
            <a:r>
              <a:rPr lang="en-IN" dirty="0"/>
              <a:t> operator does this in Python. Simply writing two string literals together also concatenates them.</a:t>
            </a:r>
          </a:p>
          <a:p>
            <a:r>
              <a:rPr lang="en-IN" dirty="0"/>
              <a:t>The </a:t>
            </a:r>
            <a:r>
              <a:rPr lang="en-IN" b="1" dirty="0"/>
              <a:t>*</a:t>
            </a:r>
            <a:r>
              <a:rPr lang="en-IN" dirty="0"/>
              <a:t> operator can be used to repeat the string for a given number of times.</a:t>
            </a:r>
          </a:p>
          <a:p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2257F2D-E250-0D4F-B8D0-1199F592D3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3B51C6-2ADB-6841-BB3E-301450021EF4}" type="datetime1">
              <a:rPr lang="en-IN" smtClean="0"/>
              <a:pPr/>
              <a:t>28-01-2025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5764807-8089-8542-8941-7362261B03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Python Programming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3D98E4A-44D0-E941-A13C-618D9F0758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20B37A-3690-8C4F-9B95-F8C590F9B82E}" type="slidenum">
              <a:rPr lang="en-US" smtClean="0"/>
              <a:pPr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5783889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0279996-5696-9F49-9AA8-757CE6F7DE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3B51C6-2ADB-6841-BB3E-301450021EF4}" type="datetime1">
              <a:rPr lang="en-IN" smtClean="0"/>
              <a:pPr/>
              <a:t>28-01-2025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0351106-CF80-2143-A356-1AB28A0CC7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Python Programming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DAC8E0F-1004-314A-95C9-8AADCFFB6B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20B37A-3690-8C4F-9B95-F8C590F9B82E}" type="slidenum">
              <a:rPr lang="en-US" smtClean="0"/>
              <a:pPr/>
              <a:t>11</a:t>
            </a:fld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083831E3-D69B-2248-B1BB-0F407ED59F4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58141" y="286825"/>
            <a:ext cx="10135525" cy="58044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8252884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DF3969-1B3E-6F44-B666-F7E8A206A6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Iterating through a string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12D7A0C-3F41-1846-85FC-E1487AC521E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889440"/>
          </a:xfrm>
        </p:spPr>
        <p:txBody>
          <a:bodyPr/>
          <a:lstStyle/>
          <a:p>
            <a:r>
              <a:rPr lang="en-IN" dirty="0"/>
              <a:t>We can iterate through a string using a </a:t>
            </a:r>
            <a:r>
              <a:rPr lang="en-IN" b="1" dirty="0"/>
              <a:t>for loop</a:t>
            </a:r>
            <a:r>
              <a:rPr lang="en-IN" dirty="0"/>
              <a:t>. Here is an example to count the number of </a:t>
            </a:r>
            <a:r>
              <a:rPr lang="en-IN" b="1" dirty="0"/>
              <a:t>‘s’</a:t>
            </a:r>
            <a:r>
              <a:rPr lang="en-IN" dirty="0"/>
              <a:t> in a string.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2257F2D-E250-0D4F-B8D0-1199F592D3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3B51C6-2ADB-6841-BB3E-301450021EF4}" type="datetime1">
              <a:rPr lang="en-IN" smtClean="0"/>
              <a:pPr/>
              <a:t>28-01-2025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5764807-8089-8542-8941-7362261B03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Python Programming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3D98E4A-44D0-E941-A13C-618D9F0758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20B37A-3690-8C4F-9B95-F8C590F9B82E}" type="slidenum">
              <a:rPr lang="en-US" smtClean="0"/>
              <a:pPr/>
              <a:t>12</a:t>
            </a:fld>
            <a:endParaRPr lang="en-US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F0FC1800-3C41-CF43-94E5-0C781CADC27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90396" y="2850002"/>
            <a:ext cx="7611208" cy="35688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6796177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D8CF6F-24F2-2441-A216-CB1C58C119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String Membership Test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2493990-9AE4-4B40-9E7F-82E50583EDC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973846"/>
          </a:xfrm>
        </p:spPr>
        <p:txBody>
          <a:bodyPr/>
          <a:lstStyle/>
          <a:p>
            <a:r>
              <a:rPr lang="en-US" dirty="0"/>
              <a:t>We can test if a substring exists within a string or not, using the keyword </a:t>
            </a:r>
            <a:r>
              <a:rPr lang="en-US" b="1" dirty="0"/>
              <a:t>‘in’</a:t>
            </a:r>
            <a:r>
              <a:rPr lang="en-US" dirty="0"/>
              <a:t>.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CB1F05A-5F4C-0F40-9828-3A27F04DD3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3B51C6-2ADB-6841-BB3E-301450021EF4}" type="datetime1">
              <a:rPr lang="en-IN" smtClean="0"/>
              <a:pPr/>
              <a:t>28-01-2025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6F35955-93EF-A640-B4CE-8549B267EB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Python Programming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D531309-4AB0-7240-8DA8-A6E572B3C6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20B37A-3690-8C4F-9B95-F8C590F9B82E}" type="slidenum">
              <a:rPr lang="en-US" smtClean="0"/>
              <a:pPr/>
              <a:t>13</a:t>
            </a:fld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24496898-5A11-3841-ABBD-5914299B421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43526" y="3117140"/>
            <a:ext cx="9230814" cy="23131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8706624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A88CF5-3F6B-C142-B7B6-CBA4AB3512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348669"/>
            <a:ext cx="10515600" cy="1325563"/>
          </a:xfrm>
        </p:spPr>
        <p:txBody>
          <a:bodyPr/>
          <a:lstStyle/>
          <a:p>
            <a:pPr algn="ctr"/>
            <a:r>
              <a:rPr lang="en-US" b="1" dirty="0"/>
              <a:t>Python built-in functions for Strings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75AD52D-7334-EB4A-8485-3AE95CF5EC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3B51C6-2ADB-6841-BB3E-301450021EF4}" type="datetime1">
              <a:rPr lang="en-IN" smtClean="0"/>
              <a:pPr/>
              <a:t>28-01-2025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47FA0E0-C9DB-7F44-BD1F-1316C59F8F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Python Programming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CE7AAC2-36B7-D64E-81EF-D93F71942B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20B37A-3690-8C4F-9B95-F8C590F9B82E}" type="slidenum">
              <a:rPr lang="en-US" smtClean="0"/>
              <a:pPr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42117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8.36.49 pm">
            <a:extLst>
              <a:ext uri="{FF2B5EF4-FFF2-40B4-BE49-F238E27FC236}">
                <a16:creationId xmlns:a16="http://schemas.microsoft.com/office/drawing/2014/main" id="{381B56C9-6830-3244-AEB5-EDB1209FC98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1808509" y="136525"/>
            <a:ext cx="8574981" cy="625973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9668236-15C3-CE42-B2DE-32A3B95F8953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>
              <a:spcAft>
                <a:spcPts val="600"/>
              </a:spcAft>
            </a:pPr>
            <a:fld id="{DC3B51C6-2ADB-6841-BB3E-301450021EF4}" type="datetime1">
              <a:rPr lang="en-US" smtClean="0"/>
              <a:pPr>
                <a:spcAft>
                  <a:spcPts val="600"/>
                </a:spcAft>
              </a:pPr>
              <a:t>1/28/2025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5F3CB7F-3B6B-FD41-9F24-8FD45D4097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>
              <a:spcAft>
                <a:spcPts val="600"/>
              </a:spcAft>
            </a:pPr>
            <a:r>
              <a:rPr lang="en-US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rPr>
              <a:t>Python Programming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D467500-34E9-D344-9FCA-90AB5D9F3B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>
              <a:spcAft>
                <a:spcPts val="600"/>
              </a:spcAft>
            </a:pPr>
            <a:fld id="{A820B37A-3690-8C4F-9B95-F8C590F9B82E}" type="slidenum">
              <a:rPr lang="en-US" smtClean="0"/>
              <a:pPr>
                <a:spcAft>
                  <a:spcPts val="600"/>
                </a:spcAft>
              </a:pPr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7318242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2857496"/>
            <a:ext cx="12192000" cy="1333509"/>
          </a:xfrm>
        </p:spPr>
        <p:txBody>
          <a:bodyPr>
            <a:noAutofit/>
          </a:bodyPr>
          <a:lstStyle/>
          <a:p>
            <a:pPr algn="ctr">
              <a:buNone/>
            </a:pPr>
            <a:r>
              <a:rPr lang="en-IN" sz="7200" b="1" dirty="0">
                <a:solidFill>
                  <a:srgbClr val="A2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THANK YOU</a:t>
            </a:r>
            <a:endParaRPr lang="en-US" sz="7200" b="1" dirty="0">
              <a:solidFill>
                <a:srgbClr val="A2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4AAC757-DDD3-264F-B77D-C44FF96F12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615A20-1081-484C-B9BA-507F75B77E7E}" type="datetime1">
              <a:rPr lang="en-IN" smtClean="0"/>
              <a:pPr/>
              <a:t>28-01-2025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CD46BFF-1913-2942-A686-B7A2F81721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Python Programming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D4BCCB6-5866-B84A-B6CB-0D0953C802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1FD74-5DBD-DC4F-A114-E2C9B32FA9B6}" type="slidenum">
              <a:rPr lang="en-US" smtClean="0"/>
              <a:pPr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225851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1980</TotalTime>
  <Words>543</Words>
  <Application>Microsoft Office PowerPoint</Application>
  <PresentationFormat>Widescreen</PresentationFormat>
  <Paragraphs>110</Paragraphs>
  <Slides>16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1" baseType="lpstr">
      <vt:lpstr>Arial</vt:lpstr>
      <vt:lpstr>Calibri</vt:lpstr>
      <vt:lpstr>Calibri Light</vt:lpstr>
      <vt:lpstr>Times New Roman</vt:lpstr>
      <vt:lpstr>Office Theme</vt:lpstr>
      <vt:lpstr>Branch - CSE Python Programming</vt:lpstr>
      <vt:lpstr>What is a String in Python?</vt:lpstr>
      <vt:lpstr>How to create a string in Python?</vt:lpstr>
      <vt:lpstr>How to access characters in a string?</vt:lpstr>
      <vt:lpstr>How to access characters in a string?</vt:lpstr>
      <vt:lpstr>How to access characters in a string?</vt:lpstr>
      <vt:lpstr>Slicing in Strings</vt:lpstr>
      <vt:lpstr>Change or Delete a string</vt:lpstr>
      <vt:lpstr>Change or Delete a string</vt:lpstr>
      <vt:lpstr>Python String Operations</vt:lpstr>
      <vt:lpstr>PowerPoint Presentation</vt:lpstr>
      <vt:lpstr>Iterating through a string</vt:lpstr>
      <vt:lpstr>String Membership Test</vt:lpstr>
      <vt:lpstr>Python built-in functions for Strings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Branch - CSE Python Programming</dc:title>
  <dc:creator>Shobhit Tyagi</dc:creator>
  <cp:lastModifiedBy>Smita Tiwari</cp:lastModifiedBy>
  <cp:revision>15</cp:revision>
  <dcterms:created xsi:type="dcterms:W3CDTF">2021-12-21T18:25:55Z</dcterms:created>
  <dcterms:modified xsi:type="dcterms:W3CDTF">2025-01-29T14:12:57Z</dcterms:modified>
</cp:coreProperties>
</file>